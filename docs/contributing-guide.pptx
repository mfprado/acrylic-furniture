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b03bfb0-9b73-b216-5f47-f97f1252b825}">
          <p14:sldIdLst>
            <p14:sldId id="256"/>
            <p14:sldId id="257"/>
            <p14:sldId id="258"/>
            <p14:sldId id="259"/>
          </p14:sldIdLst>
        </p14:section>
        <p14:section name="The process" id="{f39dd1c1-9127-70d5-9554-dded323ad2ac}">
          <p14:sldIdLst>
            <p14:sldId id="260"/>
            <p14:sldId id="261"/>
            <p14:sldId id="262"/>
          </p14:sldIdLst>
        </p14:section>
        <p14:section name="Design" id="{5c399425-2926-a77e-f816-5085aa081d84}">
          <p14:sldIdLst>
            <p14:sldId id="263"/>
            <p14:sldId id="264"/>
            <p14:sldId id="265"/>
          </p14:sldIdLst>
        </p14:section>
        <p14:section name="Build and send" id="{11f36671-39f7-a24a-8171-0e9ea735c9c8}">
          <p14:sldIdLst>
            <p14:sldId id="266"/>
            <p14:sldId id="267"/>
            <p14:sldId id="268"/>
            <p14:sldId id="269"/>
            <p14:sldId id="270"/>
            <p14:sldId id="271"/>
          </p14:sldIdLst>
        </p14:section>
        <p14:section name="Summary" id="{b74ff6d0-da2d-f7ce-037f-28b7524a7b68}">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walks through how you, as an industrial designer, can add a new piece to the site using the Claude desktop app, without writing code yourself. Claude writes the code; you make every design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configurators exist today. Live at mfprado.github.io/open-source-modular-furniture. Your contribution would add a third tab, or improve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the rod shelf set to 2000 mm wide with 40 kg per shelf. The rules you define are what make a configurator useful: here it added three middle columns automatically and still warns about sag.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happens in the Claude desktop app: you chat, Claude does the technical work. The instructions Claude follows live in the project itself, so every session works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the design brief, is highlighted because it is where your expertise matters most, and it is the first thing the owner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terminal needed. If something is missing on the computer, Claude checks and gives exactly one link to install it. Signing in to GitHub is the one thing you do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conversation in the Claude desktop app, showing the flow Claude follows. Exact wording will vary.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clamp lamp (issue 2) is the idea used in the simulated examples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does not propose parts or sizes unless you ask; when you do, it offers two or three options with the trade-off. You can drop pictures straight into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brief for the clamp lamp; the rule values shown are examples, not real design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round is a saved version (a commit), so nothing is lost if you change your mind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of the site, shown in a browser window at localhost:8000. "localhost" just means "this computer"; 8000 is the door number Claude opened it on. Breaking something here cannot break the real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Chrome says the site cannot be reached, the local copy is not running, usually because the Claude session was closed. Ask Claude to start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reads this list out one item at a time and waits for your answer. The screenshot is the real rod shelf at 2000 mm wide with 40 kg per shelf, showing its sag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template lives in .github/pull_request_template.md. GitHub only accepts images uploaded through the page, which is why the screenshots are the one manual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piece came from an idea, the pull request closes that idea issue when it is merged, and the card leaves the Ideas board because the piece now has its own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all you need to remember. Start each one in a new session in the Claude desktop app, with the project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lIns="0" tIns="0" rIns="0" bIns="0" rtlCol="0" anchor="b"/>
          <a:lstStyle/>
          <a:p>
            <a:pPr algn="l" indent="0" marL="0">
              <a:buNone/>
            </a:pPr>
            <a:r>
              <a:rPr lang="en-US" sz="3200" b="1" dirty="0">
                <a:solidFill>
                  <a:schemeClr val="bg1"/>
                </a:solidFill>
              </a:rPr>
              <a:t>Design furniture with us</a:t>
            </a: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lIns="0" tIns="0" rIns="0" bIns="0" rtlCol="0" anchor="t"/>
          <a:lstStyle/>
          <a:p>
            <a:pPr indent="0" marL="0">
              <a:buNone/>
            </a:pPr>
            <a:r>
              <a:rPr lang="en-US" sz="1600" dirty="0">
                <a:solidFill>
                  <a:schemeClr val="accent4"/>
                </a:solidFill>
              </a:rPr>
              <a:t>How to contribute to Open Source Modular Furniture with the Claude desktop app. No coding needed: you design, Claude builds.</a:t>
            </a:r>
            <a:endParaRPr lang="en-US" sz="1600" dirty="0"/>
          </a:p>
        </p:txBody>
      </p:sp>
      <p:pic>
        <p:nvPicPr>
          <p:cNvPr id="4" name="Desk configurator screenshot" descr="small/desk.jpg">    </p:cNvPr>
          <p:cNvPicPr>
            <a:picLocks noChangeAspect="1"/>
          </p:cNvPicPr>
          <p:nvPr/>
        </p:nvPicPr>
        <p:blipFill>
          <a:blip r:embed="rId1"/>
          <a:stretch>
            <a:fillRect/>
          </a:stretch>
        </p:blipFill>
        <p:spPr>
          <a:xfrm>
            <a:off x="5394960" y="1143000"/>
            <a:ext cx="3383280" cy="1931545"/>
          </a:xfrm>
          <a:prstGeom prst="rect">
            <a:avLst/>
          </a:prstGeom>
          <a:effectLst>
            <a:outerShdw sx="100000" sy="100000" kx="0" ky="0" algn="bl" rotWithShape="0" blurRad="76200" dist="254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Lego for adults, sized by anyone</a:t>
            </a:r>
            <a:endParaRPr lang="en-US" sz="2400" dirty="0"/>
          </a:p>
        </p:txBody>
      </p:sp>
      <p:sp>
        <p:nvSpPr>
          <p:cNvPr id="3" name="Text 1"/>
          <p:cNvSpPr txBox="1"/>
          <p:nvPr/>
        </p:nvSpPr>
        <p:spPr>
          <a:xfrm>
            <a:off x="457200" y="960120"/>
            <a:ext cx="8229600" cy="548640"/>
          </a:xfrm>
          <a:prstGeom prst="rect">
            <a:avLst/>
          </a:prstGeom>
          <a:noFill/>
          <a:ln/>
        </p:spPr>
        <p:txBody>
          <a:bodyPr wrap="square" lIns="0" tIns="0" rIns="0" bIns="0" rtlCol="0" anchor="t"/>
          <a:lstStyle/>
          <a:p>
            <a:pPr indent="0" marL="0">
              <a:buNone/>
            </a:pPr>
            <a:r>
              <a:rPr lang="en-US" sz="1500" dirty="0">
                <a:solidFill>
                  <a:schemeClr val="accent2"/>
                </a:solidFill>
              </a:rPr>
              <a:t>Standard parts you can buy anywhere, snapped together into furniture people size themselves. Each piece is a tab on the site: a configurator.</a:t>
            </a:r>
            <a:endParaRPr lang="en-US" sz="1500" dirty="0"/>
          </a:p>
        </p:txBody>
      </p:sp>
      <p:pic>
        <p:nvPicPr>
          <p:cNvPr id="4" name="Rod shelf screenshot" descr="small/shelf.jpg">    </p:cNvPr>
          <p:cNvPicPr>
            <a:picLocks noChangeAspect="1"/>
          </p:cNvPicPr>
          <p:nvPr/>
        </p:nvPicPr>
        <p:blipFill>
          <a:blip r:embed="rId1"/>
          <a:stretch>
            <a:fillRect/>
          </a:stretch>
        </p:blipFill>
        <p:spPr>
          <a:xfrm>
            <a:off x="457200" y="1645920"/>
            <a:ext cx="3977640" cy="2270871"/>
          </a:xfrm>
          <a:prstGeom prst="rect">
            <a:avLst/>
          </a:prstGeom>
          <a:effectLst>
            <a:outerShdw sx="100000" sy="100000" kx="0" ky="0" algn="bl" rotWithShape="0" blurRad="76200" dist="25400" dir="5400000">
              <a:srgbClr val="000000">
                <a:alpha val="18000"/>
              </a:srgbClr>
            </a:outerShdw>
          </a:effectLst>
        </p:spPr>
      </p:pic>
      <p:pic>
        <p:nvPicPr>
          <p:cNvPr id="5" name="Profile desk screenshot" descr="small/desk.jpg">    </p:cNvPr>
          <p:cNvPicPr>
            <a:picLocks noChangeAspect="1"/>
          </p:cNvPicPr>
          <p:nvPr/>
        </p:nvPicPr>
        <p:blipFill>
          <a:blip r:embed="rId2"/>
          <a:stretch>
            <a:fillRect/>
          </a:stretch>
        </p:blipFill>
        <p:spPr>
          <a:xfrm>
            <a:off x="4709160" y="1645920"/>
            <a:ext cx="3977640" cy="2270871"/>
          </a:xfrm>
          <a:prstGeom prst="rect">
            <a:avLst/>
          </a:prstGeom>
          <a:effectLst>
            <a:outerShdw sx="100000" sy="100000" kx="0" ky="0" algn="bl" rotWithShape="0" blurRad="76200" dist="25400" dir="5400000">
              <a:srgbClr val="000000">
                <a:alpha val="18000"/>
              </a:srgbClr>
            </a:outerShdw>
          </a:effectLst>
        </p:spPr>
      </p:pic>
      <p:sp>
        <p:nvSpPr>
          <p:cNvPr id="6" name="Text 2"/>
          <p:cNvSpPr txBox="1"/>
          <p:nvPr/>
        </p:nvSpPr>
        <p:spPr>
          <a:xfrm>
            <a:off x="457200" y="4114800"/>
            <a:ext cx="3977640" cy="365760"/>
          </a:xfrm>
          <a:prstGeom prst="rect">
            <a:avLst/>
          </a:prstGeom>
          <a:noFill/>
          <a:ln/>
        </p:spPr>
        <p:txBody>
          <a:bodyPr wrap="square" lIns="0" tIns="0" rIns="0" bIns="0" rtlCol="0" anchor="t"/>
          <a:lstStyle/>
          <a:p>
            <a:pPr algn="ctr" indent="0" marL="0">
              <a:buNone/>
            </a:pPr>
            <a:r>
              <a:rPr lang="en-US" sz="1200" dirty="0">
                <a:solidFill>
                  <a:schemeClr val="accent2"/>
                </a:solidFill>
              </a:rPr>
              <a:t>Rod shelf: chrome rods, cross clamps, acrylic or wood sheets</a:t>
            </a:r>
            <a:endParaRPr lang="en-US" sz="1200" dirty="0"/>
          </a:p>
        </p:txBody>
      </p:sp>
      <p:sp>
        <p:nvSpPr>
          <p:cNvPr id="7" name="Text 3"/>
          <p:cNvSpPr txBox="1"/>
          <p:nvPr/>
        </p:nvSpPr>
        <p:spPr>
          <a:xfrm>
            <a:off x="4709160" y="4114800"/>
            <a:ext cx="3977640" cy="365760"/>
          </a:xfrm>
          <a:prstGeom prst="rect">
            <a:avLst/>
          </a:prstGeom>
          <a:noFill/>
          <a:ln/>
        </p:spPr>
        <p:txBody>
          <a:bodyPr wrap="square" lIns="0" tIns="0" rIns="0" bIns="0" rtlCol="0" anchor="t"/>
          <a:lstStyle/>
          <a:p>
            <a:pPr algn="ctr" indent="0" marL="0">
              <a:buNone/>
            </a:pPr>
            <a:r>
              <a:rPr lang="en-US" sz="1200" dirty="0">
                <a:solidFill>
                  <a:schemeClr val="accent2"/>
                </a:solidFill>
              </a:rPr>
              <a:t>Profile desk: T-slot aluminium, brackets, plywood top</a:t>
            </a:r>
            <a:endParaRPr lang="en-US" sz="12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What a configurator gives people</a:t>
            </a:r>
            <a:endParaRPr lang="en-US" sz="2400" dirty="0"/>
          </a:p>
        </p:txBody>
      </p:sp>
      <p:pic>
        <p:nvPicPr>
          <p:cNvPr id="3" name="Shelf at 2000 mm with warnings" descr="small/shelf-wide.jpg">    </p:cNvPr>
          <p:cNvPicPr>
            <a:picLocks noChangeAspect="1"/>
          </p:cNvPicPr>
          <p:nvPr/>
        </p:nvPicPr>
        <p:blipFill>
          <a:blip r:embed="rId1"/>
          <a:stretch>
            <a:fillRect/>
          </a:stretch>
        </p:blipFill>
        <p:spPr>
          <a:xfrm>
            <a:off x="457200" y="1051560"/>
            <a:ext cx="4937760" cy="2819012"/>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669280" y="105156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2"/>
          <p:cNvSpPr txBox="1"/>
          <p:nvPr/>
        </p:nvSpPr>
        <p:spPr>
          <a:xfrm>
            <a:off x="6217920" y="1005840"/>
            <a:ext cx="2560320" cy="822960"/>
          </a:xfrm>
          <a:prstGeom prst="rect">
            <a:avLst/>
          </a:prstGeom>
          <a:noFill/>
          <a:ln/>
        </p:spPr>
        <p:txBody>
          <a:bodyPr wrap="square" lIns="0" tIns="0" rIns="0" bIns="0" rtlCol="0" anchor="t"/>
          <a:lstStyle/>
          <a:p>
            <a:pPr indent="0" marL="0">
              <a:buNone/>
            </a:pPr>
            <a:r>
              <a:rPr lang="en-US" sz="1500" b="1" dirty="0">
                <a:solidFill>
                  <a:schemeClr val="tx1"/>
                </a:solidFill>
              </a:rPr>
              <a:t>Settings</a:t>
            </a:r>
            <a:endParaRPr lang="en-US" sz="1400" dirty="0"/>
          </a:p>
          <a:p>
            <a:pPr indent="0" marL="0">
              <a:buNone/>
            </a:pPr>
            <a:r>
              <a:rPr lang="en-US" sz="1300" dirty="0">
                <a:solidFill>
                  <a:schemeClr val="accent2"/>
                </a:solidFill>
              </a:rPr>
              <a:t>Width, depth, height and options, with sensible limits</a:t>
            </a:r>
            <a:endParaRPr lang="en-US" sz="1400" dirty="0"/>
          </a:p>
        </p:txBody>
      </p:sp>
      <p:sp>
        <p:nvSpPr>
          <p:cNvPr id="6" name="Text 3"/>
          <p:cNvSpPr txBox="1"/>
          <p:nvPr/>
        </p:nvSpPr>
        <p:spPr>
          <a:xfrm>
            <a:off x="5669280" y="1947672"/>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Text 4"/>
          <p:cNvSpPr txBox="1"/>
          <p:nvPr/>
        </p:nvSpPr>
        <p:spPr>
          <a:xfrm>
            <a:off x="6217920" y="1901952"/>
            <a:ext cx="2560320" cy="822960"/>
          </a:xfrm>
          <a:prstGeom prst="rect">
            <a:avLst/>
          </a:prstGeom>
          <a:noFill/>
          <a:ln/>
        </p:spPr>
        <p:txBody>
          <a:bodyPr wrap="square" lIns="0" tIns="0" rIns="0" bIns="0" rtlCol="0" anchor="t"/>
          <a:lstStyle/>
          <a:p>
            <a:pPr indent="0" marL="0">
              <a:buNone/>
            </a:pPr>
            <a:r>
              <a:rPr lang="en-US" sz="1500" b="1" dirty="0">
                <a:solidFill>
                  <a:schemeClr val="tx1"/>
                </a:solidFill>
              </a:rPr>
              <a:t>Rules and warnings</a:t>
            </a:r>
            <a:endParaRPr lang="en-US" sz="1400" dirty="0"/>
          </a:p>
          <a:p>
            <a:pPr indent="0" marL="0">
              <a:buNone/>
            </a:pPr>
            <a:r>
              <a:rPr lang="en-US" sz="1300" dirty="0">
                <a:solidFill>
                  <a:schemeClr val="accent2"/>
                </a:solidFill>
              </a:rPr>
              <a:t>At 2000 mm the shelf adds middle columns and warns it still sags</a:t>
            </a:r>
            <a:endParaRPr lang="en-US" sz="1400" dirty="0"/>
          </a:p>
        </p:txBody>
      </p:sp>
      <p:sp>
        <p:nvSpPr>
          <p:cNvPr id="8" name="Text 5"/>
          <p:cNvSpPr txBox="1"/>
          <p:nvPr/>
        </p:nvSpPr>
        <p:spPr>
          <a:xfrm>
            <a:off x="5669280" y="284378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Text 6"/>
          <p:cNvSpPr txBox="1"/>
          <p:nvPr/>
        </p:nvSpPr>
        <p:spPr>
          <a:xfrm>
            <a:off x="6217920" y="2798064"/>
            <a:ext cx="2560320" cy="822960"/>
          </a:xfrm>
          <a:prstGeom prst="rect">
            <a:avLst/>
          </a:prstGeom>
          <a:noFill/>
          <a:ln/>
        </p:spPr>
        <p:txBody>
          <a:bodyPr wrap="square" lIns="0" tIns="0" rIns="0" bIns="0" rtlCol="0" anchor="t"/>
          <a:lstStyle/>
          <a:p>
            <a:pPr indent="0" marL="0">
              <a:buNone/>
            </a:pPr>
            <a:r>
              <a:rPr lang="en-US" sz="1500" b="1" dirty="0">
                <a:solidFill>
                  <a:schemeClr val="tx1"/>
                </a:solidFill>
              </a:rPr>
              <a:t>3D preview</a:t>
            </a:r>
            <a:endParaRPr lang="en-US" sz="1400" dirty="0"/>
          </a:p>
          <a:p>
            <a:pPr indent="0" marL="0">
              <a:buNone/>
            </a:pPr>
            <a:r>
              <a:rPr lang="en-US" sz="1300" dirty="0">
                <a:solidFill>
                  <a:schemeClr val="accent2"/>
                </a:solidFill>
              </a:rPr>
              <a:t>Click any part to see what it is and where to buy it</a:t>
            </a:r>
            <a:endParaRPr lang="en-US" sz="1400" dirty="0"/>
          </a:p>
        </p:txBody>
      </p:sp>
      <p:sp>
        <p:nvSpPr>
          <p:cNvPr id="10" name="Text 7"/>
          <p:cNvSpPr txBox="1"/>
          <p:nvPr/>
        </p:nvSpPr>
        <p:spPr>
          <a:xfrm>
            <a:off x="5669280" y="3739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Text 8"/>
          <p:cNvSpPr txBox="1"/>
          <p:nvPr/>
        </p:nvSpPr>
        <p:spPr>
          <a:xfrm>
            <a:off x="6217920" y="3694176"/>
            <a:ext cx="2560320" cy="822960"/>
          </a:xfrm>
          <a:prstGeom prst="rect">
            <a:avLst/>
          </a:prstGeom>
          <a:noFill/>
          <a:ln/>
        </p:spPr>
        <p:txBody>
          <a:bodyPr wrap="square" lIns="0" tIns="0" rIns="0" bIns="0" rtlCol="0" anchor="t"/>
          <a:lstStyle/>
          <a:p>
            <a:pPr indent="0" marL="0">
              <a:buNone/>
            </a:pPr>
            <a:r>
              <a:rPr lang="en-US" sz="1500" b="1" dirty="0">
                <a:solidFill>
                  <a:schemeClr val="tx1"/>
                </a:solidFill>
              </a:rPr>
              <a:t>Parts list and PDF</a:t>
            </a:r>
            <a:endParaRPr lang="en-US" sz="1400" dirty="0"/>
          </a:p>
          <a:p>
            <a:pPr indent="0" marL="0">
              <a:buNone/>
            </a:pPr>
            <a:r>
              <a:rPr lang="en-US" sz="1300" dirty="0">
                <a:solidFill>
                  <a:schemeClr val="accent2"/>
                </a:solidFill>
              </a:rPr>
              <a:t>Exact quantities, cut lengths and an IKEA-style build guide</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You design, Claude builds</a:t>
            </a:r>
            <a:endParaRPr lang="en-US" sz="2400" dirty="0"/>
          </a:p>
        </p:txBody>
      </p:sp>
      <p:sp>
        <p:nvSpPr>
          <p:cNvPr id="3" name="Shape 1"/>
          <p:cNvSpPr/>
          <p:nvPr/>
        </p:nvSpPr>
        <p:spPr>
          <a:xfrm>
            <a:off x="457200" y="1097280"/>
            <a:ext cx="3931920" cy="3200400"/>
          </a:xfrm>
          <a:prstGeom prst="roundRect">
            <a:avLst>
              <a:gd name="adj" fmla="val 2286"/>
            </a:avLst>
          </a:prstGeom>
          <a:solidFill>
            <a:schemeClr val="bg2"/>
          </a:solidFill>
          <a:ln w="12700">
            <a:solidFill>
              <a:schemeClr val="bg2"/>
            </a:solidFill>
            <a:prstDash val="solid"/>
          </a:ln>
        </p:spPr>
      </p:sp>
      <p:sp>
        <p:nvSpPr>
          <p:cNvPr id="4" name="Shape 2"/>
          <p:cNvSpPr/>
          <p:nvPr/>
        </p:nvSpPr>
        <p:spPr>
          <a:xfrm>
            <a:off x="4754880" y="1097280"/>
            <a:ext cx="3931920" cy="3200400"/>
          </a:xfrm>
          <a:prstGeom prst="roundRect">
            <a:avLst>
              <a:gd name="adj" fmla="val 2286"/>
            </a:avLst>
          </a:prstGeom>
          <a:solidFill>
            <a:schemeClr val="tx2"/>
          </a:solidFill>
          <a:ln w="12700">
            <a:solidFill>
              <a:schemeClr val="tx2"/>
            </a:solidFill>
            <a:prstDash val="solid"/>
          </a:ln>
        </p:spPr>
      </p:sp>
      <p:sp>
        <p:nvSpPr>
          <p:cNvPr id="5" name="Text 3"/>
          <p:cNvSpPr txBox="1"/>
          <p:nvPr/>
        </p:nvSpPr>
        <p:spPr>
          <a:xfrm>
            <a:off x="731520" y="1280160"/>
            <a:ext cx="3474720" cy="365760"/>
          </a:xfrm>
          <a:prstGeom prst="rect">
            <a:avLst/>
          </a:prstGeom>
          <a:noFill/>
          <a:ln/>
        </p:spPr>
        <p:txBody>
          <a:bodyPr wrap="square" lIns="0" tIns="0" rIns="0" bIns="0" rtlCol="0" anchor="t"/>
          <a:lstStyle/>
          <a:p>
            <a:pPr indent="0" marL="0">
              <a:buNone/>
            </a:pPr>
            <a:r>
              <a:rPr lang="en-US" sz="1800" b="1" dirty="0">
                <a:solidFill>
                  <a:schemeClr val="tx1"/>
                </a:solidFill>
              </a:rPr>
              <a:t>You, the designer</a:t>
            </a:r>
            <a:endParaRPr lang="en-US" sz="1800" dirty="0"/>
          </a:p>
        </p:txBody>
      </p:sp>
      <p:sp>
        <p:nvSpPr>
          <p:cNvPr id="6" name="Text 4"/>
          <p:cNvSpPr txBox="1"/>
          <p:nvPr/>
        </p:nvSpPr>
        <p:spPr>
          <a:xfrm>
            <a:off x="731520" y="1783080"/>
            <a:ext cx="347472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What the piece is and how it looks</a:t>
            </a:r>
            <a:endParaRPr lang="en-US" sz="1400" dirty="0"/>
          </a:p>
          <a:p>
            <a:pPr marL="342900" indent="-342900">
              <a:spcAft>
                <a:spcPts val="800"/>
              </a:spcAft>
              <a:buSzPct val="100000"/>
              <a:buChar char="•"/>
            </a:pPr>
            <a:r>
              <a:rPr lang="en-US" sz="1400" dirty="0">
                <a:solidFill>
                  <a:schemeClr val="tx1"/>
                </a:solidFill>
              </a:rPr>
              <a:t>Which real parts to buy, and their sizes</a:t>
            </a:r>
            <a:endParaRPr lang="en-US" sz="1400" dirty="0"/>
          </a:p>
          <a:p>
            <a:pPr marL="342900" indent="-342900">
              <a:spcAft>
                <a:spcPts val="800"/>
              </a:spcAft>
              <a:buSzPct val="100000"/>
              <a:buChar char="•"/>
            </a:pPr>
            <a:r>
              <a:rPr lang="en-US" sz="1400" dirty="0">
                <a:solidFill>
                  <a:schemeClr val="tx1"/>
                </a:solidFill>
              </a:rPr>
              <a:t>How it goes together, step by step</a:t>
            </a:r>
            <a:endParaRPr lang="en-US" sz="1400" dirty="0"/>
          </a:p>
          <a:p>
            <a:pPr marL="342900" indent="-342900">
              <a:spcAft>
                <a:spcPts val="800"/>
              </a:spcAft>
              <a:buSzPct val="100000"/>
              <a:buChar char="•"/>
            </a:pPr>
            <a:r>
              <a:rPr lang="en-US" sz="1400" dirty="0">
                <a:solidFill>
                  <a:schemeClr val="tx1"/>
                </a:solidFill>
              </a:rPr>
              <a:t>What people can change, and the limits</a:t>
            </a:r>
            <a:endParaRPr lang="en-US" sz="1400" dirty="0"/>
          </a:p>
          <a:p>
            <a:pPr marL="342900" indent="-342900">
              <a:spcAft>
                <a:spcPts val="800"/>
              </a:spcAft>
              <a:buSzPct val="100000"/>
              <a:buChar char="•"/>
            </a:pPr>
            <a:r>
              <a:rPr lang="en-US" sz="1400" dirty="0">
                <a:solidFill>
                  <a:schemeClr val="tx1"/>
                </a:solidFill>
              </a:rPr>
              <a:t>Saying "yes, that looks right" or "move this"</a:t>
            </a:r>
            <a:endParaRPr lang="en-US" sz="1400" dirty="0"/>
          </a:p>
        </p:txBody>
      </p:sp>
      <p:sp>
        <p:nvSpPr>
          <p:cNvPr id="7" name="Text 5"/>
          <p:cNvSpPr txBox="1"/>
          <p:nvPr/>
        </p:nvSpPr>
        <p:spPr>
          <a:xfrm>
            <a:off x="5029200" y="1280160"/>
            <a:ext cx="3474720" cy="365760"/>
          </a:xfrm>
          <a:prstGeom prst="rect">
            <a:avLst/>
          </a:prstGeom>
          <a:noFill/>
          <a:ln/>
        </p:spPr>
        <p:txBody>
          <a:bodyPr wrap="square" lIns="0" tIns="0" rIns="0" bIns="0" rtlCol="0" anchor="t"/>
          <a:lstStyle/>
          <a:p>
            <a:pPr indent="0" marL="0">
              <a:buNone/>
            </a:pPr>
            <a:r>
              <a:rPr lang="en-US" sz="1800" b="1" dirty="0">
                <a:solidFill>
                  <a:schemeClr val="bg1"/>
                </a:solidFill>
              </a:rPr>
              <a:t>Claude, in the desktop app</a:t>
            </a:r>
            <a:endParaRPr lang="en-US" sz="1800" dirty="0"/>
          </a:p>
        </p:txBody>
      </p:sp>
      <p:sp>
        <p:nvSpPr>
          <p:cNvPr id="8" name="Text 6"/>
          <p:cNvSpPr txBox="1"/>
          <p:nvPr/>
        </p:nvSpPr>
        <p:spPr>
          <a:xfrm>
            <a:off x="5029200" y="1783080"/>
            <a:ext cx="347472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Sets up and runs the site on your computer</a:t>
            </a:r>
            <a:endParaRPr lang="en-US" sz="1400" dirty="0"/>
          </a:p>
          <a:p>
            <a:pPr marL="342900" indent="-342900">
              <a:spcAft>
                <a:spcPts val="800"/>
              </a:spcAft>
              <a:buSzPct val="100000"/>
              <a:buChar char="•"/>
            </a:pPr>
            <a:r>
              <a:rPr lang="en-US" sz="1400" dirty="0">
                <a:solidFill>
                  <a:schemeClr val="bg1"/>
                </a:solidFill>
              </a:rPr>
              <a:t>Writes the code and the tests</a:t>
            </a:r>
            <a:endParaRPr lang="en-US" sz="1400" dirty="0"/>
          </a:p>
          <a:p>
            <a:pPr marL="342900" indent="-342900">
              <a:spcAft>
                <a:spcPts val="800"/>
              </a:spcAft>
              <a:buSzPct val="100000"/>
              <a:buChar char="•"/>
            </a:pPr>
            <a:r>
              <a:rPr lang="en-US" sz="1400" dirty="0">
                <a:solidFill>
                  <a:schemeClr val="bg1"/>
                </a:solidFill>
              </a:rPr>
              <a:t>Shows you a screenshot after every change</a:t>
            </a:r>
            <a:endParaRPr lang="en-US" sz="1400" dirty="0"/>
          </a:p>
          <a:p>
            <a:pPr marL="342900" indent="-342900">
              <a:spcAft>
                <a:spcPts val="800"/>
              </a:spcAft>
              <a:buSzPct val="100000"/>
              <a:buChar char="•"/>
            </a:pPr>
            <a:r>
              <a:rPr lang="en-US" sz="1400" dirty="0">
                <a:solidFill>
                  <a:schemeClr val="bg1"/>
                </a:solidFill>
              </a:rPr>
              <a:t>Saves versions as it goes</a:t>
            </a:r>
            <a:endParaRPr lang="en-US" sz="1400" dirty="0"/>
          </a:p>
          <a:p>
            <a:pPr marL="342900" indent="-342900">
              <a:spcAft>
                <a:spcPts val="800"/>
              </a:spcAft>
              <a:buSzPct val="100000"/>
              <a:buChar char="•"/>
            </a:pPr>
            <a:r>
              <a:rPr lang="en-US" sz="1400" dirty="0">
                <a:solidFill>
                  <a:schemeClr val="bg1"/>
                </a:solidFill>
              </a:rPr>
              <a:t>Writes and opens the pull request</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From idea to pull request</a:t>
            </a:r>
            <a:endParaRPr lang="en-US" sz="2400" dirty="0"/>
          </a:p>
        </p:txBody>
      </p:sp>
      <p:sp>
        <p:nvSpPr>
          <p:cNvPr id="3" name="Text 1"/>
          <p:cNvSpPr txBox="1"/>
          <p:nvPr/>
        </p:nvSpPr>
        <p:spPr>
          <a:xfrm>
            <a:off x="868680"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4" name="Shape 2"/>
          <p:cNvSpPr/>
          <p:nvPr/>
        </p:nvSpPr>
        <p:spPr>
          <a:xfrm>
            <a:off x="1463040" y="1737360"/>
            <a:ext cx="758952" cy="0"/>
          </a:xfrm>
          <a:prstGeom prst="line">
            <a:avLst/>
          </a:prstGeom>
          <a:noFill/>
          <a:ln w="19050">
            <a:solidFill>
              <a:schemeClr val="accent3"/>
            </a:solidFill>
            <a:prstDash val="solid"/>
            <a:tailEnd type="triangle"/>
          </a:ln>
        </p:spPr>
      </p:sp>
      <p:sp>
        <p:nvSpPr>
          <p:cNvPr id="5" name="Text 3"/>
          <p:cNvSpPr txBox="1"/>
          <p:nvPr/>
        </p:nvSpPr>
        <p:spPr>
          <a:xfrm>
            <a:off x="457200"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Set up</a:t>
            </a:r>
            <a:endParaRPr lang="en-US" sz="1400" dirty="0"/>
          </a:p>
          <a:p>
            <a:pPr algn="ctr" indent="0" marL="0">
              <a:buNone/>
            </a:pPr>
            <a:r>
              <a:rPr lang="en-US" sz="1200" dirty="0">
                <a:solidFill>
                  <a:schemeClr val="accent2"/>
                </a:solidFill>
              </a:rPr>
              <a:t>Once: account and app</a:t>
            </a:r>
            <a:endParaRPr lang="en-US" sz="1400" dirty="0"/>
          </a:p>
        </p:txBody>
      </p:sp>
      <p:sp>
        <p:nvSpPr>
          <p:cNvPr id="6" name="Text 4"/>
          <p:cNvSpPr txBox="1"/>
          <p:nvPr/>
        </p:nvSpPr>
        <p:spPr>
          <a:xfrm>
            <a:off x="2267712"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Shape 5"/>
          <p:cNvSpPr/>
          <p:nvPr/>
        </p:nvSpPr>
        <p:spPr>
          <a:xfrm>
            <a:off x="2862072" y="1737360"/>
            <a:ext cx="758952" cy="0"/>
          </a:xfrm>
          <a:prstGeom prst="line">
            <a:avLst/>
          </a:prstGeom>
          <a:noFill/>
          <a:ln w="19050">
            <a:solidFill>
              <a:schemeClr val="accent3"/>
            </a:solidFill>
            <a:prstDash val="solid"/>
            <a:tailEnd type="triangle"/>
          </a:ln>
        </p:spPr>
      </p:sp>
      <p:sp>
        <p:nvSpPr>
          <p:cNvPr id="8" name="Text 6"/>
          <p:cNvSpPr txBox="1"/>
          <p:nvPr/>
        </p:nvSpPr>
        <p:spPr>
          <a:xfrm>
            <a:off x="1856232"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Run the site</a:t>
            </a:r>
            <a:endParaRPr lang="en-US" sz="1400" dirty="0"/>
          </a:p>
          <a:p>
            <a:pPr algn="ctr" indent="0" marL="0">
              <a:buNone/>
            </a:pPr>
            <a:r>
              <a:rPr lang="en-US" sz="1200" dirty="0">
                <a:solidFill>
                  <a:schemeClr val="accent2"/>
                </a:solidFill>
              </a:rPr>
              <a:t>On your own computer</a:t>
            </a:r>
            <a:endParaRPr lang="en-US" sz="1400" dirty="0"/>
          </a:p>
        </p:txBody>
      </p:sp>
      <p:sp>
        <p:nvSpPr>
          <p:cNvPr id="9" name="Text 7"/>
          <p:cNvSpPr txBox="1"/>
          <p:nvPr/>
        </p:nvSpPr>
        <p:spPr>
          <a:xfrm>
            <a:off x="3666744" y="146304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0" name="Shape 8"/>
          <p:cNvSpPr/>
          <p:nvPr/>
        </p:nvSpPr>
        <p:spPr>
          <a:xfrm>
            <a:off x="4261104" y="1737360"/>
            <a:ext cx="758952" cy="0"/>
          </a:xfrm>
          <a:prstGeom prst="line">
            <a:avLst/>
          </a:prstGeom>
          <a:noFill/>
          <a:ln w="19050">
            <a:solidFill>
              <a:schemeClr val="accent3"/>
            </a:solidFill>
            <a:prstDash val="solid"/>
            <a:tailEnd type="triangle"/>
          </a:ln>
        </p:spPr>
      </p:sp>
      <p:sp>
        <p:nvSpPr>
          <p:cNvPr id="11" name="Text 9"/>
          <p:cNvSpPr txBox="1"/>
          <p:nvPr/>
        </p:nvSpPr>
        <p:spPr>
          <a:xfrm>
            <a:off x="3255264"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Design brief</a:t>
            </a:r>
            <a:endParaRPr lang="en-US" sz="1400" dirty="0"/>
          </a:p>
          <a:p>
            <a:pPr algn="ctr" indent="0" marL="0">
              <a:buNone/>
            </a:pPr>
            <a:r>
              <a:rPr lang="en-US" sz="1200" dirty="0">
                <a:solidFill>
                  <a:schemeClr val="accent2"/>
                </a:solidFill>
              </a:rPr>
              <a:t>An interview, written down</a:t>
            </a:r>
            <a:endParaRPr lang="en-US" sz="1400" dirty="0"/>
          </a:p>
        </p:txBody>
      </p:sp>
      <p:sp>
        <p:nvSpPr>
          <p:cNvPr id="12" name="Text 10"/>
          <p:cNvSpPr txBox="1"/>
          <p:nvPr/>
        </p:nvSpPr>
        <p:spPr>
          <a:xfrm>
            <a:off x="5065776"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3" name="Shape 11"/>
          <p:cNvSpPr/>
          <p:nvPr/>
        </p:nvSpPr>
        <p:spPr>
          <a:xfrm>
            <a:off x="5660136" y="1737360"/>
            <a:ext cx="758952" cy="0"/>
          </a:xfrm>
          <a:prstGeom prst="line">
            <a:avLst/>
          </a:prstGeom>
          <a:noFill/>
          <a:ln w="19050">
            <a:solidFill>
              <a:schemeClr val="accent3"/>
            </a:solidFill>
            <a:prstDash val="solid"/>
            <a:tailEnd type="triangle"/>
          </a:ln>
        </p:spPr>
      </p:sp>
      <p:sp>
        <p:nvSpPr>
          <p:cNvPr id="14" name="Text 12"/>
          <p:cNvSpPr txBox="1"/>
          <p:nvPr/>
        </p:nvSpPr>
        <p:spPr>
          <a:xfrm>
            <a:off x="4654296"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Build in rounds</a:t>
            </a:r>
            <a:endParaRPr lang="en-US" sz="1400" dirty="0"/>
          </a:p>
          <a:p>
            <a:pPr algn="ctr" indent="0" marL="0">
              <a:buNone/>
            </a:pPr>
            <a:r>
              <a:rPr lang="en-US" sz="1200" dirty="0">
                <a:solidFill>
                  <a:schemeClr val="accent2"/>
                </a:solidFill>
              </a:rPr>
              <a:t>Check each one</a:t>
            </a:r>
            <a:endParaRPr lang="en-US" sz="1400" dirty="0"/>
          </a:p>
        </p:txBody>
      </p:sp>
      <p:sp>
        <p:nvSpPr>
          <p:cNvPr id="15" name="Text 13"/>
          <p:cNvSpPr txBox="1"/>
          <p:nvPr/>
        </p:nvSpPr>
        <p:spPr>
          <a:xfrm>
            <a:off x="6464808"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6" name="Shape 14"/>
          <p:cNvSpPr/>
          <p:nvPr/>
        </p:nvSpPr>
        <p:spPr>
          <a:xfrm>
            <a:off x="7059168" y="1737360"/>
            <a:ext cx="758952" cy="0"/>
          </a:xfrm>
          <a:prstGeom prst="line">
            <a:avLst/>
          </a:prstGeom>
          <a:noFill/>
          <a:ln w="19050">
            <a:solidFill>
              <a:schemeClr val="accent3"/>
            </a:solidFill>
            <a:prstDash val="solid"/>
            <a:tailEnd type="triangle"/>
          </a:ln>
        </p:spPr>
      </p:sp>
      <p:sp>
        <p:nvSpPr>
          <p:cNvPr id="17" name="Text 15"/>
          <p:cNvSpPr txBox="1"/>
          <p:nvPr/>
        </p:nvSpPr>
        <p:spPr>
          <a:xfrm>
            <a:off x="6053328"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Try it in Chrome</a:t>
            </a:r>
            <a:endParaRPr lang="en-US" sz="1400" dirty="0"/>
          </a:p>
          <a:p>
            <a:pPr algn="ctr" indent="0" marL="0">
              <a:buNone/>
            </a:pPr>
            <a:r>
              <a:rPr lang="en-US" sz="1200" dirty="0">
                <a:solidFill>
                  <a:schemeClr val="accent2"/>
                </a:solidFill>
              </a:rPr>
              <a:t>Your own local copy</a:t>
            </a:r>
            <a:endParaRPr lang="en-US" sz="1400" dirty="0"/>
          </a:p>
        </p:txBody>
      </p:sp>
      <p:sp>
        <p:nvSpPr>
          <p:cNvPr id="18" name="Text 16"/>
          <p:cNvSpPr txBox="1"/>
          <p:nvPr/>
        </p:nvSpPr>
        <p:spPr>
          <a:xfrm>
            <a:off x="7863840"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9" name="Text 17"/>
          <p:cNvSpPr txBox="1"/>
          <p:nvPr/>
        </p:nvSpPr>
        <p:spPr>
          <a:xfrm>
            <a:off x="7452360"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Send</a:t>
            </a:r>
            <a:endParaRPr lang="en-US" sz="1400" dirty="0"/>
          </a:p>
          <a:p>
            <a:pPr algn="ctr" indent="0" marL="0">
              <a:buNone/>
            </a:pPr>
            <a:r>
              <a:rPr lang="en-US" sz="1200" dirty="0">
                <a:solidFill>
                  <a:schemeClr val="accent2"/>
                </a:solidFill>
              </a:rPr>
              <a:t>The pull request</a:t>
            </a:r>
            <a:endParaRPr lang="en-US" sz="1400" dirty="0"/>
          </a:p>
        </p:txBody>
      </p:sp>
      <p:sp>
        <p:nvSpPr>
          <p:cNvPr id="20" name="Shape 18"/>
          <p:cNvSpPr/>
          <p:nvPr/>
        </p:nvSpPr>
        <p:spPr>
          <a:xfrm>
            <a:off x="457200" y="3429000"/>
            <a:ext cx="8229600" cy="1005840"/>
          </a:xfrm>
          <a:prstGeom prst="roundRect">
            <a:avLst>
              <a:gd name="adj" fmla="val 7273"/>
            </a:avLst>
          </a:prstGeom>
          <a:solidFill>
            <a:schemeClr val="bg2"/>
          </a:solidFill>
          <a:ln w="12700">
            <a:solidFill>
              <a:schemeClr val="bg2"/>
            </a:solidFill>
            <a:prstDash val="solid"/>
          </a:ln>
        </p:spPr>
      </p:sp>
      <p:sp>
        <p:nvSpPr>
          <p:cNvPr id="21" name="Text 19"/>
          <p:cNvSpPr txBox="1"/>
          <p:nvPr/>
        </p:nvSpPr>
        <p:spPr>
          <a:xfrm>
            <a:off x="731520" y="3566160"/>
            <a:ext cx="7680960" cy="777240"/>
          </a:xfrm>
          <a:prstGeom prst="rect">
            <a:avLst/>
          </a:prstGeom>
          <a:noFill/>
          <a:ln/>
        </p:spPr>
        <p:txBody>
          <a:bodyPr wrap="square" lIns="0" tIns="0" rIns="0" bIns="0" rtlCol="0" anchor="t"/>
          <a:lstStyle/>
          <a:p>
            <a:pPr indent="0" marL="0">
              <a:buNone/>
            </a:pPr>
            <a:r>
              <a:rPr lang="en-US" sz="1400" b="1" dirty="0">
                <a:solidFill>
                  <a:schemeClr val="tx1"/>
                </a:solidFill>
              </a:rPr>
              <a:t>Everything starts with one sentence. </a:t>
            </a:r>
            <a:pPr indent="0" marL="0">
              <a:buNone/>
            </a:pPr>
            <a:r>
              <a:rPr lang="en-US" sz="1400" dirty="0">
                <a:solidFill>
                  <a:schemeClr val="tx1"/>
                </a:solidFill>
              </a:rPr>
              <a:t>Open the project in the Claude desktop app and say "let's work on this". Claude asks what you want to do and guides every step, telling you where you are ("Step 3 of 6").</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One-time setup, about 15 minutes</a:t>
            </a:r>
            <a:endParaRPr lang="en-US" sz="2400" dirty="0"/>
          </a:p>
        </p:txBody>
      </p:sp>
      <p:sp>
        <p:nvSpPr>
          <p:cNvPr id="3" name="Shape 1"/>
          <p:cNvSpPr/>
          <p:nvPr/>
        </p:nvSpPr>
        <p:spPr>
          <a:xfrm>
            <a:off x="457200" y="1143000"/>
            <a:ext cx="4023360" cy="1463040"/>
          </a:xfrm>
          <a:prstGeom prst="roundRect">
            <a:avLst>
              <a:gd name="adj" fmla="val 5000"/>
            </a:avLst>
          </a:prstGeom>
          <a:solidFill>
            <a:schemeClr val="bg2"/>
          </a:solidFill>
          <a:ln w="12700">
            <a:solidFill>
              <a:schemeClr val="bg2"/>
            </a:solidFill>
            <a:prstDash val="solid"/>
          </a:ln>
        </p:spPr>
      </p:sp>
      <p:sp>
        <p:nvSpPr>
          <p:cNvPr id="4" name="Text 2"/>
          <p:cNvSpPr txBox="1"/>
          <p:nvPr/>
        </p:nvSpPr>
        <p:spPr>
          <a:xfrm>
            <a:off x="685800" y="141732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325880" y="1399032"/>
            <a:ext cx="2971800" cy="1097280"/>
          </a:xfrm>
          <a:prstGeom prst="rect">
            <a:avLst/>
          </a:prstGeom>
          <a:noFill/>
          <a:ln/>
        </p:spPr>
        <p:txBody>
          <a:bodyPr wrap="square" lIns="0" tIns="0" rIns="0" bIns="0" rtlCol="0" anchor="t"/>
          <a:lstStyle/>
          <a:p>
            <a:pPr indent="0" marL="0">
              <a:buNone/>
            </a:pPr>
            <a:r>
              <a:rPr lang="en-US" sz="1600" b="1" dirty="0">
                <a:solidFill>
                  <a:schemeClr val="tx1"/>
                </a:solidFill>
              </a:rPr>
              <a:t>GitHub account</a:t>
            </a:r>
            <a:endParaRPr lang="en-US" sz="1400" dirty="0"/>
          </a:p>
          <a:p>
            <a:pPr indent="0" marL="0">
              <a:buNone/>
            </a:pPr>
            <a:r>
              <a:rPr lang="en-US" sz="1300" dirty="0">
                <a:solidFill>
                  <a:schemeClr val="accent2"/>
                </a:solidFill>
              </a:rPr>
              <a:t>Free, at github.com/signup</a:t>
            </a:r>
            <a:endParaRPr lang="en-US" sz="1400" dirty="0"/>
          </a:p>
        </p:txBody>
      </p:sp>
      <p:sp>
        <p:nvSpPr>
          <p:cNvPr id="6" name="Shape 4"/>
          <p:cNvSpPr/>
          <p:nvPr/>
        </p:nvSpPr>
        <p:spPr>
          <a:xfrm>
            <a:off x="4663440" y="1143000"/>
            <a:ext cx="4023360" cy="1463040"/>
          </a:xfrm>
          <a:prstGeom prst="roundRect">
            <a:avLst>
              <a:gd name="adj" fmla="val 5000"/>
            </a:avLst>
          </a:prstGeom>
          <a:solidFill>
            <a:schemeClr val="bg2"/>
          </a:solidFill>
          <a:ln w="12700">
            <a:solidFill>
              <a:schemeClr val="bg2"/>
            </a:solidFill>
            <a:prstDash val="solid"/>
          </a:ln>
        </p:spPr>
      </p:sp>
      <p:sp>
        <p:nvSpPr>
          <p:cNvPr id="7" name="Text 5"/>
          <p:cNvSpPr txBox="1"/>
          <p:nvPr/>
        </p:nvSpPr>
        <p:spPr>
          <a:xfrm>
            <a:off x="4892040" y="141732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5532120" y="1399032"/>
            <a:ext cx="2971800" cy="1097280"/>
          </a:xfrm>
          <a:prstGeom prst="rect">
            <a:avLst/>
          </a:prstGeom>
          <a:noFill/>
          <a:ln/>
        </p:spPr>
        <p:txBody>
          <a:bodyPr wrap="square" lIns="0" tIns="0" rIns="0" bIns="0" rtlCol="0" anchor="t"/>
          <a:lstStyle/>
          <a:p>
            <a:pPr indent="0" marL="0">
              <a:buNone/>
            </a:pPr>
            <a:r>
              <a:rPr lang="en-US" sz="1600" b="1" dirty="0">
                <a:solidFill>
                  <a:schemeClr val="tx1"/>
                </a:solidFill>
              </a:rPr>
              <a:t>Claude desktop app</a:t>
            </a:r>
            <a:endParaRPr lang="en-US" sz="1400" dirty="0"/>
          </a:p>
          <a:p>
            <a:pPr indent="0" marL="0">
              <a:buNone/>
            </a:pPr>
            <a:r>
              <a:rPr lang="en-US" sz="1300" dirty="0">
                <a:solidFill>
                  <a:schemeClr val="accent2"/>
                </a:solidFill>
              </a:rPr>
              <a:t>Download it from claude.ai/download and sign in</a:t>
            </a:r>
            <a:endParaRPr lang="en-US" sz="1400" dirty="0"/>
          </a:p>
        </p:txBody>
      </p:sp>
      <p:sp>
        <p:nvSpPr>
          <p:cNvPr id="9" name="Shape 7"/>
          <p:cNvSpPr/>
          <p:nvPr/>
        </p:nvSpPr>
        <p:spPr>
          <a:xfrm>
            <a:off x="457200" y="2834640"/>
            <a:ext cx="4023360" cy="1463040"/>
          </a:xfrm>
          <a:prstGeom prst="roundRect">
            <a:avLst>
              <a:gd name="adj" fmla="val 5000"/>
            </a:avLst>
          </a:prstGeom>
          <a:solidFill>
            <a:schemeClr val="bg2"/>
          </a:solidFill>
          <a:ln w="12700">
            <a:solidFill>
              <a:schemeClr val="bg2"/>
            </a:solidFill>
            <a:prstDash val="solid"/>
          </a:ln>
        </p:spPr>
      </p:sp>
      <p:sp>
        <p:nvSpPr>
          <p:cNvPr id="10" name="Text 8"/>
          <p:cNvSpPr txBox="1"/>
          <p:nvPr/>
        </p:nvSpPr>
        <p:spPr>
          <a:xfrm>
            <a:off x="685800" y="31089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325880" y="3090672"/>
            <a:ext cx="2971800" cy="1097280"/>
          </a:xfrm>
          <a:prstGeom prst="rect">
            <a:avLst/>
          </a:prstGeom>
          <a:noFill/>
          <a:ln/>
        </p:spPr>
        <p:txBody>
          <a:bodyPr wrap="square" lIns="0" tIns="0" rIns="0" bIns="0" rtlCol="0" anchor="t"/>
          <a:lstStyle/>
          <a:p>
            <a:pPr indent="0" marL="0">
              <a:buNone/>
            </a:pPr>
            <a:r>
              <a:rPr lang="en-US" sz="1600" b="1" dirty="0">
                <a:solidFill>
                  <a:schemeClr val="tx1"/>
                </a:solidFill>
              </a:rPr>
              <a:t>Open the project</a:t>
            </a:r>
            <a:endParaRPr lang="en-US" sz="1400" dirty="0"/>
          </a:p>
          <a:p>
            <a:pPr indent="0" marL="0">
              <a:buNone/>
            </a:pPr>
            <a:r>
              <a:rPr lang="en-US" sz="1300" dirty="0">
                <a:solidFill>
                  <a:schemeClr val="accent2"/>
                </a:solidFill>
              </a:rPr>
              <a:t>In the app, open Code and choose the project. Claude can make your own copy (fork) on GitHub</a:t>
            </a:r>
            <a:endParaRPr lang="en-US" sz="1400" dirty="0"/>
          </a:p>
        </p:txBody>
      </p:sp>
      <p:sp>
        <p:nvSpPr>
          <p:cNvPr id="12" name="Shape 10"/>
          <p:cNvSpPr/>
          <p:nvPr/>
        </p:nvSpPr>
        <p:spPr>
          <a:xfrm>
            <a:off x="4663440" y="2834640"/>
            <a:ext cx="4023360" cy="1463040"/>
          </a:xfrm>
          <a:prstGeom prst="roundRect">
            <a:avLst>
              <a:gd name="adj" fmla="val 5000"/>
            </a:avLst>
          </a:prstGeom>
          <a:solidFill>
            <a:schemeClr val="bg2"/>
          </a:solidFill>
          <a:ln w="12700">
            <a:solidFill>
              <a:schemeClr val="bg2"/>
            </a:solidFill>
            <a:prstDash val="solid"/>
          </a:ln>
        </p:spPr>
      </p:sp>
      <p:sp>
        <p:nvSpPr>
          <p:cNvPr id="13" name="Text 11"/>
          <p:cNvSpPr txBox="1"/>
          <p:nvPr/>
        </p:nvSpPr>
        <p:spPr>
          <a:xfrm>
            <a:off x="4892040" y="31089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5532120" y="3090672"/>
            <a:ext cx="2971800" cy="1097280"/>
          </a:xfrm>
          <a:prstGeom prst="rect">
            <a:avLst/>
          </a:prstGeom>
          <a:noFill/>
          <a:ln/>
        </p:spPr>
        <p:txBody>
          <a:bodyPr wrap="square" lIns="0" tIns="0" rIns="0" bIns="0" rtlCol="0" anchor="t"/>
          <a:lstStyle/>
          <a:p>
            <a:pPr indent="0" marL="0">
              <a:buNone/>
            </a:pPr>
            <a:r>
              <a:rPr lang="en-US" sz="1600" b="1" dirty="0">
                <a:solidFill>
                  <a:schemeClr val="tx1"/>
                </a:solidFill>
              </a:rPr>
              <a:t>Ask</a:t>
            </a:r>
            <a:endParaRPr lang="en-US" sz="1400" dirty="0"/>
          </a:p>
          <a:p>
            <a:pPr indent="0" marL="0">
              <a:buNone/>
            </a:pPr>
            <a:r>
              <a:rPr lang="en-US" sz="1300" dirty="0">
                <a:solidFill>
                  <a:schemeClr val="accent2"/>
                </a:solidFill>
              </a:rPr>
              <a:t>Type "let's work on this" and follow along</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Say "let's work on this"</a:t>
            </a:r>
            <a:endParaRPr lang="en-US" sz="2400" dirty="0"/>
          </a:p>
        </p:txBody>
      </p:sp>
      <p:sp>
        <p:nvSpPr>
          <p:cNvPr id="3" name="Simulation tag"/>
          <p:cNvSpPr txBox="1"/>
          <p:nvPr/>
        </p:nvSpPr>
        <p:spPr>
          <a:xfrm>
            <a:off x="6949440" y="45720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first conversation" descr="small/sim-start.jpg">    </p:cNvPr>
          <p:cNvPicPr>
            <a:picLocks noChangeAspect="1"/>
          </p:cNvPicPr>
          <p:nvPr/>
        </p:nvPicPr>
        <p:blipFill>
          <a:blip r:embed="rId1"/>
          <a:stretch>
            <a:fillRect/>
          </a:stretch>
        </p:blipFill>
        <p:spPr>
          <a:xfrm>
            <a:off x="457200" y="1051560"/>
            <a:ext cx="5394960" cy="3117516"/>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126480" y="1188720"/>
            <a:ext cx="2651760" cy="3383280"/>
          </a:xfrm>
          <a:prstGeom prst="rect">
            <a:avLst/>
          </a:prstGeom>
          <a:noFill/>
          <a:ln/>
        </p:spPr>
        <p:txBody>
          <a:bodyPr wrap="square" lIns="0" tIns="0" rIns="0" bIns="0" rtlCol="0" anchor="t"/>
          <a:lstStyle/>
          <a:p>
            <a:pPr indent="0" marL="0">
              <a:buNone/>
            </a:pPr>
            <a:r>
              <a:rPr lang="en-US" sz="1400" b="1" dirty="0">
                <a:solidFill>
                  <a:schemeClr val="tx1"/>
                </a:solidFill>
              </a:rPr>
              <a:t>It offers four paths</a:t>
            </a:r>
            <a:endParaRPr lang="en-US" sz="1400" dirty="0"/>
          </a:p>
          <a:p>
            <a:pPr indent="0" marL="0">
              <a:buNone/>
            </a:pPr>
            <a:r>
              <a:rPr lang="en-US" sz="1400" dirty="0">
                <a:solidFill>
                  <a:schemeClr val="accent2"/>
                </a:solidFill>
              </a:rPr>
              <a:t>Design a new piece, improve one, add an idea, or something else.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It checks your setup</a:t>
            </a:r>
            <a:endParaRPr lang="en-US" sz="1400" dirty="0"/>
          </a:p>
          <a:p>
            <a:pPr indent="0" marL="0">
              <a:buNone/>
            </a:pPr>
            <a:r>
              <a:rPr lang="en-US" sz="1400" dirty="0">
                <a:solidFill>
                  <a:schemeClr val="accent2"/>
                </a:solidFill>
              </a:rPr>
              <a:t>Fixes what it can; asks you only for clicks it can't do, like signing in to GitHub.</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It runs the site</a:t>
            </a:r>
            <a:endParaRPr lang="en-US" sz="1400" dirty="0"/>
          </a:p>
          <a:p>
            <a:pPr indent="0" marL="0">
              <a:buNone/>
            </a:pPr>
            <a:r>
              <a:rPr lang="en-US" sz="1400" dirty="0">
                <a:solidFill>
                  <a:schemeClr val="accent2"/>
                </a:solidFill>
              </a:rPr>
              <a:t>At localhost:8000, only visible to you, updating on refresh.</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Start from an idea on the board</a:t>
            </a:r>
            <a:endParaRPr lang="en-US" sz="2400" dirty="0"/>
          </a:p>
        </p:txBody>
      </p:sp>
      <p:pic>
        <p:nvPicPr>
          <p:cNvPr id="3" name="Ideas board screenshot" descr="small/ideas.jpg">    </p:cNvPr>
          <p:cNvPicPr>
            <a:picLocks noChangeAspect="1"/>
          </p:cNvPicPr>
          <p:nvPr/>
        </p:nvPicPr>
        <p:blipFill>
          <a:blip r:embed="rId1"/>
          <a:stretch>
            <a:fillRect/>
          </a:stretch>
        </p:blipFill>
        <p:spPr>
          <a:xfrm>
            <a:off x="457200" y="1051560"/>
            <a:ext cx="5120640" cy="2923420"/>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852160" y="1188720"/>
            <a:ext cx="2926080" cy="3383280"/>
          </a:xfrm>
          <a:prstGeom prst="rect">
            <a:avLst/>
          </a:prstGeom>
          <a:noFill/>
          <a:ln/>
        </p:spPr>
        <p:txBody>
          <a:bodyPr wrap="square" lIns="0" tIns="0" rIns="0" bIns="0" rtlCol="0" anchor="t"/>
          <a:lstStyle/>
          <a:p>
            <a:pPr indent="0" marL="0">
              <a:buNone/>
            </a:pPr>
            <a:r>
              <a:rPr lang="en-US" sz="1400" dirty="0">
                <a:solidFill>
                  <a:schemeClr val="tx1"/>
                </a:solidFill>
              </a:rPr>
              <a:t>The Ideas tab lists pieces nobody has designed yet, as proposed, each with an open GitHub issue.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Pick one, or bring your own.</a:t>
            </a:r>
            <a:endParaRPr lang="en-US" sz="1400" dirty="0"/>
          </a:p>
          <a:p>
            <a:pPr indent="0" marL="0">
              <a:buNone/>
            </a:pPr>
            <a:r>
              <a:rPr lang="en-US" sz="1400" dirty="0">
                <a:solidFill>
                  <a:schemeClr val="tx1"/>
                </a:solidFill>
              </a:rPr>
              <a:t> </a:t>
            </a:r>
            <a:endParaRPr lang="en-US" sz="1400" dirty="0"/>
          </a:p>
          <a:p>
            <a:pPr indent="0" marL="0">
              <a:buNone/>
            </a:pPr>
            <a:r>
              <a:rPr lang="en-US" sz="1400" dirty="0">
                <a:solidFill>
                  <a:schemeClr val="accent2"/>
                </a:solidFill>
              </a:rPr>
              <a:t>Claude reads the issue and its pictures, and offers to comment "I'm designing this" so nobody duplicates the work.</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One question at a time</a:t>
            </a:r>
            <a:endParaRPr lang="en-US" sz="2400" dirty="0"/>
          </a:p>
        </p:txBody>
      </p:sp>
      <p:sp>
        <p:nvSpPr>
          <p:cNvPr id="3" name="Simulation tag"/>
          <p:cNvSpPr txBox="1"/>
          <p:nvPr/>
        </p:nvSpPr>
        <p:spPr>
          <a:xfrm>
            <a:off x="6949440" y="45720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interview" descr="small/sim-interview.jpg">    </p:cNvPr>
          <p:cNvPicPr>
            <a:picLocks noChangeAspect="1"/>
          </p:cNvPicPr>
          <p:nvPr/>
        </p:nvPicPr>
        <p:blipFill>
          <a:blip r:embed="rId1"/>
          <a:stretch>
            <a:fillRect/>
          </a:stretch>
        </p:blipFill>
        <p:spPr>
          <a:xfrm>
            <a:off x="457200" y="1097280"/>
            <a:ext cx="4816810" cy="237744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126480" y="114300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6510528" y="1106424"/>
            <a:ext cx="960120" cy="777240"/>
          </a:xfrm>
          <a:prstGeom prst="rect">
            <a:avLst/>
          </a:prstGeom>
          <a:noFill/>
          <a:ln/>
        </p:spPr>
        <p:txBody>
          <a:bodyPr wrap="square" lIns="0" tIns="0" rIns="0" bIns="0" rtlCol="0" anchor="t"/>
          <a:lstStyle/>
          <a:p>
            <a:pPr indent="0" marL="0">
              <a:buNone/>
            </a:pPr>
            <a:r>
              <a:rPr lang="en-US" sz="1200" dirty="0">
                <a:solidFill>
                  <a:schemeClr val="tx1"/>
                </a:solidFill>
              </a:rPr>
              <a:t>What is it?</a:t>
            </a:r>
            <a:endParaRPr lang="en-US" sz="1200" dirty="0"/>
          </a:p>
        </p:txBody>
      </p:sp>
      <p:sp>
        <p:nvSpPr>
          <p:cNvPr id="7" name="Text 4"/>
          <p:cNvSpPr txBox="1"/>
          <p:nvPr/>
        </p:nvSpPr>
        <p:spPr>
          <a:xfrm>
            <a:off x="7498080" y="114300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5"/>
          <p:cNvSpPr txBox="1"/>
          <p:nvPr/>
        </p:nvSpPr>
        <p:spPr>
          <a:xfrm>
            <a:off x="7882128" y="1106424"/>
            <a:ext cx="960120" cy="777240"/>
          </a:xfrm>
          <a:prstGeom prst="rect">
            <a:avLst/>
          </a:prstGeom>
          <a:noFill/>
          <a:ln/>
        </p:spPr>
        <p:txBody>
          <a:bodyPr wrap="square" lIns="0" tIns="0" rIns="0" bIns="0" rtlCol="0" anchor="t"/>
          <a:lstStyle/>
          <a:p>
            <a:pPr indent="0" marL="0">
              <a:buNone/>
            </a:pPr>
            <a:r>
              <a:rPr lang="en-US" sz="1200" dirty="0">
                <a:solidFill>
                  <a:schemeClr val="tx1"/>
                </a:solidFill>
              </a:rPr>
              <a:t>Pictures</a:t>
            </a:r>
            <a:endParaRPr lang="en-US" sz="1200" dirty="0"/>
          </a:p>
        </p:txBody>
      </p:sp>
      <p:sp>
        <p:nvSpPr>
          <p:cNvPr id="9" name="Text 6"/>
          <p:cNvSpPr txBox="1"/>
          <p:nvPr/>
        </p:nvSpPr>
        <p:spPr>
          <a:xfrm>
            <a:off x="6126480" y="201168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0" name="Text 7"/>
          <p:cNvSpPr txBox="1"/>
          <p:nvPr/>
        </p:nvSpPr>
        <p:spPr>
          <a:xfrm>
            <a:off x="6510528" y="1975104"/>
            <a:ext cx="960120" cy="777240"/>
          </a:xfrm>
          <a:prstGeom prst="rect">
            <a:avLst/>
          </a:prstGeom>
          <a:noFill/>
          <a:ln/>
        </p:spPr>
        <p:txBody>
          <a:bodyPr wrap="square" lIns="0" tIns="0" rIns="0" bIns="0" rtlCol="0" anchor="t"/>
          <a:lstStyle/>
          <a:p>
            <a:pPr indent="0" marL="0">
              <a:buNone/>
            </a:pPr>
            <a:r>
              <a:rPr lang="en-US" sz="1200" dirty="0">
                <a:solidFill>
                  <a:schemeClr val="tx1"/>
                </a:solidFill>
              </a:rPr>
              <a:t>Parts, with real listings</a:t>
            </a:r>
            <a:endParaRPr lang="en-US" sz="1200" dirty="0"/>
          </a:p>
        </p:txBody>
      </p:sp>
      <p:sp>
        <p:nvSpPr>
          <p:cNvPr id="11" name="Text 8"/>
          <p:cNvSpPr txBox="1"/>
          <p:nvPr/>
        </p:nvSpPr>
        <p:spPr>
          <a:xfrm>
            <a:off x="7498080" y="201168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2" name="Text 9"/>
          <p:cNvSpPr txBox="1"/>
          <p:nvPr/>
        </p:nvSpPr>
        <p:spPr>
          <a:xfrm>
            <a:off x="7882128" y="1975104"/>
            <a:ext cx="960120" cy="777240"/>
          </a:xfrm>
          <a:prstGeom prst="rect">
            <a:avLst/>
          </a:prstGeom>
          <a:noFill/>
          <a:ln/>
        </p:spPr>
        <p:txBody>
          <a:bodyPr wrap="square" lIns="0" tIns="0" rIns="0" bIns="0" rtlCol="0" anchor="t"/>
          <a:lstStyle/>
          <a:p>
            <a:pPr indent="0" marL="0">
              <a:buNone/>
            </a:pPr>
            <a:r>
              <a:rPr lang="en-US" sz="1200" dirty="0">
                <a:solidFill>
                  <a:schemeClr val="tx1"/>
                </a:solidFill>
              </a:rPr>
              <a:t>How it goes together</a:t>
            </a:r>
            <a:endParaRPr lang="en-US" sz="1200" dirty="0"/>
          </a:p>
        </p:txBody>
      </p:sp>
      <p:sp>
        <p:nvSpPr>
          <p:cNvPr id="13" name="Text 10"/>
          <p:cNvSpPr txBox="1"/>
          <p:nvPr/>
        </p:nvSpPr>
        <p:spPr>
          <a:xfrm>
            <a:off x="6126480" y="288036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4" name="Text 11"/>
          <p:cNvSpPr txBox="1"/>
          <p:nvPr/>
        </p:nvSpPr>
        <p:spPr>
          <a:xfrm>
            <a:off x="6510528" y="2843784"/>
            <a:ext cx="960120" cy="777240"/>
          </a:xfrm>
          <a:prstGeom prst="rect">
            <a:avLst/>
          </a:prstGeom>
          <a:noFill/>
          <a:ln/>
        </p:spPr>
        <p:txBody>
          <a:bodyPr wrap="square" lIns="0" tIns="0" rIns="0" bIns="0" rtlCol="0" anchor="t"/>
          <a:lstStyle/>
          <a:p>
            <a:pPr indent="0" marL="0">
              <a:buNone/>
            </a:pPr>
            <a:r>
              <a:rPr lang="en-US" sz="1200" dirty="0">
                <a:solidFill>
                  <a:schemeClr val="tx1"/>
                </a:solidFill>
              </a:rPr>
              <a:t>What people can change</a:t>
            </a:r>
            <a:endParaRPr lang="en-US" sz="1200" dirty="0"/>
          </a:p>
        </p:txBody>
      </p:sp>
      <p:sp>
        <p:nvSpPr>
          <p:cNvPr id="15" name="Text 12"/>
          <p:cNvSpPr txBox="1"/>
          <p:nvPr/>
        </p:nvSpPr>
        <p:spPr>
          <a:xfrm>
            <a:off x="7498080" y="288036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6" name="Text 13"/>
          <p:cNvSpPr txBox="1"/>
          <p:nvPr/>
        </p:nvSpPr>
        <p:spPr>
          <a:xfrm>
            <a:off x="7882128" y="2843784"/>
            <a:ext cx="960120" cy="777240"/>
          </a:xfrm>
          <a:prstGeom prst="rect">
            <a:avLst/>
          </a:prstGeom>
          <a:noFill/>
          <a:ln/>
        </p:spPr>
        <p:txBody>
          <a:bodyPr wrap="square" lIns="0" tIns="0" rIns="0" bIns="0" rtlCol="0" anchor="t"/>
          <a:lstStyle/>
          <a:p>
            <a:pPr indent="0" marL="0">
              <a:buNone/>
            </a:pPr>
            <a:r>
              <a:rPr lang="en-US" sz="1200" dirty="0">
                <a:solidFill>
                  <a:schemeClr val="tx1"/>
                </a:solidFill>
              </a:rPr>
              <a:t>Rules</a:t>
            </a:r>
            <a:endParaRPr lang="en-US" sz="1200" dirty="0"/>
          </a:p>
        </p:txBody>
      </p:sp>
      <p:sp>
        <p:nvSpPr>
          <p:cNvPr id="17" name="Text 14"/>
          <p:cNvSpPr txBox="1"/>
          <p:nvPr/>
        </p:nvSpPr>
        <p:spPr>
          <a:xfrm>
            <a:off x="6126480" y="374904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18" name="Text 15"/>
          <p:cNvSpPr txBox="1"/>
          <p:nvPr/>
        </p:nvSpPr>
        <p:spPr>
          <a:xfrm>
            <a:off x="6510528" y="3712464"/>
            <a:ext cx="960120" cy="777240"/>
          </a:xfrm>
          <a:prstGeom prst="rect">
            <a:avLst/>
          </a:prstGeom>
          <a:noFill/>
          <a:ln/>
        </p:spPr>
        <p:txBody>
          <a:bodyPr wrap="square" lIns="0" tIns="0" rIns="0" bIns="0" rtlCol="0" anchor="t"/>
          <a:lstStyle/>
          <a:p>
            <a:pPr indent="0" marL="0">
              <a:buNone/>
            </a:pPr>
            <a:r>
              <a:rPr lang="en-US" sz="1200" dirty="0">
                <a:solidFill>
                  <a:schemeClr val="tx1"/>
                </a:solidFill>
              </a:rPr>
              <a:t>What can go wrong</a:t>
            </a:r>
            <a:endParaRPr lang="en-US" sz="1200" dirty="0"/>
          </a:p>
        </p:txBody>
      </p:sp>
      <p:sp>
        <p:nvSpPr>
          <p:cNvPr id="19" name="Text 16"/>
          <p:cNvSpPr txBox="1"/>
          <p:nvPr/>
        </p:nvSpPr>
        <p:spPr>
          <a:xfrm>
            <a:off x="7498080" y="374904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20" name="Text 17"/>
          <p:cNvSpPr txBox="1"/>
          <p:nvPr/>
        </p:nvSpPr>
        <p:spPr>
          <a:xfrm>
            <a:off x="7882128" y="3712464"/>
            <a:ext cx="960120" cy="777240"/>
          </a:xfrm>
          <a:prstGeom prst="rect">
            <a:avLst/>
          </a:prstGeom>
          <a:noFill/>
          <a:ln/>
        </p:spPr>
        <p:txBody>
          <a:bodyPr wrap="square" lIns="0" tIns="0" rIns="0" bIns="0" rtlCol="0" anchor="t"/>
          <a:lstStyle/>
          <a:p>
            <a:pPr indent="0" marL="0">
              <a:buNone/>
            </a:pPr>
            <a:r>
              <a:rPr lang="en-US" sz="1200" dirty="0">
                <a:solidFill>
                  <a:schemeClr val="tx1"/>
                </a:solidFill>
              </a:rPr>
              <a:t>How it looks in 3D</a:t>
            </a:r>
            <a:endParaRPr lang="en-US" sz="1200" dirty="0"/>
          </a:p>
        </p:txBody>
      </p:sp>
      <p:sp>
        <p:nvSpPr>
          <p:cNvPr id="21" name="Shape 18"/>
          <p:cNvSpPr/>
          <p:nvPr/>
        </p:nvSpPr>
        <p:spPr>
          <a:xfrm>
            <a:off x="457200" y="3749040"/>
            <a:ext cx="5394960" cy="868680"/>
          </a:xfrm>
          <a:prstGeom prst="roundRect">
            <a:avLst>
              <a:gd name="adj" fmla="val 8421"/>
            </a:avLst>
          </a:prstGeom>
          <a:solidFill>
            <a:schemeClr val="bg2"/>
          </a:solidFill>
          <a:ln w="12700">
            <a:solidFill>
              <a:schemeClr val="bg2"/>
            </a:solidFill>
            <a:prstDash val="solid"/>
          </a:ln>
        </p:spPr>
      </p:sp>
      <p:sp>
        <p:nvSpPr>
          <p:cNvPr id="22" name="Text 19"/>
          <p:cNvSpPr txBox="1"/>
          <p:nvPr/>
        </p:nvSpPr>
        <p:spPr>
          <a:xfrm>
            <a:off x="685800" y="3886200"/>
            <a:ext cx="4937760" cy="640080"/>
          </a:xfrm>
          <a:prstGeom prst="rect">
            <a:avLst/>
          </a:prstGeom>
          <a:noFill/>
          <a:ln/>
        </p:spPr>
        <p:txBody>
          <a:bodyPr wrap="square" lIns="0" tIns="0" rIns="0" bIns="0" rtlCol="0" anchor="t"/>
          <a:lstStyle/>
          <a:p>
            <a:pPr indent="0" marL="0">
              <a:buNone/>
            </a:pPr>
            <a:r>
              <a:rPr lang="en-US" sz="1400" b="1" dirty="0">
                <a:solidFill>
                  <a:schemeClr val="tx1"/>
                </a:solidFill>
              </a:rPr>
              <a:t>Unknown means unknown. </a:t>
            </a:r>
            <a:pPr indent="0" marL="0">
              <a:buNone/>
            </a:pPr>
            <a:r>
              <a:rPr lang="en-US" sz="1400" dirty="0">
                <a:solidFill>
                  <a:schemeClr val="tx1"/>
                </a:solidFill>
              </a:rPr>
              <a:t>Any size not on a listing goes on a "to measure" list instead of a guess.</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The brief is the plan</a:t>
            </a:r>
            <a:endParaRPr lang="en-US" sz="2400" dirty="0"/>
          </a:p>
        </p:txBody>
      </p:sp>
      <p:sp>
        <p:nvSpPr>
          <p:cNvPr id="3" name="Simulation tag"/>
          <p:cNvSpPr txBox="1"/>
          <p:nvPr/>
        </p:nvSpPr>
        <p:spPr>
          <a:xfrm>
            <a:off x="6949440" y="45720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design brief" descr="small/sim-brief.jpg">    </p:cNvPr>
          <p:cNvPicPr>
            <a:picLocks noChangeAspect="1"/>
          </p:cNvPicPr>
          <p:nvPr/>
        </p:nvPicPr>
        <p:blipFill>
          <a:blip r:embed="rId1"/>
          <a:stretch>
            <a:fillRect/>
          </a:stretch>
        </p:blipFill>
        <p:spPr>
          <a:xfrm>
            <a:off x="457200" y="1051560"/>
            <a:ext cx="4397071" cy="361188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5486400" y="1188720"/>
            <a:ext cx="3291840" cy="3383280"/>
          </a:xfrm>
          <a:prstGeom prst="rect">
            <a:avLst/>
          </a:prstGeom>
          <a:noFill/>
          <a:ln/>
        </p:spPr>
        <p:txBody>
          <a:bodyPr wrap="square" lIns="0" tIns="0" rIns="0" bIns="0" rtlCol="0" anchor="t"/>
          <a:lstStyle/>
          <a:p>
            <a:pPr indent="0" marL="0">
              <a:buNone/>
            </a:pPr>
            <a:r>
              <a:rPr lang="en-US" sz="1400" b="1" dirty="0">
                <a:solidFill>
                  <a:schemeClr val="tx1"/>
                </a:solidFill>
              </a:rPr>
              <a:t>Saved in the project</a:t>
            </a:r>
            <a:endParaRPr lang="en-US" sz="1400" dirty="0"/>
          </a:p>
          <a:p>
            <a:pPr indent="0" marL="0">
              <a:buNone/>
            </a:pPr>
            <a:r>
              <a:rPr lang="en-US" sz="1400" dirty="0">
                <a:solidFill>
                  <a:schemeClr val="accent2"/>
                </a:solidFill>
                <a:latin typeface="Courier New" pitchFamily="34" charset="0"/>
                <a:ea typeface="Courier New" pitchFamily="34" charset="-122"/>
                <a:cs typeface="Courier New" pitchFamily="34" charset="-120"/>
              </a:rPr>
              <a:t>docs/designs/&lt;piece&gt;.md</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You approve it first</a:t>
            </a:r>
            <a:endParaRPr lang="en-US" sz="1400" dirty="0"/>
          </a:p>
          <a:p>
            <a:pPr indent="0" marL="0">
              <a:buNone/>
            </a:pPr>
            <a:r>
              <a:rPr lang="en-US" sz="1400" dirty="0">
                <a:solidFill>
                  <a:schemeClr val="accent2"/>
                </a:solidFill>
              </a:rPr>
              <a:t>Nothing is built until you say it's right.</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The owner reviews it first</a:t>
            </a:r>
            <a:endParaRPr lang="en-US" sz="1400" dirty="0"/>
          </a:p>
          <a:p>
            <a:pPr indent="0" marL="0">
              <a:buNone/>
            </a:pPr>
            <a:r>
              <a:rPr lang="en-US" sz="1400" dirty="0">
                <a:solidFill>
                  <a:schemeClr val="accent2"/>
                </a:solidFill>
              </a:rPr>
              <a:t>Parts, settings, rules, warnings, assembly and unknowns, all in one page.</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Build in rounds, check each one</a:t>
            </a:r>
            <a:endParaRPr lang="en-US" sz="2400" dirty="0"/>
          </a:p>
        </p:txBody>
      </p:sp>
      <p:sp>
        <p:nvSpPr>
          <p:cNvPr id="3" name="Shape 1"/>
          <p:cNvSpPr/>
          <p:nvPr/>
        </p:nvSpPr>
        <p:spPr>
          <a:xfrm>
            <a:off x="457200" y="1051560"/>
            <a:ext cx="1554480" cy="685800"/>
          </a:xfrm>
          <a:prstGeom prst="roundRect">
            <a:avLst>
              <a:gd name="adj" fmla="val 10667"/>
            </a:avLst>
          </a:prstGeom>
          <a:solidFill>
            <a:schemeClr val="bg2"/>
          </a:solidFill>
          <a:ln w="12700">
            <a:solidFill>
              <a:schemeClr val="bg2"/>
            </a:solidFill>
            <a:prstDash val="solid"/>
          </a:ln>
        </p:spPr>
      </p:sp>
      <p:sp>
        <p:nvSpPr>
          <p:cNvPr id="4" name="Text 2"/>
          <p:cNvSpPr txBox="1"/>
          <p:nvPr/>
        </p:nvSpPr>
        <p:spPr>
          <a:xfrm>
            <a:off x="457200" y="1051560"/>
            <a:ext cx="1554480" cy="685800"/>
          </a:xfrm>
          <a:prstGeom prst="rect">
            <a:avLst/>
          </a:prstGeom>
          <a:noFill/>
          <a:ln/>
        </p:spPr>
        <p:txBody>
          <a:bodyPr wrap="square" lIns="0" tIns="0" rIns="0" bIns="0" rtlCol="0" anchor="ctr"/>
          <a:lstStyle/>
          <a:p>
            <a:pPr algn="ctr" indent="0" marL="0">
              <a:buNone/>
            </a:pPr>
            <a:r>
              <a:rPr lang="en-US" sz="1400" b="1" dirty="0">
                <a:solidFill>
                  <a:schemeClr val="tx1"/>
                </a:solidFill>
              </a:rPr>
              <a:t>Parts list</a:t>
            </a:r>
            <a:endParaRPr lang="en-US" sz="1400" dirty="0"/>
          </a:p>
        </p:txBody>
      </p:sp>
      <p:sp>
        <p:nvSpPr>
          <p:cNvPr id="5" name="Shape 3"/>
          <p:cNvSpPr/>
          <p:nvPr/>
        </p:nvSpPr>
        <p:spPr>
          <a:xfrm>
            <a:off x="2139696" y="1051560"/>
            <a:ext cx="1554480" cy="685800"/>
          </a:xfrm>
          <a:prstGeom prst="roundRect">
            <a:avLst>
              <a:gd name="adj" fmla="val 10667"/>
            </a:avLst>
          </a:prstGeom>
          <a:solidFill>
            <a:schemeClr val="bg2"/>
          </a:solidFill>
          <a:ln w="12700">
            <a:solidFill>
              <a:schemeClr val="bg2"/>
            </a:solidFill>
            <a:prstDash val="solid"/>
          </a:ln>
        </p:spPr>
      </p:sp>
      <p:sp>
        <p:nvSpPr>
          <p:cNvPr id="6" name="Text 4"/>
          <p:cNvSpPr txBox="1"/>
          <p:nvPr/>
        </p:nvSpPr>
        <p:spPr>
          <a:xfrm>
            <a:off x="2139696" y="1051560"/>
            <a:ext cx="1554480" cy="685800"/>
          </a:xfrm>
          <a:prstGeom prst="rect">
            <a:avLst/>
          </a:prstGeom>
          <a:noFill/>
          <a:ln/>
        </p:spPr>
        <p:txBody>
          <a:bodyPr wrap="square" lIns="0" tIns="0" rIns="0" bIns="0" rtlCol="0" anchor="ctr"/>
          <a:lstStyle/>
          <a:p>
            <a:pPr algn="ctr" indent="0" marL="0">
              <a:buNone/>
            </a:pPr>
            <a:r>
              <a:rPr lang="en-US" sz="1400" b="1" dirty="0">
                <a:solidFill>
                  <a:schemeClr val="tx1"/>
                </a:solidFill>
              </a:rPr>
              <a:t>Tab and settings</a:t>
            </a:r>
            <a:endParaRPr lang="en-US" sz="1400" dirty="0"/>
          </a:p>
        </p:txBody>
      </p:sp>
      <p:sp>
        <p:nvSpPr>
          <p:cNvPr id="7" name="Shape 5"/>
          <p:cNvSpPr/>
          <p:nvPr/>
        </p:nvSpPr>
        <p:spPr>
          <a:xfrm>
            <a:off x="3822192" y="1051560"/>
            <a:ext cx="1554480" cy="685800"/>
          </a:xfrm>
          <a:prstGeom prst="roundRect">
            <a:avLst>
              <a:gd name="adj" fmla="val 10667"/>
            </a:avLst>
          </a:prstGeom>
          <a:solidFill>
            <a:schemeClr val="accent1"/>
          </a:solidFill>
          <a:ln w="12700">
            <a:solidFill>
              <a:schemeClr val="accent1"/>
            </a:solidFill>
            <a:prstDash val="solid"/>
          </a:ln>
        </p:spPr>
      </p:sp>
      <p:sp>
        <p:nvSpPr>
          <p:cNvPr id="8" name="Text 6"/>
          <p:cNvSpPr txBox="1"/>
          <p:nvPr/>
        </p:nvSpPr>
        <p:spPr>
          <a:xfrm>
            <a:off x="3822192" y="1051560"/>
            <a:ext cx="1554480" cy="685800"/>
          </a:xfrm>
          <a:prstGeom prst="rect">
            <a:avLst/>
          </a:prstGeom>
          <a:noFill/>
          <a:ln/>
        </p:spPr>
        <p:txBody>
          <a:bodyPr wrap="square" lIns="0" tIns="0" rIns="0" bIns="0" rtlCol="0" anchor="ctr"/>
          <a:lstStyle/>
          <a:p>
            <a:pPr algn="ctr" indent="0" marL="0">
              <a:buNone/>
            </a:pPr>
            <a:r>
              <a:rPr lang="en-US" sz="1400" b="1" dirty="0">
                <a:solidFill>
                  <a:schemeClr val="bg1"/>
                </a:solidFill>
              </a:rPr>
              <a:t>3D model</a:t>
            </a:r>
            <a:endParaRPr lang="en-US" sz="1400" dirty="0"/>
          </a:p>
        </p:txBody>
      </p:sp>
      <p:sp>
        <p:nvSpPr>
          <p:cNvPr id="9" name="Shape 7"/>
          <p:cNvSpPr/>
          <p:nvPr/>
        </p:nvSpPr>
        <p:spPr>
          <a:xfrm>
            <a:off x="5504688" y="1051560"/>
            <a:ext cx="1554480" cy="685800"/>
          </a:xfrm>
          <a:prstGeom prst="roundRect">
            <a:avLst>
              <a:gd name="adj" fmla="val 10667"/>
            </a:avLst>
          </a:prstGeom>
          <a:solidFill>
            <a:schemeClr val="bg2"/>
          </a:solidFill>
          <a:ln w="12700">
            <a:solidFill>
              <a:schemeClr val="bg2"/>
            </a:solidFill>
            <a:prstDash val="solid"/>
          </a:ln>
        </p:spPr>
      </p:sp>
      <p:sp>
        <p:nvSpPr>
          <p:cNvPr id="10" name="Text 8"/>
          <p:cNvSpPr txBox="1"/>
          <p:nvPr/>
        </p:nvSpPr>
        <p:spPr>
          <a:xfrm>
            <a:off x="5504688" y="1051560"/>
            <a:ext cx="1554480" cy="685800"/>
          </a:xfrm>
          <a:prstGeom prst="rect">
            <a:avLst/>
          </a:prstGeom>
          <a:noFill/>
          <a:ln/>
        </p:spPr>
        <p:txBody>
          <a:bodyPr wrap="square" lIns="0" tIns="0" rIns="0" bIns="0" rtlCol="0" anchor="ctr"/>
          <a:lstStyle/>
          <a:p>
            <a:pPr algn="ctr" indent="0" marL="0">
              <a:buNone/>
            </a:pPr>
            <a:r>
              <a:rPr lang="en-US" sz="1400" b="1" dirty="0">
                <a:solidFill>
                  <a:schemeClr val="tx1"/>
                </a:solidFill>
              </a:rPr>
              <a:t>Part info</a:t>
            </a:r>
            <a:endParaRPr lang="en-US" sz="1400" dirty="0"/>
          </a:p>
        </p:txBody>
      </p:sp>
      <p:sp>
        <p:nvSpPr>
          <p:cNvPr id="11" name="Shape 9"/>
          <p:cNvSpPr/>
          <p:nvPr/>
        </p:nvSpPr>
        <p:spPr>
          <a:xfrm>
            <a:off x="7187184" y="1051560"/>
            <a:ext cx="1554480" cy="685800"/>
          </a:xfrm>
          <a:prstGeom prst="roundRect">
            <a:avLst>
              <a:gd name="adj" fmla="val 10667"/>
            </a:avLst>
          </a:prstGeom>
          <a:solidFill>
            <a:schemeClr val="bg2"/>
          </a:solidFill>
          <a:ln w="12700">
            <a:solidFill>
              <a:schemeClr val="bg2"/>
            </a:solidFill>
            <a:prstDash val="solid"/>
          </a:ln>
        </p:spPr>
      </p:sp>
      <p:sp>
        <p:nvSpPr>
          <p:cNvPr id="12" name="Text 10"/>
          <p:cNvSpPr txBox="1"/>
          <p:nvPr/>
        </p:nvSpPr>
        <p:spPr>
          <a:xfrm>
            <a:off x="7187184" y="1051560"/>
            <a:ext cx="1554480" cy="685800"/>
          </a:xfrm>
          <a:prstGeom prst="rect">
            <a:avLst/>
          </a:prstGeom>
          <a:noFill/>
          <a:ln/>
        </p:spPr>
        <p:txBody>
          <a:bodyPr wrap="square" lIns="0" tIns="0" rIns="0" bIns="0" rtlCol="0" anchor="ctr"/>
          <a:lstStyle/>
          <a:p>
            <a:pPr algn="ctr" indent="0" marL="0">
              <a:buNone/>
            </a:pPr>
            <a:r>
              <a:rPr lang="en-US" sz="1400" b="1" dirty="0">
                <a:solidFill>
                  <a:schemeClr val="tx1"/>
                </a:solidFill>
              </a:rPr>
              <a:t>PDF guide</a:t>
            </a:r>
            <a:endParaRPr lang="en-US" sz="1400" dirty="0"/>
          </a:p>
        </p:txBody>
      </p:sp>
      <p:sp>
        <p:nvSpPr>
          <p:cNvPr id="13" name="Simulation tag"/>
          <p:cNvSpPr txBox="1"/>
          <p:nvPr/>
        </p:nvSpPr>
        <p:spPr>
          <a:xfrm>
            <a:off x="457200" y="196596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14" name="Simulated build round" descr="small/sim-round.jpg">    </p:cNvPr>
          <p:cNvPicPr>
            <a:picLocks noChangeAspect="1"/>
          </p:cNvPicPr>
          <p:nvPr/>
        </p:nvPicPr>
        <p:blipFill>
          <a:blip r:embed="rId1"/>
          <a:stretch>
            <a:fillRect/>
          </a:stretch>
        </p:blipFill>
        <p:spPr>
          <a:xfrm>
            <a:off x="457200" y="2286000"/>
            <a:ext cx="4241021" cy="2468880"/>
          </a:xfrm>
          <a:prstGeom prst="rect">
            <a:avLst/>
          </a:prstGeom>
          <a:effectLst>
            <a:outerShdw sx="100000" sy="100000" kx="0" ky="0" algn="bl" rotWithShape="0" blurRad="76200" dist="25400" dir="5400000">
              <a:srgbClr val="000000">
                <a:alpha val="18000"/>
              </a:srgbClr>
            </a:outerShdw>
          </a:effectLst>
        </p:spPr>
      </p:pic>
      <p:sp>
        <p:nvSpPr>
          <p:cNvPr id="15" name="Text 12"/>
          <p:cNvSpPr txBox="1"/>
          <p:nvPr/>
        </p:nvSpPr>
        <p:spPr>
          <a:xfrm>
            <a:off x="6400800" y="2331720"/>
            <a:ext cx="2377440" cy="2377440"/>
          </a:xfrm>
          <a:prstGeom prst="rect">
            <a:avLst/>
          </a:prstGeom>
          <a:noFill/>
          <a:ln/>
        </p:spPr>
        <p:txBody>
          <a:bodyPr wrap="square" lIns="0" tIns="0" rIns="0" bIns="0" rtlCol="0" anchor="t"/>
          <a:lstStyle/>
          <a:p>
            <a:pPr indent="0" marL="0">
              <a:buNone/>
            </a:pPr>
            <a:r>
              <a:rPr lang="en-US" sz="1400" b="1" dirty="0">
                <a:solidFill>
                  <a:schemeClr val="tx1"/>
                </a:solidFill>
              </a:rPr>
              <a:t>Every round</a:t>
            </a:r>
            <a:endParaRPr lang="en-US" sz="1400" dirty="0"/>
          </a:p>
          <a:p>
            <a:pPr indent="0" marL="0">
              <a:buNone/>
            </a:pPr>
            <a:r>
              <a:rPr lang="en-US" sz="1400" dirty="0">
                <a:solidFill>
                  <a:schemeClr val="accent2"/>
                </a:solidFill>
              </a:rPr>
              <a:t>builds, tests, shows you a screenshot, asks "does this look right?", then saves a version.</a:t>
            </a:r>
            <a:endParaRPr lang="en-US" sz="1400" dirty="0"/>
          </a:p>
          <a:p>
            <a:pPr indent="0" marL="0">
              <a:buNone/>
            </a:pPr>
            <a:r>
              <a:rPr lang="en-US" sz="1400" dirty="0">
                <a:solidFill>
                  <a:schemeClr val="tx1"/>
                </a:solidFill>
              </a:rPr>
              <a:t> </a:t>
            </a:r>
            <a:endParaRPr lang="en-US" sz="1400" dirty="0"/>
          </a:p>
          <a:p>
            <a:pPr indent="0" marL="0">
              <a:buNone/>
            </a:pPr>
            <a:r>
              <a:rPr lang="en-US" sz="1400" dirty="0">
                <a:solidFill>
                  <a:schemeClr val="tx1"/>
                </a:solidFill>
              </a:rPr>
              <a:t>The 3D model usually takes a few tries. That's expected.</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5: your own copy of the site</a:t>
            </a:r>
            <a:endParaRPr lang="en-US" sz="2400" dirty="0"/>
          </a:p>
        </p:txBody>
      </p:sp>
      <p:pic>
        <p:nvPicPr>
          <p:cNvPr id="3" name="Local site open in Chrome" descr="small/sim-browser.jpg">    </p:cNvPr>
          <p:cNvPicPr>
            <a:picLocks noChangeAspect="1"/>
          </p:cNvPicPr>
          <p:nvPr/>
        </p:nvPicPr>
        <p:blipFill>
          <a:blip r:embed="rId1"/>
          <a:stretch>
            <a:fillRect/>
          </a:stretch>
        </p:blipFill>
        <p:spPr>
          <a:xfrm>
            <a:off x="457200" y="1051560"/>
            <a:ext cx="5120640" cy="3386938"/>
          </a:xfrm>
          <a:prstGeom prst="rect">
            <a:avLst/>
          </a:prstGeom>
          <a:effectLst>
            <a:outerShdw sx="100000" sy="100000" kx="0" ky="0" algn="bl" rotWithShape="0" blurRad="76200" dist="25400" dir="5400000">
              <a:srgbClr val="000000">
                <a:alpha val="18000"/>
              </a:srgbClr>
            </a:outerShdw>
          </a:effectLst>
        </p:spPr>
      </p:pic>
      <p:sp>
        <p:nvSpPr>
          <p:cNvPr id="4" name="Shape 1"/>
          <p:cNvSpPr/>
          <p:nvPr/>
        </p:nvSpPr>
        <p:spPr>
          <a:xfrm>
            <a:off x="5852160" y="1051560"/>
            <a:ext cx="2834640" cy="1554480"/>
          </a:xfrm>
          <a:prstGeom prst="roundRect">
            <a:avLst>
              <a:gd name="adj" fmla="val 4706"/>
            </a:avLst>
          </a:prstGeom>
          <a:solidFill>
            <a:schemeClr val="bg2"/>
          </a:solidFill>
          <a:ln w="12700">
            <a:solidFill>
              <a:schemeClr val="bg2"/>
            </a:solidFill>
            <a:prstDash val="solid"/>
          </a:ln>
        </p:spPr>
      </p:sp>
      <p:sp>
        <p:nvSpPr>
          <p:cNvPr id="5" name="Text 2"/>
          <p:cNvSpPr txBox="1"/>
          <p:nvPr/>
        </p:nvSpPr>
        <p:spPr>
          <a:xfrm>
            <a:off x="6035040" y="1188720"/>
            <a:ext cx="2514600" cy="1371600"/>
          </a:xfrm>
          <a:prstGeom prst="rect">
            <a:avLst/>
          </a:prstGeom>
          <a:noFill/>
          <a:ln/>
        </p:spPr>
        <p:txBody>
          <a:bodyPr wrap="square" lIns="0" tIns="0" rIns="0" bIns="0" rtlCol="0" anchor="t"/>
          <a:lstStyle/>
          <a:p>
            <a:pPr indent="0" marL="0">
              <a:buNone/>
            </a:pPr>
            <a:r>
              <a:rPr lang="en-US" sz="1500" b="1" dirty="0">
                <a:solidFill>
                  <a:schemeClr val="tx1"/>
                </a:solidFill>
              </a:rPr>
              <a:t>The real site</a:t>
            </a:r>
            <a:endParaRPr lang="en-US" sz="1400" dirty="0"/>
          </a:p>
          <a:p>
            <a:pPr indent="0" marL="0">
              <a:buNone/>
            </a:pPr>
            <a:r>
              <a:rPr lang="en-US" sz="1200" dirty="0">
                <a:solidFill>
                  <a:schemeClr val="accent2"/>
                </a:solidFill>
                <a:latin typeface="Courier New" pitchFamily="34" charset="0"/>
                <a:ea typeface="Courier New" pitchFamily="34" charset="-122"/>
                <a:cs typeface="Courier New" pitchFamily="34" charset="-120"/>
              </a:rPr>
              <a:t>mfprado.github.io/…</a:t>
            </a:r>
            <a:endParaRPr lang="en-US" sz="1400" dirty="0"/>
          </a:p>
          <a:p>
            <a:pPr indent="0" marL="0">
              <a:buNone/>
            </a:pPr>
            <a:r>
              <a:rPr lang="en-US" sz="1300" dirty="0">
                <a:solidFill>
                  <a:schemeClr val="accent2"/>
                </a:solidFill>
              </a:rPr>
              <a:t>The shop window. Everyone sees it. It only changes after the owner approves.</a:t>
            </a:r>
            <a:endParaRPr lang="en-US" sz="1400" dirty="0"/>
          </a:p>
        </p:txBody>
      </p:sp>
      <p:sp>
        <p:nvSpPr>
          <p:cNvPr id="6" name="Shape 3"/>
          <p:cNvSpPr/>
          <p:nvPr/>
        </p:nvSpPr>
        <p:spPr>
          <a:xfrm>
            <a:off x="5852160" y="2788920"/>
            <a:ext cx="2834640" cy="1737360"/>
          </a:xfrm>
          <a:prstGeom prst="roundRect">
            <a:avLst>
              <a:gd name="adj" fmla="val 4211"/>
            </a:avLst>
          </a:prstGeom>
          <a:solidFill>
            <a:schemeClr val="tx2"/>
          </a:solidFill>
          <a:ln w="12700">
            <a:solidFill>
              <a:schemeClr val="tx2"/>
            </a:solidFill>
            <a:prstDash val="solid"/>
          </a:ln>
        </p:spPr>
      </p:sp>
      <p:sp>
        <p:nvSpPr>
          <p:cNvPr id="7" name="Text 4"/>
          <p:cNvSpPr txBox="1"/>
          <p:nvPr/>
        </p:nvSpPr>
        <p:spPr>
          <a:xfrm>
            <a:off x="6035040" y="2926080"/>
            <a:ext cx="2514600" cy="1554480"/>
          </a:xfrm>
          <a:prstGeom prst="rect">
            <a:avLst/>
          </a:prstGeom>
          <a:noFill/>
          <a:ln/>
        </p:spPr>
        <p:txBody>
          <a:bodyPr wrap="square" lIns="0" tIns="0" rIns="0" bIns="0" rtlCol="0" anchor="t"/>
          <a:lstStyle/>
          <a:p>
            <a:pPr indent="0" marL="0">
              <a:buNone/>
            </a:pPr>
            <a:r>
              <a:rPr lang="en-US" sz="1500" b="1" dirty="0">
                <a:solidFill>
                  <a:schemeClr val="bg1"/>
                </a:solidFill>
              </a:rPr>
              <a:t>Your local copy</a:t>
            </a:r>
            <a:endParaRPr lang="en-US" sz="1400" dirty="0"/>
          </a:p>
          <a:p>
            <a:pPr indent="0" marL="0">
              <a:buNone/>
            </a:pPr>
            <a:r>
              <a:rPr lang="en-US" sz="1200" dirty="0">
                <a:solidFill>
                  <a:schemeClr val="accent4"/>
                </a:solidFill>
                <a:latin typeface="Courier New" pitchFamily="34" charset="0"/>
                <a:ea typeface="Courier New" pitchFamily="34" charset="-122"/>
                <a:cs typeface="Courier New" pitchFamily="34" charset="-120"/>
              </a:rPr>
              <a:t>localhost:8000</a:t>
            </a:r>
            <a:endParaRPr lang="en-US" sz="1400" dirty="0"/>
          </a:p>
          <a:p>
            <a:pPr indent="0" marL="0">
              <a:buNone/>
            </a:pPr>
            <a:r>
              <a:rPr lang="en-US" sz="1300" dirty="0">
                <a:solidFill>
                  <a:schemeClr val="bg1"/>
                </a:solidFill>
              </a:rPr>
              <a:t>The prototype on your workbench. Only on your computer, only you see it, and it shows your changes straight away.</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Open it in Chrome, in three moves</a:t>
            </a:r>
            <a:endParaRPr lang="en-US" sz="2400" dirty="0"/>
          </a:p>
        </p:txBody>
      </p:sp>
      <p:sp>
        <p:nvSpPr>
          <p:cNvPr id="3" name="Shape 1"/>
          <p:cNvSpPr/>
          <p:nvPr/>
        </p:nvSpPr>
        <p:spPr>
          <a:xfrm>
            <a:off x="457200" y="1097280"/>
            <a:ext cx="26060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85800"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685800"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Ask Claude to start it</a:t>
            </a:r>
            <a:endParaRPr lang="en-US" sz="1400" dirty="0"/>
          </a:p>
          <a:p>
            <a:pPr indent="0" marL="0">
              <a:buNone/>
            </a:pPr>
            <a:r>
              <a:rPr lang="en-US" sz="1300" dirty="0">
                <a:solidFill>
                  <a:schemeClr val="accent2"/>
                </a:solidFill>
              </a:rPr>
              <a:t>Claude does this for you at the start. Keep the chat open: closing it switches the copy off.</a:t>
            </a:r>
            <a:endParaRPr lang="en-US" sz="1400" dirty="0"/>
          </a:p>
        </p:txBody>
      </p:sp>
      <p:sp>
        <p:nvSpPr>
          <p:cNvPr id="6" name="Shape 4"/>
          <p:cNvSpPr/>
          <p:nvPr/>
        </p:nvSpPr>
        <p:spPr>
          <a:xfrm>
            <a:off x="3264408" y="1097280"/>
            <a:ext cx="2606040" cy="237744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3493008"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3493008"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Type localhost:8000</a:t>
            </a:r>
            <a:endParaRPr lang="en-US" sz="1400" dirty="0"/>
          </a:p>
          <a:p>
            <a:pPr indent="0" marL="0">
              <a:buNone/>
            </a:pPr>
            <a:r>
              <a:rPr lang="en-US" sz="1300" dirty="0">
                <a:solidFill>
                  <a:schemeClr val="accent2"/>
                </a:solidFill>
              </a:rPr>
              <a:t>Open Chrome, click the address bar at the top, type localhost:8000 and press Enter.</a:t>
            </a:r>
            <a:endParaRPr lang="en-US" sz="1400" dirty="0"/>
          </a:p>
        </p:txBody>
      </p:sp>
      <p:sp>
        <p:nvSpPr>
          <p:cNvPr id="9" name="Shape 7"/>
          <p:cNvSpPr/>
          <p:nvPr/>
        </p:nvSpPr>
        <p:spPr>
          <a:xfrm>
            <a:off x="6071616" y="1097280"/>
            <a:ext cx="260604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6300216"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6300216"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Refresh after each change</a:t>
            </a:r>
            <a:endParaRPr lang="en-US" sz="1400" dirty="0"/>
          </a:p>
          <a:p>
            <a:pPr indent="0" marL="0">
              <a:buNone/>
            </a:pPr>
            <a:r>
              <a:rPr lang="en-US" sz="1300" dirty="0">
                <a:solidFill>
                  <a:schemeClr val="accent2"/>
                </a:solidFill>
              </a:rPr>
              <a:t>Press Cmd+R on a Mac or Ctrl+R on Windows to see what Claude just changed.</a:t>
            </a:r>
            <a:endParaRPr lang="en-US" sz="1400" dirty="0"/>
          </a:p>
        </p:txBody>
      </p:sp>
      <p:sp>
        <p:nvSpPr>
          <p:cNvPr id="12" name="Shape 10"/>
          <p:cNvSpPr/>
          <p:nvPr/>
        </p:nvSpPr>
        <p:spPr>
          <a:xfrm>
            <a:off x="457200" y="3703320"/>
            <a:ext cx="8229600" cy="868680"/>
          </a:xfrm>
          <a:prstGeom prst="roundRect">
            <a:avLst>
              <a:gd name="adj" fmla="val 8421"/>
            </a:avLst>
          </a:prstGeom>
          <a:solidFill>
            <a:schemeClr val="tx2"/>
          </a:solidFill>
          <a:ln w="12700">
            <a:solidFill>
              <a:schemeClr val="tx2"/>
            </a:solidFill>
            <a:prstDash val="solid"/>
          </a:ln>
        </p:spPr>
      </p:sp>
      <p:sp>
        <p:nvSpPr>
          <p:cNvPr id="13" name="Text 11"/>
          <p:cNvSpPr txBox="1"/>
          <p:nvPr/>
        </p:nvSpPr>
        <p:spPr>
          <a:xfrm>
            <a:off x="685800" y="3840480"/>
            <a:ext cx="7772400" cy="594360"/>
          </a:xfrm>
          <a:prstGeom prst="rect">
            <a:avLst/>
          </a:prstGeom>
          <a:noFill/>
          <a:ln/>
        </p:spPr>
        <p:txBody>
          <a:bodyPr wrap="square" lIns="0" tIns="0" rIns="0" bIns="0" rtlCol="0" anchor="ctr"/>
          <a:lstStyle/>
          <a:p>
            <a:pPr indent="0" marL="0">
              <a:buNone/>
            </a:pPr>
            <a:r>
              <a:rPr lang="en-US" sz="1400" b="1" dirty="0">
                <a:solidFill>
                  <a:schemeClr val="bg1"/>
                </a:solidFill>
              </a:rPr>
              <a:t>"This site can't be reached"? </a:t>
            </a:r>
            <a:pPr indent="0" marL="0">
              <a:buNone/>
            </a:pPr>
            <a:r>
              <a:rPr lang="en-US" sz="1400" dirty="0">
                <a:solidFill>
                  <a:schemeClr val="bg1"/>
                </a:solidFill>
              </a:rPr>
              <a:t>The copy is switched off. Nothing is broken: just ask Claude to start the site again.</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Try it like a visitor would</a:t>
            </a:r>
            <a:endParaRPr lang="en-US" sz="2400" dirty="0"/>
          </a:p>
        </p:txBody>
      </p:sp>
      <p:sp>
        <p:nvSpPr>
          <p:cNvPr id="3" name="Text 1"/>
          <p:cNvSpPr txBox="1"/>
          <p:nvPr/>
        </p:nvSpPr>
        <p:spPr>
          <a:xfrm>
            <a:off x="457200" y="109728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4" name="Text 2"/>
          <p:cNvSpPr txBox="1"/>
          <p:nvPr/>
        </p:nvSpPr>
        <p:spPr>
          <a:xfrm>
            <a:off x="777240" y="1115568"/>
            <a:ext cx="2194560" cy="411480"/>
          </a:xfrm>
          <a:prstGeom prst="rect">
            <a:avLst/>
          </a:prstGeom>
          <a:noFill/>
          <a:ln/>
        </p:spPr>
        <p:txBody>
          <a:bodyPr wrap="square" lIns="0" tIns="0" rIns="0" bIns="0" rtlCol="0" anchor="t"/>
          <a:lstStyle/>
          <a:p>
            <a:pPr indent="0" marL="0">
              <a:buNone/>
            </a:pPr>
            <a:r>
              <a:rPr lang="en-US" sz="1400" dirty="0">
                <a:solidFill>
                  <a:schemeClr val="tx1"/>
                </a:solidFill>
              </a:rPr>
              <a:t>Smallest and largest sizes</a:t>
            </a:r>
            <a:endParaRPr lang="en-US" sz="1400" dirty="0"/>
          </a:p>
        </p:txBody>
      </p:sp>
      <p:sp>
        <p:nvSpPr>
          <p:cNvPr id="5" name="Text 3"/>
          <p:cNvSpPr txBox="1"/>
          <p:nvPr/>
        </p:nvSpPr>
        <p:spPr>
          <a:xfrm>
            <a:off x="3017520" y="109728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6" name="Text 4"/>
          <p:cNvSpPr txBox="1"/>
          <p:nvPr/>
        </p:nvSpPr>
        <p:spPr>
          <a:xfrm>
            <a:off x="3337560" y="1115568"/>
            <a:ext cx="2194560" cy="411480"/>
          </a:xfrm>
          <a:prstGeom prst="rect">
            <a:avLst/>
          </a:prstGeom>
          <a:noFill/>
          <a:ln/>
        </p:spPr>
        <p:txBody>
          <a:bodyPr wrap="square" lIns="0" tIns="0" rIns="0" bIns="0" rtlCol="0" anchor="t"/>
          <a:lstStyle/>
          <a:p>
            <a:pPr indent="0" marL="0">
              <a:buNone/>
            </a:pPr>
            <a:r>
              <a:rPr lang="en-US" sz="1400" dirty="0">
                <a:solidFill>
                  <a:schemeClr val="tx1"/>
                </a:solidFill>
              </a:rPr>
              <a:t>Each option on and off</a:t>
            </a:r>
            <a:endParaRPr lang="en-US" sz="1400" dirty="0"/>
          </a:p>
        </p:txBody>
      </p:sp>
      <p:sp>
        <p:nvSpPr>
          <p:cNvPr id="7" name="Text 5"/>
          <p:cNvSpPr txBox="1"/>
          <p:nvPr/>
        </p:nvSpPr>
        <p:spPr>
          <a:xfrm>
            <a:off x="457200" y="164592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8" name="Text 6"/>
          <p:cNvSpPr txBox="1"/>
          <p:nvPr/>
        </p:nvSpPr>
        <p:spPr>
          <a:xfrm>
            <a:off x="777240" y="1664208"/>
            <a:ext cx="2194560" cy="411480"/>
          </a:xfrm>
          <a:prstGeom prst="rect">
            <a:avLst/>
          </a:prstGeom>
          <a:noFill/>
          <a:ln/>
        </p:spPr>
        <p:txBody>
          <a:bodyPr wrap="square" lIns="0" tIns="0" rIns="0" bIns="0" rtlCol="0" anchor="t"/>
          <a:lstStyle/>
          <a:p>
            <a:pPr indent="0" marL="0">
              <a:buNone/>
            </a:pPr>
            <a:r>
              <a:rPr lang="en-US" sz="1400" dirty="0">
                <a:solidFill>
                  <a:schemeClr val="tx1"/>
                </a:solidFill>
              </a:rPr>
              <a:t>Make each warning appear</a:t>
            </a:r>
            <a:endParaRPr lang="en-US" sz="1400" dirty="0"/>
          </a:p>
        </p:txBody>
      </p:sp>
      <p:sp>
        <p:nvSpPr>
          <p:cNvPr id="9" name="Text 7"/>
          <p:cNvSpPr txBox="1"/>
          <p:nvPr/>
        </p:nvSpPr>
        <p:spPr>
          <a:xfrm>
            <a:off x="3017520" y="164592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0" name="Text 8"/>
          <p:cNvSpPr txBox="1"/>
          <p:nvPr/>
        </p:nvSpPr>
        <p:spPr>
          <a:xfrm>
            <a:off x="3337560" y="1664208"/>
            <a:ext cx="2194560" cy="411480"/>
          </a:xfrm>
          <a:prstGeom prst="rect">
            <a:avLst/>
          </a:prstGeom>
          <a:noFill/>
          <a:ln/>
        </p:spPr>
        <p:txBody>
          <a:bodyPr wrap="square" lIns="0" tIns="0" rIns="0" bIns="0" rtlCol="0" anchor="t"/>
          <a:lstStyle/>
          <a:p>
            <a:pPr indent="0" marL="0">
              <a:buNone/>
            </a:pPr>
            <a:r>
              <a:rPr lang="en-US" sz="1400" dirty="0">
                <a:solidFill>
                  <a:schemeClr val="tx1"/>
                </a:solidFill>
              </a:rPr>
              <a:t>Click parts in the 3D view</a:t>
            </a:r>
            <a:endParaRPr lang="en-US" sz="1400" dirty="0"/>
          </a:p>
        </p:txBody>
      </p:sp>
      <p:sp>
        <p:nvSpPr>
          <p:cNvPr id="11" name="Text 9"/>
          <p:cNvSpPr txBox="1"/>
          <p:nvPr/>
        </p:nvSpPr>
        <p:spPr>
          <a:xfrm>
            <a:off x="457200" y="219456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2" name="Text 10"/>
          <p:cNvSpPr txBox="1"/>
          <p:nvPr/>
        </p:nvSpPr>
        <p:spPr>
          <a:xfrm>
            <a:off x="777240" y="2212848"/>
            <a:ext cx="2194560" cy="411480"/>
          </a:xfrm>
          <a:prstGeom prst="rect">
            <a:avLst/>
          </a:prstGeom>
          <a:noFill/>
          <a:ln/>
        </p:spPr>
        <p:txBody>
          <a:bodyPr wrap="square" lIns="0" tIns="0" rIns="0" bIns="0" rtlCol="0" anchor="t"/>
          <a:lstStyle/>
          <a:p>
            <a:pPr indent="0" marL="0">
              <a:buNone/>
            </a:pPr>
            <a:r>
              <a:rPr lang="en-US" sz="1400" dirty="0">
                <a:solidFill>
                  <a:schemeClr val="tx1"/>
                </a:solidFill>
              </a:rPr>
              <a:t>Read the parts list</a:t>
            </a:r>
            <a:endParaRPr lang="en-US" sz="1400" dirty="0"/>
          </a:p>
        </p:txBody>
      </p:sp>
      <p:sp>
        <p:nvSpPr>
          <p:cNvPr id="13" name="Text 11"/>
          <p:cNvSpPr txBox="1"/>
          <p:nvPr/>
        </p:nvSpPr>
        <p:spPr>
          <a:xfrm>
            <a:off x="3017520" y="219456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4" name="Text 12"/>
          <p:cNvSpPr txBox="1"/>
          <p:nvPr/>
        </p:nvSpPr>
        <p:spPr>
          <a:xfrm>
            <a:off x="3337560" y="2212848"/>
            <a:ext cx="2194560" cy="411480"/>
          </a:xfrm>
          <a:prstGeom prst="rect">
            <a:avLst/>
          </a:prstGeom>
          <a:noFill/>
          <a:ln/>
        </p:spPr>
        <p:txBody>
          <a:bodyPr wrap="square" lIns="0" tIns="0" rIns="0" bIns="0" rtlCol="0" anchor="t"/>
          <a:lstStyle/>
          <a:p>
            <a:pPr indent="0" marL="0">
              <a:buNone/>
            </a:pPr>
            <a:r>
              <a:rPr lang="en-US" sz="1400" dirty="0">
                <a:solidFill>
                  <a:schemeClr val="tx1"/>
                </a:solidFill>
              </a:rPr>
              <a:t>Download and read the PDF</a:t>
            </a:r>
            <a:endParaRPr lang="en-US" sz="1400" dirty="0"/>
          </a:p>
        </p:txBody>
      </p:sp>
      <p:sp>
        <p:nvSpPr>
          <p:cNvPr id="15" name="Text 13"/>
          <p:cNvSpPr txBox="1"/>
          <p:nvPr/>
        </p:nvSpPr>
        <p:spPr>
          <a:xfrm>
            <a:off x="457200" y="274320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6" name="Text 14"/>
          <p:cNvSpPr txBox="1"/>
          <p:nvPr/>
        </p:nvSpPr>
        <p:spPr>
          <a:xfrm>
            <a:off x="777240" y="2761488"/>
            <a:ext cx="2194560" cy="411480"/>
          </a:xfrm>
          <a:prstGeom prst="rect">
            <a:avLst/>
          </a:prstGeom>
          <a:noFill/>
          <a:ln/>
        </p:spPr>
        <p:txBody>
          <a:bodyPr wrap="square" lIns="0" tIns="0" rIns="0" bIns="0" rtlCol="0" anchor="t"/>
          <a:lstStyle/>
          <a:p>
            <a:pPr indent="0" marL="0">
              <a:buNone/>
            </a:pPr>
            <a:r>
              <a:rPr lang="en-US" sz="1400" dirty="0">
                <a:solidFill>
                  <a:schemeClr val="tx1"/>
                </a:solidFill>
              </a:rPr>
              <a:t>Shelf and desk still work</a:t>
            </a:r>
            <a:endParaRPr lang="en-US" sz="1400" dirty="0"/>
          </a:p>
        </p:txBody>
      </p:sp>
      <p:sp>
        <p:nvSpPr>
          <p:cNvPr id="17" name="Text 15"/>
          <p:cNvSpPr txBox="1"/>
          <p:nvPr/>
        </p:nvSpPr>
        <p:spPr>
          <a:xfrm>
            <a:off x="3017520" y="274320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8" name="Text 16"/>
          <p:cNvSpPr txBox="1"/>
          <p:nvPr/>
        </p:nvSpPr>
        <p:spPr>
          <a:xfrm>
            <a:off x="3337560" y="2761488"/>
            <a:ext cx="2194560" cy="411480"/>
          </a:xfrm>
          <a:prstGeom prst="rect">
            <a:avLst/>
          </a:prstGeom>
          <a:noFill/>
          <a:ln/>
        </p:spPr>
        <p:txBody>
          <a:bodyPr wrap="square" lIns="0" tIns="0" rIns="0" bIns="0" rtlCol="0" anchor="t"/>
          <a:lstStyle/>
          <a:p>
            <a:pPr indent="0" marL="0">
              <a:buNone/>
            </a:pPr>
            <a:r>
              <a:rPr lang="en-US" sz="1400" dirty="0">
                <a:solidFill>
                  <a:schemeClr val="tx1"/>
                </a:solidFill>
              </a:rPr>
              <a:t>Narrow window, like a phone</a:t>
            </a:r>
            <a:endParaRPr lang="en-US" sz="1400" dirty="0"/>
          </a:p>
        </p:txBody>
      </p:sp>
      <p:sp>
        <p:nvSpPr>
          <p:cNvPr id="19" name="Shape 17"/>
          <p:cNvSpPr/>
          <p:nvPr/>
        </p:nvSpPr>
        <p:spPr>
          <a:xfrm>
            <a:off x="457200" y="3383280"/>
            <a:ext cx="5029200" cy="118872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 y="3493008"/>
            <a:ext cx="4663440" cy="1005840"/>
          </a:xfrm>
          <a:prstGeom prst="rect">
            <a:avLst/>
          </a:prstGeom>
          <a:noFill/>
          <a:ln/>
        </p:spPr>
        <p:txBody>
          <a:bodyPr wrap="square" lIns="0" tIns="0" rIns="0" bIns="0" rtlCol="0" anchor="t"/>
          <a:lstStyle/>
          <a:p>
            <a:pPr indent="0" marL="0">
              <a:buNone/>
            </a:pPr>
            <a:r>
              <a:rPr lang="en-US" sz="1300" b="1" dirty="0">
                <a:solidFill>
                  <a:schemeClr val="tx1"/>
                </a:solidFill>
              </a:rPr>
              <a:t>Found something odd? </a:t>
            </a:r>
            <a:pPr indent="0" marL="0">
              <a:buNone/>
            </a:pPr>
            <a:r>
              <a:rPr lang="en-US" sz="1300" dirty="0">
                <a:solidFill>
                  <a:schemeClr val="tx1"/>
                </a:solidFill>
              </a:rPr>
              <a:t>Tell Claude in plain words ("the warning is confusing"). It fixes it, you refresh, you check again.</a:t>
            </a:r>
            <a:endParaRPr lang="en-US" sz="1300" dirty="0"/>
          </a:p>
          <a:p>
            <a:pPr indent="0" marL="0">
              <a:buNone/>
            </a:pPr>
            <a:r>
              <a:rPr lang="en-US" sz="1300" dirty="0">
                <a:solidFill>
                  <a:schemeClr val="accent2"/>
                </a:solidFill>
              </a:rPr>
              <a:t>Then Claude runs its own checks and takes the screenshots for the pull request.</a:t>
            </a:r>
            <a:endParaRPr lang="en-US" sz="1300" dirty="0"/>
          </a:p>
        </p:txBody>
      </p:sp>
      <p:pic>
        <p:nvPicPr>
          <p:cNvPr id="21" name="Warning scenario screenshot" descr="small/shelf-wide.jpg">    </p:cNvPr>
          <p:cNvPicPr>
            <a:picLocks noChangeAspect="1"/>
          </p:cNvPicPr>
          <p:nvPr/>
        </p:nvPicPr>
        <p:blipFill>
          <a:blip r:embed="rId1"/>
          <a:stretch>
            <a:fillRect/>
          </a:stretch>
        </p:blipFill>
        <p:spPr>
          <a:xfrm>
            <a:off x="5760720" y="1097280"/>
            <a:ext cx="2926080" cy="1670526"/>
          </a:xfrm>
          <a:prstGeom prst="rect">
            <a:avLst/>
          </a:prstGeom>
          <a:effectLst>
            <a:outerShdw sx="100000" sy="100000" kx="0" ky="0" algn="bl" rotWithShape="0" blurRad="76200" dist="25400" dir="5400000">
              <a:srgbClr val="000000">
                <a:alpha val="18000"/>
              </a:srgbClr>
            </a:outerShdw>
          </a:effectLst>
        </p:spPr>
      </p:pic>
      <p:sp>
        <p:nvSpPr>
          <p:cNvPr id="22" name="Text 19"/>
          <p:cNvSpPr txBox="1"/>
          <p:nvPr/>
        </p:nvSpPr>
        <p:spPr>
          <a:xfrm>
            <a:off x="5760720" y="2880360"/>
            <a:ext cx="2926080" cy="457200"/>
          </a:xfrm>
          <a:prstGeom prst="rect">
            <a:avLst/>
          </a:prstGeom>
          <a:noFill/>
          <a:ln/>
        </p:spPr>
        <p:txBody>
          <a:bodyPr wrap="square" lIns="0" tIns="0" rIns="0" bIns="0" rtlCol="0" anchor="t"/>
          <a:lstStyle/>
          <a:p>
            <a:pPr algn="ctr" indent="0" marL="0">
              <a:buNone/>
            </a:pPr>
            <a:r>
              <a:rPr lang="en-US" sz="1100" dirty="0">
                <a:solidFill>
                  <a:schemeClr val="accent2"/>
                </a:solidFill>
              </a:rPr>
              <a:t>Real example: making a warning appear (2000 mm wide, 40 kg)</a:t>
            </a:r>
            <a:endParaRPr lang="en-US" sz="11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A standard pull request</a:t>
            </a:r>
            <a:endParaRPr lang="en-US" sz="2400" dirty="0"/>
          </a:p>
        </p:txBody>
      </p:sp>
      <p:sp>
        <p:nvSpPr>
          <p:cNvPr id="3" name="Simulation tag"/>
          <p:cNvSpPr txBox="1"/>
          <p:nvPr/>
        </p:nvSpPr>
        <p:spPr>
          <a:xfrm>
            <a:off x="6949440" y="45720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pull request" descr="small/sim-pr.jpg">    </p:cNvPr>
          <p:cNvPicPr>
            <a:picLocks noChangeAspect="1"/>
          </p:cNvPicPr>
          <p:nvPr/>
        </p:nvPicPr>
        <p:blipFill>
          <a:blip r:embed="rId1"/>
          <a:stretch>
            <a:fillRect/>
          </a:stretch>
        </p:blipFill>
        <p:spPr>
          <a:xfrm>
            <a:off x="457200" y="1005840"/>
            <a:ext cx="3307282" cy="374904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4937760" y="1097280"/>
            <a:ext cx="3840480" cy="365760"/>
          </a:xfrm>
          <a:prstGeom prst="rect">
            <a:avLst/>
          </a:prstGeom>
          <a:noFill/>
          <a:ln/>
        </p:spPr>
        <p:txBody>
          <a:bodyPr wrap="square" lIns="0" tIns="0" rIns="0" bIns="0" rtlCol="0" anchor="t"/>
          <a:lstStyle/>
          <a:p>
            <a:pPr indent="0" marL="0">
              <a:buNone/>
            </a:pPr>
            <a:r>
              <a:rPr lang="en-US" sz="1400" b="1" dirty="0">
                <a:solidFill>
                  <a:schemeClr val="tx1"/>
                </a:solidFill>
              </a:rPr>
              <a:t>Every section is required, so review is quick:</a:t>
            </a:r>
            <a:endParaRPr lang="en-US" sz="1400" dirty="0"/>
          </a:p>
        </p:txBody>
      </p:sp>
      <p:sp>
        <p:nvSpPr>
          <p:cNvPr id="6" name="Text 3"/>
          <p:cNvSpPr txBox="1"/>
          <p:nvPr/>
        </p:nvSpPr>
        <p:spPr>
          <a:xfrm>
            <a:off x="4937760" y="1554480"/>
            <a:ext cx="3840480" cy="237744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400" dirty="0">
                <a:solidFill>
                  <a:schemeClr val="tx1"/>
                </a:solidFill>
              </a:rPr>
              <a:t>What this adds</a:t>
            </a:r>
            <a:endParaRPr lang="en-US" sz="1400" dirty="0"/>
          </a:p>
          <a:p>
            <a:pPr marL="342900" indent="-342900">
              <a:spcAft>
                <a:spcPts val="300"/>
              </a:spcAft>
              <a:buSzPct val="100000"/>
              <a:buFont typeface="+mj-lt"/>
              <a:buAutoNum type="arabicPeriod" startAt="1"/>
            </a:pPr>
            <a:r>
              <a:rPr lang="en-US" sz="1400" dirty="0">
                <a:solidFill>
                  <a:schemeClr val="tx1"/>
                </a:solidFill>
              </a:rPr>
              <a:t>Idea / issue</a:t>
            </a:r>
            <a:endParaRPr lang="en-US" sz="1400" dirty="0"/>
          </a:p>
          <a:p>
            <a:pPr marL="342900" indent="-342900">
              <a:spcAft>
                <a:spcPts val="300"/>
              </a:spcAft>
              <a:buSzPct val="100000"/>
              <a:buFont typeface="+mj-lt"/>
              <a:buAutoNum type="arabicPeriod" startAt="1"/>
            </a:pPr>
            <a:r>
              <a:rPr lang="en-US" sz="1400" dirty="0">
                <a:solidFill>
                  <a:schemeClr val="tx1"/>
                </a:solidFill>
              </a:rPr>
              <a:t>Design brief</a:t>
            </a:r>
            <a:endParaRPr lang="en-US" sz="1400" dirty="0"/>
          </a:p>
          <a:p>
            <a:pPr marL="342900" indent="-342900">
              <a:spcAft>
                <a:spcPts val="300"/>
              </a:spcAft>
              <a:buSzPct val="100000"/>
              <a:buFont typeface="+mj-lt"/>
              <a:buAutoNum type="arabicPeriod" startAt="1"/>
            </a:pPr>
            <a:r>
              <a:rPr lang="en-US" sz="1400" dirty="0">
                <a:solidFill>
                  <a:schemeClr val="tx1"/>
                </a:solidFill>
              </a:rPr>
              <a:t>Parts and sources</a:t>
            </a:r>
            <a:endParaRPr lang="en-US" sz="1400" dirty="0"/>
          </a:p>
          <a:p>
            <a:pPr marL="342900" indent="-342900">
              <a:spcAft>
                <a:spcPts val="300"/>
              </a:spcAft>
              <a:buSzPct val="100000"/>
              <a:buFont typeface="+mj-lt"/>
              <a:buAutoNum type="arabicPeriod" startAt="1"/>
            </a:pPr>
            <a:r>
              <a:rPr lang="en-US" sz="1400" dirty="0">
                <a:solidFill>
                  <a:schemeClr val="tx1"/>
                </a:solidFill>
              </a:rPr>
              <a:t>How it was checked</a:t>
            </a:r>
            <a:endParaRPr lang="en-US" sz="1400" dirty="0"/>
          </a:p>
          <a:p>
            <a:pPr marL="342900" indent="-342900">
              <a:spcAft>
                <a:spcPts val="300"/>
              </a:spcAft>
              <a:buSzPct val="100000"/>
              <a:buFont typeface="+mj-lt"/>
              <a:buAutoNum type="arabicPeriod" startAt="1"/>
            </a:pPr>
            <a:r>
              <a:rPr lang="en-US" sz="1400" dirty="0">
                <a:solidFill>
                  <a:schemeClr val="tx1"/>
                </a:solidFill>
              </a:rPr>
              <a:t>Screenshots</a:t>
            </a:r>
            <a:endParaRPr lang="en-US" sz="1400" dirty="0"/>
          </a:p>
          <a:p>
            <a:pPr marL="342900" indent="-342900">
              <a:spcAft>
                <a:spcPts val="300"/>
              </a:spcAft>
              <a:buSzPct val="100000"/>
              <a:buFont typeface="+mj-lt"/>
              <a:buAutoNum type="arabicPeriod" startAt="1"/>
            </a:pPr>
            <a:r>
              <a:rPr lang="en-US" sz="1400" dirty="0">
                <a:solidFill>
                  <a:schemeClr val="tx1"/>
                </a:solidFill>
              </a:rPr>
              <a:t>Assumptions to verify</a:t>
            </a:r>
            <a:endParaRPr lang="en-US" sz="1400" dirty="0"/>
          </a:p>
          <a:p>
            <a:pPr marL="342900" indent="-342900">
              <a:spcAft>
                <a:spcPts val="300"/>
              </a:spcAft>
              <a:buSzPct val="100000"/>
              <a:buFont typeface="+mj-lt"/>
              <a:buAutoNum type="arabicPeriod" startAt="1"/>
            </a:pPr>
            <a:r>
              <a:rPr lang="en-US" sz="1400" dirty="0">
                <a:solidFill>
                  <a:schemeClr val="tx1"/>
                </a:solidFill>
              </a:rPr>
              <a:t>Next steps</a:t>
            </a:r>
            <a:endParaRPr lang="en-US" sz="1400" dirty="0"/>
          </a:p>
        </p:txBody>
      </p:sp>
      <p:sp>
        <p:nvSpPr>
          <p:cNvPr id="7" name="Shape 4"/>
          <p:cNvSpPr/>
          <p:nvPr/>
        </p:nvSpPr>
        <p:spPr>
          <a:xfrm>
            <a:off x="4937760" y="3977640"/>
            <a:ext cx="3840480" cy="731520"/>
          </a:xfrm>
          <a:prstGeom prst="roundRect">
            <a:avLst>
              <a:gd name="adj" fmla="val 10000"/>
            </a:avLst>
          </a:prstGeom>
          <a:solidFill>
            <a:schemeClr val="bg2"/>
          </a:solidFill>
          <a:ln w="12700">
            <a:solidFill>
              <a:schemeClr val="bg2"/>
            </a:solidFill>
            <a:prstDash val="solid"/>
          </a:ln>
        </p:spPr>
      </p:sp>
      <p:sp>
        <p:nvSpPr>
          <p:cNvPr id="8" name="Text 5"/>
          <p:cNvSpPr txBox="1"/>
          <p:nvPr/>
        </p:nvSpPr>
        <p:spPr>
          <a:xfrm>
            <a:off x="5120640" y="4069080"/>
            <a:ext cx="3474720" cy="548640"/>
          </a:xfrm>
          <a:prstGeom prst="rect">
            <a:avLst/>
          </a:prstGeom>
          <a:noFill/>
          <a:ln/>
        </p:spPr>
        <p:txBody>
          <a:bodyPr wrap="square" lIns="0" tIns="0" rIns="0" bIns="0" rtlCol="0" anchor="t"/>
          <a:lstStyle/>
          <a:p>
            <a:pPr indent="0" marL="0">
              <a:buNone/>
            </a:pPr>
            <a:r>
              <a:rPr lang="en-US" sz="1300" dirty="0">
                <a:solidFill>
                  <a:schemeClr val="tx1"/>
                </a:solidFill>
              </a:rPr>
              <a:t>Claude writes it. You drag the screenshots into it on GitHub.</a:t>
            </a:r>
            <a:endParaRPr lang="en-US" sz="13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After you send it</a:t>
            </a:r>
            <a:endParaRPr lang="en-US" sz="2400" dirty="0"/>
          </a:p>
        </p:txBody>
      </p:sp>
      <p:sp>
        <p:nvSpPr>
          <p:cNvPr id="3" name="Shape 1"/>
          <p:cNvSpPr/>
          <p:nvPr/>
        </p:nvSpPr>
        <p:spPr>
          <a:xfrm>
            <a:off x="457200" y="1280160"/>
            <a:ext cx="1874520" cy="2286000"/>
          </a:xfrm>
          <a:prstGeom prst="roundRect">
            <a:avLst>
              <a:gd name="adj" fmla="val 3902"/>
            </a:avLst>
          </a:prstGeom>
          <a:solidFill>
            <a:schemeClr val="bg2"/>
          </a:solidFill>
          <a:ln w="12700">
            <a:solidFill>
              <a:schemeClr val="bg2"/>
            </a:solidFill>
            <a:prstDash val="solid"/>
          </a:ln>
        </p:spPr>
      </p:sp>
      <p:sp>
        <p:nvSpPr>
          <p:cNvPr id="4" name="Text 2"/>
          <p:cNvSpPr txBox="1"/>
          <p:nvPr/>
        </p:nvSpPr>
        <p:spPr>
          <a:xfrm>
            <a:off x="1170432"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548640"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Owner reviews</a:t>
            </a:r>
            <a:endParaRPr lang="en-US" sz="1400" dirty="0"/>
          </a:p>
          <a:p>
            <a:pPr algn="ctr" indent="0" marL="0">
              <a:buNone/>
            </a:pPr>
            <a:r>
              <a:rPr lang="en-US" sz="1200" dirty="0">
                <a:solidFill>
                  <a:schemeClr val="accent2"/>
                </a:solidFill>
              </a:rPr>
              <a:t>Starting with the brief</a:t>
            </a:r>
            <a:endParaRPr lang="en-US" sz="1400" dirty="0"/>
          </a:p>
        </p:txBody>
      </p:sp>
      <p:sp>
        <p:nvSpPr>
          <p:cNvPr id="6" name="Shape 4"/>
          <p:cNvSpPr/>
          <p:nvPr/>
        </p:nvSpPr>
        <p:spPr>
          <a:xfrm>
            <a:off x="2350008" y="2423160"/>
            <a:ext cx="219456" cy="0"/>
          </a:xfrm>
          <a:prstGeom prst="line">
            <a:avLst/>
          </a:prstGeom>
          <a:noFill/>
          <a:ln w="19050">
            <a:solidFill>
              <a:schemeClr val="accent3"/>
            </a:solidFill>
            <a:prstDash val="solid"/>
            <a:tailEnd type="triangle"/>
          </a:ln>
        </p:spPr>
      </p:sp>
      <p:sp>
        <p:nvSpPr>
          <p:cNvPr id="7" name="Shape 5"/>
          <p:cNvSpPr/>
          <p:nvPr/>
        </p:nvSpPr>
        <p:spPr>
          <a:xfrm>
            <a:off x="2587752" y="1280160"/>
            <a:ext cx="1874520" cy="2286000"/>
          </a:xfrm>
          <a:prstGeom prst="roundRect">
            <a:avLst>
              <a:gd name="adj" fmla="val 3902"/>
            </a:avLst>
          </a:prstGeom>
          <a:solidFill>
            <a:schemeClr val="bg2"/>
          </a:solidFill>
          <a:ln w="12700">
            <a:solidFill>
              <a:schemeClr val="bg2"/>
            </a:solidFill>
            <a:prstDash val="solid"/>
          </a:ln>
        </p:spPr>
      </p:sp>
      <p:sp>
        <p:nvSpPr>
          <p:cNvPr id="8" name="Text 6"/>
          <p:cNvSpPr txBox="1"/>
          <p:nvPr/>
        </p:nvSpPr>
        <p:spPr>
          <a:xfrm>
            <a:off x="3300984"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2679192"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Comments</a:t>
            </a:r>
            <a:endParaRPr lang="en-US" sz="1400" dirty="0"/>
          </a:p>
          <a:p>
            <a:pPr algn="ctr" indent="0" marL="0">
              <a:buNone/>
            </a:pPr>
            <a:r>
              <a:rPr lang="en-US" sz="1200" dirty="0">
                <a:solidFill>
                  <a:schemeClr val="accent2"/>
                </a:solidFill>
              </a:rPr>
              <a:t>Questions or changes</a:t>
            </a:r>
            <a:endParaRPr lang="en-US" sz="1400" dirty="0"/>
          </a:p>
        </p:txBody>
      </p:sp>
      <p:sp>
        <p:nvSpPr>
          <p:cNvPr id="10" name="Shape 8"/>
          <p:cNvSpPr/>
          <p:nvPr/>
        </p:nvSpPr>
        <p:spPr>
          <a:xfrm>
            <a:off x="4480560" y="2423160"/>
            <a:ext cx="219456" cy="0"/>
          </a:xfrm>
          <a:prstGeom prst="line">
            <a:avLst/>
          </a:prstGeom>
          <a:noFill/>
          <a:ln w="19050">
            <a:solidFill>
              <a:schemeClr val="accent3"/>
            </a:solidFill>
            <a:prstDash val="solid"/>
            <a:tailEnd type="triangle"/>
          </a:ln>
        </p:spPr>
      </p:sp>
      <p:sp>
        <p:nvSpPr>
          <p:cNvPr id="11" name="Shape 9"/>
          <p:cNvSpPr/>
          <p:nvPr/>
        </p:nvSpPr>
        <p:spPr>
          <a:xfrm>
            <a:off x="4718304" y="1280160"/>
            <a:ext cx="1874520" cy="2286000"/>
          </a:xfrm>
          <a:prstGeom prst="roundRect">
            <a:avLst>
              <a:gd name="adj" fmla="val 3902"/>
            </a:avLst>
          </a:prstGeom>
          <a:solidFill>
            <a:schemeClr val="bg2"/>
          </a:solidFill>
          <a:ln w="12700">
            <a:solidFill>
              <a:schemeClr val="bg2"/>
            </a:solidFill>
            <a:prstDash val="solid"/>
          </a:ln>
        </p:spPr>
      </p:sp>
      <p:sp>
        <p:nvSpPr>
          <p:cNvPr id="12" name="Text 10"/>
          <p:cNvSpPr txBox="1"/>
          <p:nvPr/>
        </p:nvSpPr>
        <p:spPr>
          <a:xfrm>
            <a:off x="5431536"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4809744"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Ask Claude</a:t>
            </a:r>
            <a:endParaRPr lang="en-US" sz="1400" dirty="0"/>
          </a:p>
          <a:p>
            <a:pPr algn="ctr" indent="0" marL="0">
              <a:buNone/>
            </a:pPr>
            <a:r>
              <a:rPr lang="en-US" sz="1200" dirty="0">
                <a:solidFill>
                  <a:schemeClr val="accent2"/>
                </a:solidFill>
              </a:rPr>
              <a:t>"let's work on the review comments"</a:t>
            </a:r>
            <a:endParaRPr lang="en-US" sz="1400" dirty="0"/>
          </a:p>
        </p:txBody>
      </p:sp>
      <p:sp>
        <p:nvSpPr>
          <p:cNvPr id="14" name="Shape 12"/>
          <p:cNvSpPr/>
          <p:nvPr/>
        </p:nvSpPr>
        <p:spPr>
          <a:xfrm>
            <a:off x="6611112" y="2423160"/>
            <a:ext cx="219456" cy="0"/>
          </a:xfrm>
          <a:prstGeom prst="line">
            <a:avLst/>
          </a:prstGeom>
          <a:noFill/>
          <a:ln w="19050">
            <a:solidFill>
              <a:schemeClr val="accent3"/>
            </a:solidFill>
            <a:prstDash val="solid"/>
            <a:tailEnd type="triangle"/>
          </a:ln>
        </p:spPr>
      </p:sp>
      <p:sp>
        <p:nvSpPr>
          <p:cNvPr id="15" name="Shape 13"/>
          <p:cNvSpPr/>
          <p:nvPr/>
        </p:nvSpPr>
        <p:spPr>
          <a:xfrm>
            <a:off x="6848856" y="1280160"/>
            <a:ext cx="1874520" cy="2286000"/>
          </a:xfrm>
          <a:prstGeom prst="roundRect">
            <a:avLst>
              <a:gd name="adj" fmla="val 3902"/>
            </a:avLst>
          </a:prstGeom>
          <a:solidFill>
            <a:schemeClr val="tx2"/>
          </a:solidFill>
          <a:ln w="12700">
            <a:solidFill>
              <a:schemeClr val="tx2"/>
            </a:solidFill>
            <a:prstDash val="solid"/>
          </a:ln>
        </p:spPr>
      </p:sp>
      <p:sp>
        <p:nvSpPr>
          <p:cNvPr id="16" name="Text 14"/>
          <p:cNvSpPr txBox="1"/>
          <p:nvPr/>
        </p:nvSpPr>
        <p:spPr>
          <a:xfrm>
            <a:off x="7562088" y="1600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5"/>
          <p:cNvSpPr txBox="1"/>
          <p:nvPr/>
        </p:nvSpPr>
        <p:spPr>
          <a:xfrm>
            <a:off x="6940296" y="2286000"/>
            <a:ext cx="1691640" cy="1097280"/>
          </a:xfrm>
          <a:prstGeom prst="rect">
            <a:avLst/>
          </a:prstGeom>
          <a:noFill/>
          <a:ln/>
        </p:spPr>
        <p:txBody>
          <a:bodyPr wrap="square" lIns="0" tIns="0" rIns="0" bIns="0" rtlCol="0" anchor="t"/>
          <a:lstStyle/>
          <a:p>
            <a:pPr algn="ctr" indent="0" marL="0">
              <a:buNone/>
            </a:pPr>
            <a:r>
              <a:rPr lang="en-US" sz="1500" b="1" dirty="0">
                <a:solidFill>
                  <a:schemeClr val="bg1"/>
                </a:solidFill>
              </a:rPr>
              <a:t>Merged</a:t>
            </a:r>
            <a:endParaRPr lang="en-US" sz="1400" dirty="0"/>
          </a:p>
          <a:p>
            <a:pPr algn="ctr" indent="0" marL="0">
              <a:buNone/>
            </a:pPr>
            <a:r>
              <a:rPr lang="en-US" sz="1200" dirty="0">
                <a:solidFill>
                  <a:schemeClr val="accent4"/>
                </a:solidFill>
              </a:rPr>
              <a:t>Your piece is live</a:t>
            </a:r>
            <a:endParaRPr lang="en-US" sz="1400" dirty="0"/>
          </a:p>
        </p:txBody>
      </p:sp>
      <p:sp>
        <p:nvSpPr>
          <p:cNvPr id="18" name="Text 16"/>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500" dirty="0">
                <a:solidFill>
                  <a:schemeClr val="accent2"/>
                </a:solidFill>
              </a:rPr>
              <a:t>Changes go on the same pull request: Claude reads each comment, makes the change, and replies under it.</a:t>
            </a:r>
            <a:endParaRPr lang="en-US" sz="15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lIns="0" tIns="0" rIns="0" bIns="0" rtlCol="0" anchor="b"/>
          <a:lstStyle/>
          <a:p>
            <a:pPr algn="l" indent="0" marL="0">
              <a:buNone/>
            </a:pPr>
            <a:r>
              <a:rPr lang="en-US" sz="3200" b="1" dirty="0">
                <a:solidFill>
                  <a:schemeClr val="bg1"/>
                </a:solidFill>
              </a:rPr>
              <a:t>Three things to say</a:t>
            </a: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lIns="0" tIns="0" rIns="0" bIns="0" rtlCol="0" anchor="t"/>
          <a:lstStyle/>
          <a:p>
            <a:pPr indent="0" marL="0">
              <a:buNone/>
            </a:pPr>
            <a:r>
              <a:rPr lang="en-US" sz="1600" dirty="0">
                <a:solidFill>
                  <a:schemeClr val="accent4"/>
                </a:solidFill>
              </a:rPr>
              <a:t>Repo: github.com/mfprado/open-source-modular-furniture</a:t>
            </a:r>
            <a:endParaRPr lang="en-US" sz="1600" dirty="0"/>
          </a:p>
        </p:txBody>
      </p:sp>
      <p:sp>
        <p:nvSpPr>
          <p:cNvPr id="4" name="Shape 2"/>
          <p:cNvSpPr/>
          <p:nvPr/>
        </p:nvSpPr>
        <p:spPr>
          <a:xfrm>
            <a:off x="5394960" y="1097280"/>
            <a:ext cx="3383280" cy="777240"/>
          </a:xfrm>
          <a:prstGeom prst="roundRect">
            <a:avLst>
              <a:gd name="adj" fmla="val 9412"/>
            </a:avLst>
          </a:prstGeom>
          <a:solidFill>
            <a:schemeClr val="tx1"/>
          </a:solidFill>
          <a:ln w="12700">
            <a:solidFill>
              <a:schemeClr val="accent3"/>
            </a:solidFill>
            <a:prstDash val="solid"/>
          </a:ln>
        </p:spPr>
      </p:sp>
      <p:sp>
        <p:nvSpPr>
          <p:cNvPr id="5" name="Text 3"/>
          <p:cNvSpPr txBox="1"/>
          <p:nvPr/>
        </p:nvSpPr>
        <p:spPr>
          <a:xfrm>
            <a:off x="5577840" y="1097280"/>
            <a:ext cx="3017520" cy="7772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"let's work on this"</a:t>
            </a:r>
            <a:endParaRPr lang="en-US" sz="1400" dirty="0"/>
          </a:p>
        </p:txBody>
      </p:sp>
      <p:sp>
        <p:nvSpPr>
          <p:cNvPr id="6" name="Shape 4"/>
          <p:cNvSpPr/>
          <p:nvPr/>
        </p:nvSpPr>
        <p:spPr>
          <a:xfrm>
            <a:off x="5394960" y="2103120"/>
            <a:ext cx="3383280" cy="777240"/>
          </a:xfrm>
          <a:prstGeom prst="roundRect">
            <a:avLst>
              <a:gd name="adj" fmla="val 9412"/>
            </a:avLst>
          </a:prstGeom>
          <a:solidFill>
            <a:schemeClr val="tx1"/>
          </a:solidFill>
          <a:ln w="12700">
            <a:solidFill>
              <a:schemeClr val="accent3"/>
            </a:solidFill>
            <a:prstDash val="solid"/>
          </a:ln>
        </p:spPr>
      </p:sp>
      <p:sp>
        <p:nvSpPr>
          <p:cNvPr id="7" name="Text 5"/>
          <p:cNvSpPr txBox="1"/>
          <p:nvPr/>
        </p:nvSpPr>
        <p:spPr>
          <a:xfrm>
            <a:off x="5577840" y="2103120"/>
            <a:ext cx="3017520" cy="7772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"turn the clamp lamp idea into a configurator"</a:t>
            </a:r>
            <a:endParaRPr lang="en-US" sz="1400" dirty="0"/>
          </a:p>
        </p:txBody>
      </p:sp>
      <p:sp>
        <p:nvSpPr>
          <p:cNvPr id="8" name="Shape 6"/>
          <p:cNvSpPr/>
          <p:nvPr/>
        </p:nvSpPr>
        <p:spPr>
          <a:xfrm>
            <a:off x="5394960" y="3108960"/>
            <a:ext cx="3383280" cy="777240"/>
          </a:xfrm>
          <a:prstGeom prst="roundRect">
            <a:avLst>
              <a:gd name="adj" fmla="val 9412"/>
            </a:avLst>
          </a:prstGeom>
          <a:solidFill>
            <a:schemeClr val="tx1"/>
          </a:solidFill>
          <a:ln w="12700">
            <a:solidFill>
              <a:schemeClr val="accent3"/>
            </a:solidFill>
            <a:prstDash val="solid"/>
          </a:ln>
        </p:spPr>
      </p:sp>
      <p:sp>
        <p:nvSpPr>
          <p:cNvPr id="9" name="Text 7"/>
          <p:cNvSpPr txBox="1"/>
          <p:nvPr/>
        </p:nvSpPr>
        <p:spPr>
          <a:xfrm>
            <a:off x="5577840" y="3108960"/>
            <a:ext cx="3017520" cy="7772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"let's work on the review comments"</a:t>
            </a:r>
            <a:endParaRPr lang="en-US" sz="1400" dirty="0"/>
          </a:p>
        </p:txBody>
      </p:sp>
    </p:spTree>
  </p:cSld>
  <p:clrMapOvr>
    <a:masterClrMapping/>
  </p:clrMapOvr>
</p:sld>
</file>

<file path=ppt/theme/theme1.xml><?xml version="1.0" encoding="utf-8"?>
<a:theme xmlns:a="http://schemas.openxmlformats.org/drawingml/2006/main" name="Modular Furniture">
  <a:themeElements>
    <a:clrScheme name="Modular Furniture">
      <a:dk1>
        <a:srgbClr val="15171A"/>
      </a:dk1>
      <a:lt1>
        <a:srgbClr val="FFFFFF"/>
      </a:lt1>
      <a:dk2>
        <a:srgbClr val="2C3035"/>
      </a:dk2>
      <a:lt2>
        <a:srgbClr val="EEF0F2"/>
      </a:lt2>
      <a:accent1>
        <a:srgbClr val="B4532A"/>
      </a:accent1>
      <a:accent2>
        <a:srgbClr val="5B6168"/>
      </a:accent2>
      <a:accent3>
        <a:srgbClr val="8A8F94"/>
      </a:accent3>
      <a:accent4>
        <a:srgbClr val="D9DCDF"/>
      </a:accent4>
      <a:accent5>
        <a:srgbClr val="7A9E7E"/>
      </a:accent5>
      <a:accent6>
        <a:srgbClr val="C9B8A3"/>
      </a:accent6>
      <a:hlink>
        <a:srgbClr val="B4532A"/>
      </a:hlink>
      <a:folHlink>
        <a:srgbClr val="5B6168"/>
      </a:folHlink>
    </a:clrScheme>
    <a:fontScheme name="Modular Furniture">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Contributing to Open Source Modular Furniture</dc:title>
  <dc:subject>PptxGenJS Presentation</dc:subject>
  <dc:creator>PptxGenJS</dc:creator>
  <cp:lastModifiedBy>PptxGenJS</cp:lastModifiedBy>
  <cp:revision>1</cp:revision>
  <dcterms:created xsi:type="dcterms:W3CDTF">2026-10-27T12:05:31Z</dcterms:created>
  <dcterms:modified xsi:type="dcterms:W3CDTF">2026-10-27T12:05:31Z</dcterms:modified>
</cp:coreProperties>
</file>