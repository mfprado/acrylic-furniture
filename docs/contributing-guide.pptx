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d="{b585ef0c-63b0-dcbc-da5a-b4295a5a6df8}">
          <p14:sldIdLst>
            <p14:sldId id="256"/>
            <p14:sldId id="257"/>
            <p14:sldId id="258"/>
            <p14:sldId id="259"/>
            <p14:sldId id="260"/>
            <p14:sldId id="261"/>
          </p14:sldIdLst>
        </p14:section>
        <p14:section name="Get started" id="{8860b6eb-1a8a-3393-354e-c4d0300ba3da}">
          <p14:sldIdLst>
            <p14:sldId id="262"/>
            <p14:sldId id="263"/>
            <p14:sldId id="264"/>
            <p14:sldId id="265"/>
            <p14:sldId id="266"/>
            <p14:sldId id="267"/>
            <p14:sldId id="268"/>
          </p14:sldIdLst>
        </p14:section>
        <p14:section name="Work in rounds" id="{b1fab110-30ea-2f1c-cf75-8cc3e3e223fd}">
          <p14:sldIdLst>
            <p14:sldId id="269"/>
            <p14:sldId id="270"/>
            <p14:sldId id="271"/>
            <p14:sldId id="272"/>
            <p14:sldId id="273"/>
          </p14:sldIdLst>
        </p14:section>
        <p14:section name="Send it" id="{1687a5d4-e924-0e6c-3374-05af743ea20a}">
          <p14:sldIdLst>
            <p14:sldId id="274"/>
            <p14:sldId id="275"/>
          </p14:sldIdLst>
        </p14:section>
        <p14:section name="Summary" id="{a4ef734b-6af7-5277-6996-954ccebc9628}">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how you, as an industrial designer, can change the site or add a new piece using the Claude desktop app, without writing code. Claude writes the code; you make every design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at mfprado.github.io/open-source-modular-furniture. A contribution adds a new page to the top menu, or improves one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screenshot: the rod shelf at 2000 mm wide with 40 kg per shelf. The rules a designer defines are what make a configurator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 PR as a proposal: "here is the change I made, here is how I checked it". The owner reviews it before it goes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process is a loop: see, try, improve by talking, and only when you are happy does a pull request get created.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terminal, no code editor. Everything happens in a chat in the Claude desktop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something is missing on the computer, Claude checks and gives exactly one link to install it. Signing in to GitHub is the one thing you do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Illustration of the Claude desktop app home screen; your app may look slightly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Illustration. Local matters: a Cloud session runs on Anthropic's computers, and then the private copy of the site would not open in your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Illustration. Claude needs Git for this; if it is missing, Claude gives you the one link to install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Illustration of the folder picker. Everything Claude needs (instructions, how to start the site) is inside this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Simulated conversation; exact wording will vary. The instructions Claude follows live in the project itself (the contribute skill), so every session works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clamp lamp (issue 2) is the idea used in the simulated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screenshot of the site in a browser at localhost:8000. "localhost" just means "this computer"; 8000 is the door number Claude opened it on. Breaking something here cannot break the real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Chrome says the site cannot be reached, the private copy is not running, usually because the session was closed. Ask Claude to start it again. The same site can also show inside the Claude app: press Cmd+Shift+B (Mac) or Ctrl+Shift+B (Windows) for its Browser pane.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Simulated round for the clamp lamp. A new piece usually takes five rounds: parts list, page and settings, 3D model, part info, PDF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Simulated brief for the clamp lamp; the rule values are examples. The brief is also the first thing the owner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reads this list out one item at a time and waits for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only accepts images uploaded through the page, which is why the screenshots are the one manual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piece came from an idea, the pull request closes that idea issue when merged, and the card leaves the Ideas board because the piece now has its own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all you need to remember. Start each one in a new session in the Code section, with the project selected.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4754880" cy="14630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ph idx="101" type="body" hasCustomPrompt="1"/>
          </p:nvPr>
        </p:nvSpPr>
        <p:spPr>
          <a:xfrm>
            <a:off x="548640" y="2971800"/>
            <a:ext cx="4572000" cy="1097280"/>
          </a:xfrm>
          <a:prstGeom prst="rect">
            <a:avLst/>
          </a:prstGeom>
          <a:noFill/>
          <a:ln/>
        </p:spPr>
        <p:txBody>
          <a:bodyPr wrap="square" rtlCol="0"/>
          <a:lstStyle>
            <a:lvl1pPr indent="0" marL="0">
              <a:buNone/>
              <a:defRPr lang="en-US" sz="1600" dirty="0">
                <a:solidFill>
                  <a:schemeClr val="accent4"/>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40080"/>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850392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0392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4754880" cy="1463040"/>
          </a:xfrm>
          <a:prstGeom prst="rect">
            <a:avLst/>
          </a:prstGeom>
          <a:noFill/>
          <a:ln/>
        </p:spPr>
        <p:txBody>
          <a:bodyPr wrap="square" lIns="0" tIns="0" rIns="0" bIns="0" rtlCol="0" anchor="b"/>
          <a:lstStyle/>
          <a:p>
            <a:pPr algn="l" indent="0" marL="0">
              <a:buNone/>
            </a:pPr>
            <a:r>
              <a:rPr lang="en-US" sz="3200" b="1" dirty="0">
                <a:solidFill>
                  <a:schemeClr val="bg1"/>
                </a:solidFill>
              </a:rPr>
              <a:t>Design furniture with us</a:t>
            </a:r>
            <a:endParaRPr lang="en-US" sz="3200" dirty="0"/>
          </a:p>
        </p:txBody>
      </p:sp>
      <p:sp>
        <p:nvSpPr>
          <p:cNvPr id="3" name="Text 0"/>
          <p:cNvSpPr/>
          <p:nvPr>
            <p:ph idx="101" type="body" hasCustomPrompt="1"/>
          </p:nvPr>
        </p:nvSpPr>
        <p:spPr>
          <a:xfrm>
            <a:off x="548640" y="2971800"/>
            <a:ext cx="4572000" cy="1097280"/>
          </a:xfrm>
          <a:prstGeom prst="rect">
            <a:avLst/>
          </a:prstGeom>
          <a:noFill/>
          <a:ln/>
        </p:spPr>
        <p:txBody>
          <a:bodyPr wrap="square" lIns="0" tIns="0" rIns="0" bIns="0" rtlCol="0" anchor="t"/>
          <a:lstStyle/>
          <a:p>
            <a:pPr indent="0" marL="0">
              <a:buNone/>
            </a:pPr>
            <a:r>
              <a:rPr lang="en-US" sz="1600" dirty="0">
                <a:solidFill>
                  <a:schemeClr val="accent4"/>
                </a:solidFill>
              </a:rPr>
              <a:t>How to contribute to Open Source Modular Furniture with the Claude desktop app. No coding needed: you design, Claude builds.</a:t>
            </a:r>
            <a:endParaRPr lang="en-US" sz="1600" dirty="0"/>
          </a:p>
        </p:txBody>
      </p:sp>
      <p:pic>
        <p:nvPicPr>
          <p:cNvPr id="4" name="Profile desk page" descr="small/desk.jpg">    </p:cNvPr>
          <p:cNvPicPr>
            <a:picLocks noChangeAspect="1"/>
          </p:cNvPicPr>
          <p:nvPr/>
        </p:nvPicPr>
        <p:blipFill>
          <a:blip r:embed="rId1"/>
          <a:stretch>
            <a:fillRect/>
          </a:stretch>
        </p:blipFill>
        <p:spPr>
          <a:xfrm>
            <a:off x="5394960" y="1143000"/>
            <a:ext cx="3383280" cy="1931545"/>
          </a:xfrm>
          <a:prstGeom prst="rect">
            <a:avLst/>
          </a:prstGeom>
          <a:effectLst>
            <a:outerShdw sx="100000" sy="100000" kx="0" ky="0" algn="bl" rotWithShape="0" blurRad="76200" dist="25400" dir="540000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40080"/>
          </a:xfrm>
          <a:prstGeom prst="rect">
            <a:avLst/>
          </a:prstGeom>
          <a:noFill/>
          <a:ln/>
        </p:spPr>
        <p:txBody>
          <a:bodyPr wrap="square" lIns="0" tIns="0" rIns="0" bIns="0" rtlCol="0" anchor="ctr"/>
          <a:lstStyle/>
          <a:p>
            <a:pPr algn="l" indent="0" marL="0">
              <a:buNone/>
            </a:pPr>
            <a:r>
              <a:rPr lang="en-US" sz="2400" b="1" dirty="0">
                <a:solidFill>
                  <a:schemeClr val="tx1"/>
                </a:solidFill>
              </a:rPr>
              <a:t>Lego for adults, sized by anyone</a:t>
            </a:r>
            <a:endParaRPr lang="en-US" sz="2400" dirty="0"/>
          </a:p>
        </p:txBody>
      </p:sp>
      <p:sp>
        <p:nvSpPr>
          <p:cNvPr id="3" name="Text 1"/>
          <p:cNvSpPr txBox="1"/>
          <p:nvPr/>
        </p:nvSpPr>
        <p:spPr>
          <a:xfrm>
            <a:off x="457200" y="960120"/>
            <a:ext cx="8229600" cy="548640"/>
          </a:xfrm>
          <a:prstGeom prst="rect">
            <a:avLst/>
          </a:prstGeom>
          <a:noFill/>
          <a:ln/>
        </p:spPr>
        <p:txBody>
          <a:bodyPr wrap="square" lIns="0" tIns="0" rIns="0" bIns="0" rtlCol="0" anchor="t"/>
          <a:lstStyle/>
          <a:p>
            <a:pPr indent="0" marL="0">
              <a:buNone/>
            </a:pPr>
            <a:r>
              <a:rPr lang="en-US" sz="1500" dirty="0">
                <a:solidFill>
                  <a:schemeClr val="accent2"/>
                </a:solidFill>
              </a:rPr>
              <a:t>Standard parts you can buy anywhere, snapped together into furniture people size themselves. Each piece is a page on the site, picked from the top menu: a configurator.</a:t>
            </a:r>
            <a:endParaRPr lang="en-US" sz="1500" dirty="0"/>
          </a:p>
        </p:txBody>
      </p:sp>
      <p:pic>
        <p:nvPicPr>
          <p:cNvPr id="4" name="Rod shelf page" descr="small/shelf.jpg">    </p:cNvPr>
          <p:cNvPicPr>
            <a:picLocks noChangeAspect="1"/>
          </p:cNvPicPr>
          <p:nvPr/>
        </p:nvPicPr>
        <p:blipFill>
          <a:blip r:embed="rId1"/>
          <a:stretch>
            <a:fillRect/>
          </a:stretch>
        </p:blipFill>
        <p:spPr>
          <a:xfrm>
            <a:off x="457200" y="1645920"/>
            <a:ext cx="3977640" cy="2270871"/>
          </a:xfrm>
          <a:prstGeom prst="rect">
            <a:avLst/>
          </a:prstGeom>
          <a:effectLst>
            <a:outerShdw sx="100000" sy="100000" kx="0" ky="0" algn="bl" rotWithShape="0" blurRad="76200" dist="25400" dir="5400000">
              <a:srgbClr val="000000">
                <a:alpha val="18000"/>
              </a:srgbClr>
            </a:outerShdw>
          </a:effectLst>
        </p:spPr>
      </p:pic>
      <p:pic>
        <p:nvPicPr>
          <p:cNvPr id="5" name="Profile desk page" descr="small/desk.jpg">    </p:cNvPr>
          <p:cNvPicPr>
            <a:picLocks noChangeAspect="1"/>
          </p:cNvPicPr>
          <p:nvPr/>
        </p:nvPicPr>
        <p:blipFill>
          <a:blip r:embed="rId2"/>
          <a:stretch>
            <a:fillRect/>
          </a:stretch>
        </p:blipFill>
        <p:spPr>
          <a:xfrm>
            <a:off x="4709160" y="1645920"/>
            <a:ext cx="3977640" cy="2270871"/>
          </a:xfrm>
          <a:prstGeom prst="rect">
            <a:avLst/>
          </a:prstGeom>
          <a:effectLst>
            <a:outerShdw sx="100000" sy="100000" kx="0" ky="0" algn="bl" rotWithShape="0" blurRad="76200" dist="25400" dir="5400000">
              <a:srgbClr val="000000">
                <a:alpha val="18000"/>
              </a:srgbClr>
            </a:outerShdw>
          </a:effectLst>
        </p:spPr>
      </p:pic>
      <p:sp>
        <p:nvSpPr>
          <p:cNvPr id="6" name="Text 2"/>
          <p:cNvSpPr txBox="1"/>
          <p:nvPr/>
        </p:nvSpPr>
        <p:spPr>
          <a:xfrm>
            <a:off x="457200" y="4114800"/>
            <a:ext cx="3977640" cy="365760"/>
          </a:xfrm>
          <a:prstGeom prst="rect">
            <a:avLst/>
          </a:prstGeom>
          <a:noFill/>
          <a:ln/>
        </p:spPr>
        <p:txBody>
          <a:bodyPr wrap="square" lIns="0" tIns="0" rIns="0" bIns="0" rtlCol="0" anchor="t"/>
          <a:lstStyle/>
          <a:p>
            <a:pPr algn="ctr" indent="0" marL="0">
              <a:buNone/>
            </a:pPr>
            <a:r>
              <a:rPr lang="en-US" sz="1200" dirty="0">
                <a:solidFill>
                  <a:schemeClr val="accent2"/>
                </a:solidFill>
              </a:rPr>
              <a:t>Rod shelf: chrome rods, cross clamps, acrylic or wood sheets</a:t>
            </a:r>
            <a:endParaRPr lang="en-US" sz="1200" dirty="0"/>
          </a:p>
        </p:txBody>
      </p:sp>
      <p:sp>
        <p:nvSpPr>
          <p:cNvPr id="7" name="Text 3"/>
          <p:cNvSpPr txBox="1"/>
          <p:nvPr/>
        </p:nvSpPr>
        <p:spPr>
          <a:xfrm>
            <a:off x="4709160" y="4114800"/>
            <a:ext cx="3977640" cy="365760"/>
          </a:xfrm>
          <a:prstGeom prst="rect">
            <a:avLst/>
          </a:prstGeom>
          <a:noFill/>
          <a:ln/>
        </p:spPr>
        <p:txBody>
          <a:bodyPr wrap="square" lIns="0" tIns="0" rIns="0" bIns="0" rtlCol="0" anchor="t"/>
          <a:lstStyle/>
          <a:p>
            <a:pPr algn="ctr" indent="0" marL="0">
              <a:buNone/>
            </a:pPr>
            <a:r>
              <a:rPr lang="en-US" sz="1200" dirty="0">
                <a:solidFill>
                  <a:schemeClr val="accent2"/>
                </a:solidFill>
              </a:rPr>
              <a:t>Profile desk: T-slot aluminium, brackets, plywood top</a:t>
            </a:r>
            <a:endParaRPr lang="en-US" sz="1200" dirty="0"/>
          </a:p>
        </p:txBody>
      </p:sp>
      <p:sp>
        <p:nvSpPr>
          <p:cNvPr id="25" name="Slide Number Placeholder 0"/>
          <p:cNvSpPr>
            <a:spLocks noGrp="1"/>
          </p:cNvSpPr>
          <p:nvPr>
            <p:ph type="sldNum" sz="quarter" idx="4294967295"/>
          </p:nvPr>
        </p:nvSpPr>
        <p:spPr>
          <a:xfrm>
            <a:off x="850392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40080"/>
          </a:xfrm>
          <a:prstGeom prst="rect">
            <a:avLst/>
          </a:prstGeom>
          <a:noFill/>
          <a:ln/>
        </p:spPr>
        <p:txBody>
          <a:bodyPr wrap="square" lIns="0" tIns="0" rIns="0" bIns="0" rtlCol="0" anchor="ctr"/>
          <a:lstStyle/>
          <a:p>
            <a:pPr algn="l" indent="0" marL="0">
              <a:buNone/>
            </a:pPr>
            <a:r>
              <a:rPr lang="en-US" sz="2400" b="1" dirty="0">
                <a:solidFill>
                  <a:schemeClr val="tx1"/>
                </a:solidFill>
              </a:rPr>
              <a:t>What a configurator gives people</a:t>
            </a:r>
            <a:endParaRPr lang="en-US" sz="2400" dirty="0"/>
          </a:p>
        </p:txBody>
      </p:sp>
      <p:pic>
        <p:nvPicPr>
          <p:cNvPr id="3" name="Shelf at 2000 mm with warnings" descr="small/shelf-wide.jpg">    </p:cNvPr>
          <p:cNvPicPr>
            <a:picLocks noChangeAspect="1"/>
          </p:cNvPicPr>
          <p:nvPr/>
        </p:nvPicPr>
        <p:blipFill>
          <a:blip r:embed="rId1"/>
          <a:stretch>
            <a:fillRect/>
          </a:stretch>
        </p:blipFill>
        <p:spPr>
          <a:xfrm>
            <a:off x="457200" y="1051560"/>
            <a:ext cx="4937760" cy="2819012"/>
          </a:xfrm>
          <a:prstGeom prst="rect">
            <a:avLst/>
          </a:prstGeom>
          <a:effectLst>
            <a:outerShdw sx="100000" sy="100000" kx="0" ky="0" algn="bl" rotWithShape="0" blurRad="76200" dist="25400" dir="5400000">
              <a:srgbClr val="000000">
                <a:alpha val="18000"/>
              </a:srgbClr>
            </a:outerShdw>
          </a:effectLst>
        </p:spPr>
      </p:pic>
      <p:sp>
        <p:nvSpPr>
          <p:cNvPr id="4" name="Text 1"/>
          <p:cNvSpPr txBox="1"/>
          <p:nvPr/>
        </p:nvSpPr>
        <p:spPr>
          <a:xfrm>
            <a:off x="5669280" y="105156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2"/>
          <p:cNvSpPr txBox="1"/>
          <p:nvPr/>
        </p:nvSpPr>
        <p:spPr>
          <a:xfrm>
            <a:off x="6217920" y="1005840"/>
            <a:ext cx="2560320" cy="822960"/>
          </a:xfrm>
          <a:prstGeom prst="rect">
            <a:avLst/>
          </a:prstGeom>
          <a:noFill/>
          <a:ln/>
        </p:spPr>
        <p:txBody>
          <a:bodyPr wrap="square" lIns="0" tIns="0" rIns="0" bIns="0" rtlCol="0" anchor="t"/>
          <a:lstStyle/>
          <a:p>
            <a:pPr indent="0" marL="0">
              <a:buNone/>
            </a:pPr>
            <a:r>
              <a:rPr lang="en-US" sz="1500" b="1" dirty="0">
                <a:solidFill>
                  <a:schemeClr val="tx1"/>
                </a:solidFill>
              </a:rPr>
              <a:t>Settings</a:t>
            </a:r>
            <a:endParaRPr lang="en-US" sz="1400" dirty="0"/>
          </a:p>
          <a:p>
            <a:pPr indent="0" marL="0">
              <a:buNone/>
            </a:pPr>
            <a:r>
              <a:rPr lang="en-US" sz="1300" dirty="0">
                <a:solidFill>
                  <a:schemeClr val="accent2"/>
                </a:solidFill>
              </a:rPr>
              <a:t>Width, depth, height and options, with sensible limits</a:t>
            </a:r>
            <a:endParaRPr lang="en-US" sz="1400" dirty="0"/>
          </a:p>
        </p:txBody>
      </p:sp>
      <p:sp>
        <p:nvSpPr>
          <p:cNvPr id="6" name="Text 3"/>
          <p:cNvSpPr txBox="1"/>
          <p:nvPr/>
        </p:nvSpPr>
        <p:spPr>
          <a:xfrm>
            <a:off x="5669280" y="194767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7" name="Text 4"/>
          <p:cNvSpPr txBox="1"/>
          <p:nvPr/>
        </p:nvSpPr>
        <p:spPr>
          <a:xfrm>
            <a:off x="6217920" y="1901952"/>
            <a:ext cx="2560320" cy="822960"/>
          </a:xfrm>
          <a:prstGeom prst="rect">
            <a:avLst/>
          </a:prstGeom>
          <a:noFill/>
          <a:ln/>
        </p:spPr>
        <p:txBody>
          <a:bodyPr wrap="square" lIns="0" tIns="0" rIns="0" bIns="0" rtlCol="0" anchor="t"/>
          <a:lstStyle/>
          <a:p>
            <a:pPr indent="0" marL="0">
              <a:buNone/>
            </a:pPr>
            <a:r>
              <a:rPr lang="en-US" sz="1500" b="1" dirty="0">
                <a:solidFill>
                  <a:schemeClr val="tx1"/>
                </a:solidFill>
              </a:rPr>
              <a:t>Rules and warnings</a:t>
            </a:r>
            <a:endParaRPr lang="en-US" sz="1400" dirty="0"/>
          </a:p>
          <a:p>
            <a:pPr indent="0" marL="0">
              <a:buNone/>
            </a:pPr>
            <a:r>
              <a:rPr lang="en-US" sz="1300" dirty="0">
                <a:solidFill>
                  <a:schemeClr val="accent2"/>
                </a:solidFill>
              </a:rPr>
              <a:t>At 2000 mm the shelf adds middle columns and warns it still sags</a:t>
            </a:r>
            <a:endParaRPr lang="en-US" sz="1400" dirty="0"/>
          </a:p>
        </p:txBody>
      </p:sp>
      <p:sp>
        <p:nvSpPr>
          <p:cNvPr id="8" name="Text 5"/>
          <p:cNvSpPr txBox="1"/>
          <p:nvPr/>
        </p:nvSpPr>
        <p:spPr>
          <a:xfrm>
            <a:off x="5669280" y="2843784"/>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9" name="Text 6"/>
          <p:cNvSpPr txBox="1"/>
          <p:nvPr/>
        </p:nvSpPr>
        <p:spPr>
          <a:xfrm>
            <a:off x="6217920" y="2798064"/>
            <a:ext cx="2560320" cy="822960"/>
          </a:xfrm>
          <a:prstGeom prst="rect">
            <a:avLst/>
          </a:prstGeom>
          <a:noFill/>
          <a:ln/>
        </p:spPr>
        <p:txBody>
          <a:bodyPr wrap="square" lIns="0" tIns="0" rIns="0" bIns="0" rtlCol="0" anchor="t"/>
          <a:lstStyle/>
          <a:p>
            <a:pPr indent="0" marL="0">
              <a:buNone/>
            </a:pPr>
            <a:r>
              <a:rPr lang="en-US" sz="1500" b="1" dirty="0">
                <a:solidFill>
                  <a:schemeClr val="tx1"/>
                </a:solidFill>
              </a:rPr>
              <a:t>3D preview</a:t>
            </a:r>
            <a:endParaRPr lang="en-US" sz="1400" dirty="0"/>
          </a:p>
          <a:p>
            <a:pPr indent="0" marL="0">
              <a:buNone/>
            </a:pPr>
            <a:r>
              <a:rPr lang="en-US" sz="1300" dirty="0">
                <a:solidFill>
                  <a:schemeClr val="accent2"/>
                </a:solidFill>
              </a:rPr>
              <a:t>Click any part to see what it is and where to buy it</a:t>
            </a:r>
            <a:endParaRPr lang="en-US" sz="1400" dirty="0"/>
          </a:p>
        </p:txBody>
      </p:sp>
      <p:sp>
        <p:nvSpPr>
          <p:cNvPr id="10" name="Text 7"/>
          <p:cNvSpPr txBox="1"/>
          <p:nvPr/>
        </p:nvSpPr>
        <p:spPr>
          <a:xfrm>
            <a:off x="5669280" y="3739896"/>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1" name="Text 8"/>
          <p:cNvSpPr txBox="1"/>
          <p:nvPr/>
        </p:nvSpPr>
        <p:spPr>
          <a:xfrm>
            <a:off x="6217920" y="3694176"/>
            <a:ext cx="2560320" cy="822960"/>
          </a:xfrm>
          <a:prstGeom prst="rect">
            <a:avLst/>
          </a:prstGeom>
          <a:noFill/>
          <a:ln/>
        </p:spPr>
        <p:txBody>
          <a:bodyPr wrap="square" lIns="0" tIns="0" rIns="0" bIns="0" rtlCol="0" anchor="t"/>
          <a:lstStyle/>
          <a:p>
            <a:pPr indent="0" marL="0">
              <a:buNone/>
            </a:pPr>
            <a:r>
              <a:rPr lang="en-US" sz="1500" b="1" dirty="0">
                <a:solidFill>
                  <a:schemeClr val="tx1"/>
                </a:solidFill>
              </a:rPr>
              <a:t>Parts list and PDF</a:t>
            </a:r>
            <a:endParaRPr lang="en-US" sz="1400" dirty="0"/>
          </a:p>
          <a:p>
            <a:pPr indent="0" marL="0">
              <a:buNone/>
            </a:pPr>
            <a:r>
              <a:rPr lang="en-US" sz="1300" dirty="0">
                <a:solidFill>
                  <a:schemeClr val="accent2"/>
                </a:solidFill>
              </a:rPr>
              <a:t>Exact quantities, cut lengths and an IKEA-style build guide</a:t>
            </a:r>
            <a:endParaRPr lang="en-US" sz="1400" dirty="0"/>
          </a:p>
        </p:txBody>
      </p:sp>
      <p:sp>
        <p:nvSpPr>
          <p:cNvPr id="25" name="Slide Number Placeholder 0"/>
          <p:cNvSpPr>
            <a:spLocks noGrp="1"/>
          </p:cNvSpPr>
          <p:nvPr>
            <p:ph type="sldNum" sz="quarter" idx="4294967295"/>
          </p:nvPr>
        </p:nvSpPr>
        <p:spPr>
          <a:xfrm>
            <a:off x="850392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40080"/>
          </a:xfrm>
          <a:prstGeom prst="rect">
            <a:avLst/>
          </a:prstGeom>
          <a:noFill/>
          <a:ln/>
        </p:spPr>
        <p:txBody>
          <a:bodyPr wrap="square" lIns="0" tIns="0" rIns="0" bIns="0" rtlCol="0" anchor="ctr"/>
          <a:lstStyle/>
          <a:p>
            <a:pPr algn="l" indent="0" marL="0">
              <a:buNone/>
            </a:pPr>
            <a:r>
              <a:rPr lang="en-US" sz="2400" b="1" dirty="0">
                <a:solidFill>
                  <a:schemeClr val="tx1"/>
                </a:solidFill>
              </a:rPr>
              <a:t>What is a pull request?</a:t>
            </a:r>
            <a:endParaRPr lang="en-US" sz="2400" dirty="0"/>
          </a:p>
        </p:txBody>
      </p:sp>
      <p:sp>
        <p:nvSpPr>
          <p:cNvPr id="3" name="Text 1"/>
          <p:cNvSpPr txBox="1"/>
          <p:nvPr/>
        </p:nvSpPr>
        <p:spPr>
          <a:xfrm>
            <a:off x="457200" y="1005840"/>
            <a:ext cx="8229600" cy="731520"/>
          </a:xfrm>
          <a:prstGeom prst="rect">
            <a:avLst/>
          </a:prstGeom>
          <a:noFill/>
          <a:ln/>
        </p:spPr>
        <p:txBody>
          <a:bodyPr wrap="square" lIns="0" tIns="0" rIns="0" bIns="0" rtlCol="0" anchor="t"/>
          <a:lstStyle/>
          <a:p>
            <a:pPr indent="0" marL="0">
              <a:buNone/>
            </a:pPr>
            <a:r>
              <a:rPr lang="en-US" sz="1600" b="1" dirty="0">
                <a:solidFill>
                  <a:schemeClr val="tx1"/>
                </a:solidFill>
              </a:rPr>
              <a:t>A pull request (PR) is a proposed change to the site. </a:t>
            </a:r>
            <a:pPr indent="0" marL="0">
              <a:buNone/>
            </a:pPr>
            <a:r>
              <a:rPr lang="en-US" sz="1600" dirty="0">
                <a:solidFill>
                  <a:schemeClr val="tx1"/>
                </a:solidFill>
              </a:rPr>
              <a:t>It holds everything you changed, and once the owner approves it, that change becomes what everyone sees on the site.</a:t>
            </a:r>
            <a:endParaRPr lang="en-US" sz="1600" dirty="0"/>
          </a:p>
        </p:txBody>
      </p:sp>
      <p:sp>
        <p:nvSpPr>
          <p:cNvPr id="4" name="Shape 2"/>
          <p:cNvSpPr/>
          <p:nvPr/>
        </p:nvSpPr>
        <p:spPr>
          <a:xfrm>
            <a:off x="457200" y="2057400"/>
            <a:ext cx="1874520" cy="1828800"/>
          </a:xfrm>
          <a:prstGeom prst="roundRect">
            <a:avLst>
              <a:gd name="adj" fmla="val 4000"/>
            </a:avLst>
          </a:prstGeom>
          <a:solidFill>
            <a:schemeClr val="bg2"/>
          </a:solidFill>
          <a:ln w="12700">
            <a:solidFill>
              <a:schemeClr val="bg2"/>
            </a:solidFill>
            <a:prstDash val="solid"/>
          </a:ln>
        </p:spPr>
      </p:sp>
      <p:sp>
        <p:nvSpPr>
          <p:cNvPr id="5" name="Text 3"/>
          <p:cNvSpPr txBox="1"/>
          <p:nvPr/>
        </p:nvSpPr>
        <p:spPr>
          <a:xfrm>
            <a:off x="1170432" y="2240280"/>
            <a:ext cx="457200" cy="457200"/>
          </a:xfrm>
          <a:prstGeom prst="ellipse">
            <a:avLst/>
          </a:prstGeom>
          <a:solidFill>
            <a:schemeClr val="tx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548640" y="2834640"/>
            <a:ext cx="1691640" cy="1005840"/>
          </a:xfrm>
          <a:prstGeom prst="rect">
            <a:avLst/>
          </a:prstGeom>
          <a:noFill/>
          <a:ln/>
        </p:spPr>
        <p:txBody>
          <a:bodyPr wrap="square" lIns="0" tIns="0" rIns="0" bIns="0" rtlCol="0" anchor="t"/>
          <a:lstStyle/>
          <a:p>
            <a:pPr algn="ctr" indent="0" marL="0">
              <a:buNone/>
            </a:pPr>
            <a:r>
              <a:rPr lang="en-US" sz="1500" b="1" dirty="0">
                <a:solidFill>
                  <a:schemeClr val="tx1"/>
                </a:solidFill>
              </a:rPr>
              <a:t>Your change</a:t>
            </a:r>
            <a:endParaRPr lang="en-US" sz="1400" dirty="0"/>
          </a:p>
          <a:p>
            <a:pPr algn="ctr" indent="0" marL="0">
              <a:buNone/>
            </a:pPr>
            <a:r>
              <a:rPr lang="en-US" sz="1200" dirty="0">
                <a:solidFill>
                  <a:schemeClr val="accent2"/>
                </a:solidFill>
              </a:rPr>
              <a:t>A new piece, an option, a fix</a:t>
            </a:r>
            <a:endParaRPr lang="en-US" sz="1400" dirty="0"/>
          </a:p>
        </p:txBody>
      </p:sp>
      <p:sp>
        <p:nvSpPr>
          <p:cNvPr id="7" name="Shape 5"/>
          <p:cNvSpPr/>
          <p:nvPr/>
        </p:nvSpPr>
        <p:spPr>
          <a:xfrm>
            <a:off x="2350008" y="2971800"/>
            <a:ext cx="219456" cy="0"/>
          </a:xfrm>
          <a:prstGeom prst="line">
            <a:avLst/>
          </a:prstGeom>
          <a:noFill/>
          <a:ln w="19050">
            <a:solidFill>
              <a:schemeClr val="accent3"/>
            </a:solidFill>
            <a:prstDash val="solid"/>
            <a:tailEnd type="triangle"/>
          </a:ln>
        </p:spPr>
      </p:sp>
      <p:sp>
        <p:nvSpPr>
          <p:cNvPr id="8" name="Shape 6"/>
          <p:cNvSpPr/>
          <p:nvPr/>
        </p:nvSpPr>
        <p:spPr>
          <a:xfrm>
            <a:off x="2587752" y="2057400"/>
            <a:ext cx="1874520" cy="1828800"/>
          </a:xfrm>
          <a:prstGeom prst="roundRect">
            <a:avLst>
              <a:gd name="adj" fmla="val 4000"/>
            </a:avLst>
          </a:prstGeom>
          <a:solidFill>
            <a:schemeClr val="bg2"/>
          </a:solidFill>
          <a:ln w="12700">
            <a:solidFill>
              <a:schemeClr val="bg2"/>
            </a:solidFill>
            <a:prstDash val="solid"/>
          </a:ln>
        </p:spPr>
      </p:sp>
      <p:sp>
        <p:nvSpPr>
          <p:cNvPr id="9" name="Text 7"/>
          <p:cNvSpPr txBox="1"/>
          <p:nvPr/>
        </p:nvSpPr>
        <p:spPr>
          <a:xfrm>
            <a:off x="3300984" y="224028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2679192" y="2834640"/>
            <a:ext cx="1691640" cy="1005840"/>
          </a:xfrm>
          <a:prstGeom prst="rect">
            <a:avLst/>
          </a:prstGeom>
          <a:noFill/>
          <a:ln/>
        </p:spPr>
        <p:txBody>
          <a:bodyPr wrap="square" lIns="0" tIns="0" rIns="0" bIns="0" rtlCol="0" anchor="t"/>
          <a:lstStyle/>
          <a:p>
            <a:pPr algn="ctr" indent="0" marL="0">
              <a:buNone/>
            </a:pPr>
            <a:r>
              <a:rPr lang="en-US" sz="1500" b="1" dirty="0">
                <a:solidFill>
                  <a:schemeClr val="tx1"/>
                </a:solidFill>
              </a:rPr>
              <a:t>Pull request</a:t>
            </a:r>
            <a:endParaRPr lang="en-US" sz="1400" dirty="0"/>
          </a:p>
          <a:p>
            <a:pPr algn="ctr" indent="0" marL="0">
              <a:buNone/>
            </a:pPr>
            <a:r>
              <a:rPr lang="en-US" sz="1200" dirty="0">
                <a:solidFill>
                  <a:schemeClr val="accent2"/>
                </a:solidFill>
              </a:rPr>
              <a:t>The change, wrapped up with screenshots and notes</a:t>
            </a:r>
            <a:endParaRPr lang="en-US" sz="1400" dirty="0"/>
          </a:p>
        </p:txBody>
      </p:sp>
      <p:sp>
        <p:nvSpPr>
          <p:cNvPr id="11" name="Shape 9"/>
          <p:cNvSpPr/>
          <p:nvPr/>
        </p:nvSpPr>
        <p:spPr>
          <a:xfrm>
            <a:off x="4480560" y="2971800"/>
            <a:ext cx="219456" cy="0"/>
          </a:xfrm>
          <a:prstGeom prst="line">
            <a:avLst/>
          </a:prstGeom>
          <a:noFill/>
          <a:ln w="19050">
            <a:solidFill>
              <a:schemeClr val="accent3"/>
            </a:solidFill>
            <a:prstDash val="solid"/>
            <a:tailEnd type="triangle"/>
          </a:ln>
        </p:spPr>
      </p:sp>
      <p:sp>
        <p:nvSpPr>
          <p:cNvPr id="12" name="Shape 10"/>
          <p:cNvSpPr/>
          <p:nvPr/>
        </p:nvSpPr>
        <p:spPr>
          <a:xfrm>
            <a:off x="4718304" y="2057400"/>
            <a:ext cx="1874520" cy="1828800"/>
          </a:xfrm>
          <a:prstGeom prst="roundRect">
            <a:avLst>
              <a:gd name="adj" fmla="val 4000"/>
            </a:avLst>
          </a:prstGeom>
          <a:solidFill>
            <a:schemeClr val="bg2"/>
          </a:solidFill>
          <a:ln w="12700">
            <a:solidFill>
              <a:schemeClr val="bg2"/>
            </a:solidFill>
            <a:prstDash val="solid"/>
          </a:ln>
        </p:spPr>
      </p:sp>
      <p:sp>
        <p:nvSpPr>
          <p:cNvPr id="13" name="Text 11"/>
          <p:cNvSpPr txBox="1"/>
          <p:nvPr/>
        </p:nvSpPr>
        <p:spPr>
          <a:xfrm>
            <a:off x="5431536" y="2240280"/>
            <a:ext cx="457200" cy="457200"/>
          </a:xfrm>
          <a:prstGeom prst="ellipse">
            <a:avLst/>
          </a:prstGeom>
          <a:solidFill>
            <a:schemeClr val="tx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2"/>
          <p:cNvSpPr txBox="1"/>
          <p:nvPr/>
        </p:nvSpPr>
        <p:spPr>
          <a:xfrm>
            <a:off x="4809744" y="2834640"/>
            <a:ext cx="1691640" cy="1005840"/>
          </a:xfrm>
          <a:prstGeom prst="rect">
            <a:avLst/>
          </a:prstGeom>
          <a:noFill/>
          <a:ln/>
        </p:spPr>
        <p:txBody>
          <a:bodyPr wrap="square" lIns="0" tIns="0" rIns="0" bIns="0" rtlCol="0" anchor="t"/>
          <a:lstStyle/>
          <a:p>
            <a:pPr algn="ctr" indent="0" marL="0">
              <a:buNone/>
            </a:pPr>
            <a:r>
              <a:rPr lang="en-US" sz="1500" b="1" dirty="0">
                <a:solidFill>
                  <a:schemeClr val="tx1"/>
                </a:solidFill>
              </a:rPr>
              <a:t>Owner reviews</a:t>
            </a:r>
            <a:endParaRPr lang="en-US" sz="1400" dirty="0"/>
          </a:p>
          <a:p>
            <a:pPr algn="ctr" indent="0" marL="0">
              <a:buNone/>
            </a:pPr>
            <a:r>
              <a:rPr lang="en-US" sz="1200" dirty="0">
                <a:solidFill>
                  <a:schemeClr val="accent2"/>
                </a:solidFill>
              </a:rPr>
              <a:t>Reads it, asks questions, approves</a:t>
            </a:r>
            <a:endParaRPr lang="en-US" sz="1400" dirty="0"/>
          </a:p>
        </p:txBody>
      </p:sp>
      <p:sp>
        <p:nvSpPr>
          <p:cNvPr id="15" name="Shape 13"/>
          <p:cNvSpPr/>
          <p:nvPr/>
        </p:nvSpPr>
        <p:spPr>
          <a:xfrm>
            <a:off x="6611112" y="2971800"/>
            <a:ext cx="219456" cy="0"/>
          </a:xfrm>
          <a:prstGeom prst="line">
            <a:avLst/>
          </a:prstGeom>
          <a:noFill/>
          <a:ln w="19050">
            <a:solidFill>
              <a:schemeClr val="accent3"/>
            </a:solidFill>
            <a:prstDash val="solid"/>
            <a:tailEnd type="triangle"/>
          </a:ln>
        </p:spPr>
      </p:sp>
      <p:sp>
        <p:nvSpPr>
          <p:cNvPr id="16" name="Shape 14"/>
          <p:cNvSpPr/>
          <p:nvPr/>
        </p:nvSpPr>
        <p:spPr>
          <a:xfrm>
            <a:off x="6848856" y="2057400"/>
            <a:ext cx="1874520" cy="1828800"/>
          </a:xfrm>
          <a:prstGeom prst="roundRect">
            <a:avLst>
              <a:gd name="adj" fmla="val 4000"/>
            </a:avLst>
          </a:prstGeom>
          <a:solidFill>
            <a:schemeClr val="tx2"/>
          </a:solidFill>
          <a:ln w="12700">
            <a:solidFill>
              <a:schemeClr val="tx2"/>
            </a:solidFill>
            <a:prstDash val="solid"/>
          </a:ln>
        </p:spPr>
      </p:sp>
      <p:sp>
        <p:nvSpPr>
          <p:cNvPr id="17" name="Text 15"/>
          <p:cNvSpPr txBox="1"/>
          <p:nvPr/>
        </p:nvSpPr>
        <p:spPr>
          <a:xfrm>
            <a:off x="7562088" y="224028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Text 16"/>
          <p:cNvSpPr txBox="1"/>
          <p:nvPr/>
        </p:nvSpPr>
        <p:spPr>
          <a:xfrm>
            <a:off x="6940296" y="2834640"/>
            <a:ext cx="1691640" cy="1005840"/>
          </a:xfrm>
          <a:prstGeom prst="rect">
            <a:avLst/>
          </a:prstGeom>
          <a:noFill/>
          <a:ln/>
        </p:spPr>
        <p:txBody>
          <a:bodyPr wrap="square" lIns="0" tIns="0" rIns="0" bIns="0" rtlCol="0" anchor="t"/>
          <a:lstStyle/>
          <a:p>
            <a:pPr algn="ctr" indent="0" marL="0">
              <a:buNone/>
            </a:pPr>
            <a:r>
              <a:rPr lang="en-US" sz="1500" b="1" dirty="0">
                <a:solidFill>
                  <a:schemeClr val="bg1"/>
                </a:solidFill>
              </a:rPr>
              <a:t>Live on the site</a:t>
            </a:r>
            <a:endParaRPr lang="en-US" sz="1400" dirty="0"/>
          </a:p>
          <a:p>
            <a:pPr algn="ctr" indent="0" marL="0">
              <a:buNone/>
            </a:pPr>
            <a:r>
              <a:rPr lang="en-US" sz="1200" dirty="0">
                <a:solidFill>
                  <a:schemeClr val="accent4"/>
                </a:solidFill>
              </a:rPr>
              <a:t>Everyone sees it</a:t>
            </a:r>
            <a:endParaRPr lang="en-US" sz="1400" dirty="0"/>
          </a:p>
        </p:txBody>
      </p:sp>
      <p:sp>
        <p:nvSpPr>
          <p:cNvPr id="19" name="Text 17"/>
          <p:cNvSpPr txBox="1"/>
          <p:nvPr/>
        </p:nvSpPr>
        <p:spPr>
          <a:xfrm>
            <a:off x="457200" y="4114800"/>
            <a:ext cx="8229600" cy="411480"/>
          </a:xfrm>
          <a:prstGeom prst="rect">
            <a:avLst/>
          </a:prstGeom>
          <a:noFill/>
          <a:ln/>
        </p:spPr>
        <p:txBody>
          <a:bodyPr wrap="square" lIns="0" tIns="0" rIns="0" bIns="0" rtlCol="0" anchor="t"/>
          <a:lstStyle/>
          <a:p>
            <a:pPr indent="0" marL="0">
              <a:buNone/>
            </a:pPr>
            <a:r>
              <a:rPr lang="en-US" sz="1400" dirty="0">
                <a:solidFill>
                  <a:schemeClr val="accent2"/>
                </a:solidFill>
              </a:rPr>
              <a:t>Nothing reaches the real site until the owner says yes, so you can't break anything.</a:t>
            </a:r>
            <a:endParaRPr lang="en-US" sz="1400" dirty="0"/>
          </a:p>
        </p:txBody>
      </p:sp>
      <p:sp>
        <p:nvSpPr>
          <p:cNvPr id="25" name="Slide Number Placeholder 0"/>
          <p:cNvSpPr>
            <a:spLocks noGrp="1"/>
          </p:cNvSpPr>
          <p:nvPr>
            <p:ph type="sldNum" sz="quarter" idx="4294967295"/>
          </p:nvPr>
        </p:nvSpPr>
        <p:spPr>
          <a:xfrm>
            <a:off x="850392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40080"/>
          </a:xfrm>
          <a:prstGeom prst="rect">
            <a:avLst/>
          </a:prstGeom>
          <a:noFill/>
          <a:ln/>
        </p:spPr>
        <p:txBody>
          <a:bodyPr wrap="square" lIns="0" tIns="0" rIns="0" bIns="0" rtlCol="0" anchor="ctr"/>
          <a:lstStyle/>
          <a:p>
            <a:pPr algn="l" indent="0" marL="0">
              <a:buNone/>
            </a:pPr>
            <a:r>
              <a:rPr lang="en-US" sz="2400" b="1" dirty="0">
                <a:solidFill>
                  <a:schemeClr val="tx1"/>
                </a:solidFill>
              </a:rPr>
              <a:t>The goal: try it first</a:t>
            </a:r>
            <a:endParaRPr lang="en-US" sz="2400" dirty="0"/>
          </a:p>
        </p:txBody>
      </p:sp>
      <p:sp>
        <p:nvSpPr>
          <p:cNvPr id="3" name="Shape 1"/>
          <p:cNvSpPr/>
          <p:nvPr/>
        </p:nvSpPr>
        <p:spPr>
          <a:xfrm>
            <a:off x="457200" y="1143000"/>
            <a:ext cx="1874520" cy="2286000"/>
          </a:xfrm>
          <a:prstGeom prst="roundRect">
            <a:avLst>
              <a:gd name="adj" fmla="val 3902"/>
            </a:avLst>
          </a:prstGeom>
          <a:solidFill>
            <a:schemeClr val="bg2"/>
          </a:solidFill>
          <a:ln w="12700">
            <a:solidFill>
              <a:schemeClr val="bg2"/>
            </a:solidFill>
            <a:prstDash val="solid"/>
          </a:ln>
        </p:spPr>
      </p:sp>
      <p:sp>
        <p:nvSpPr>
          <p:cNvPr id="4" name="Text 2"/>
          <p:cNvSpPr txBox="1"/>
          <p:nvPr/>
        </p:nvSpPr>
        <p:spPr>
          <a:xfrm>
            <a:off x="685800" y="1325880"/>
            <a:ext cx="457200" cy="457200"/>
          </a:xfrm>
          <a:prstGeom prst="ellipse">
            <a:avLst/>
          </a:prstGeom>
          <a:solidFill>
            <a:schemeClr val="tx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640080" y="1920240"/>
            <a:ext cx="1554480" cy="1463040"/>
          </a:xfrm>
          <a:prstGeom prst="rect">
            <a:avLst/>
          </a:prstGeom>
          <a:noFill/>
          <a:ln/>
        </p:spPr>
        <p:txBody>
          <a:bodyPr wrap="square" lIns="0" tIns="0" rIns="0" bIns="0" rtlCol="0" anchor="t"/>
          <a:lstStyle/>
          <a:p>
            <a:pPr indent="0" marL="0">
              <a:buNone/>
            </a:pPr>
            <a:r>
              <a:rPr lang="en-US" sz="1600" b="1" dirty="0">
                <a:solidFill>
                  <a:schemeClr val="tx1"/>
                </a:solidFill>
              </a:rPr>
              <a:t>See it</a:t>
            </a:r>
            <a:endParaRPr lang="en-US" sz="1400" dirty="0"/>
          </a:p>
          <a:p>
            <a:pPr indent="0" marL="0">
              <a:buNone/>
            </a:pPr>
            <a:r>
              <a:rPr lang="en-US" sz="1300" dirty="0">
                <a:solidFill>
                  <a:schemeClr val="accent2"/>
                </a:solidFill>
              </a:rPr>
              <a:t>Claude runs a private copy of the site on your computer. Not the real one.</a:t>
            </a:r>
            <a:endParaRPr lang="en-US" sz="1400" dirty="0"/>
          </a:p>
        </p:txBody>
      </p:sp>
      <p:sp>
        <p:nvSpPr>
          <p:cNvPr id="6" name="Shape 4"/>
          <p:cNvSpPr/>
          <p:nvPr/>
        </p:nvSpPr>
        <p:spPr>
          <a:xfrm>
            <a:off x="2350008" y="2286000"/>
            <a:ext cx="219456" cy="0"/>
          </a:xfrm>
          <a:prstGeom prst="line">
            <a:avLst/>
          </a:prstGeom>
          <a:noFill/>
          <a:ln w="19050">
            <a:solidFill>
              <a:schemeClr val="accent3"/>
            </a:solidFill>
            <a:prstDash val="solid"/>
            <a:tailEnd type="triangle"/>
          </a:ln>
        </p:spPr>
      </p:sp>
      <p:sp>
        <p:nvSpPr>
          <p:cNvPr id="7" name="Shape 5"/>
          <p:cNvSpPr/>
          <p:nvPr/>
        </p:nvSpPr>
        <p:spPr>
          <a:xfrm>
            <a:off x="2587752" y="1143000"/>
            <a:ext cx="1874520" cy="2286000"/>
          </a:xfrm>
          <a:prstGeom prst="roundRect">
            <a:avLst>
              <a:gd name="adj" fmla="val 3902"/>
            </a:avLst>
          </a:prstGeom>
          <a:solidFill>
            <a:schemeClr val="bg2"/>
          </a:solidFill>
          <a:ln w="12700">
            <a:solidFill>
              <a:schemeClr val="bg2"/>
            </a:solidFill>
            <a:prstDash val="solid"/>
          </a:ln>
        </p:spPr>
      </p:sp>
      <p:sp>
        <p:nvSpPr>
          <p:cNvPr id="8" name="Text 6"/>
          <p:cNvSpPr txBox="1"/>
          <p:nvPr/>
        </p:nvSpPr>
        <p:spPr>
          <a:xfrm>
            <a:off x="2816352" y="1325880"/>
            <a:ext cx="457200" cy="457200"/>
          </a:xfrm>
          <a:prstGeom prst="ellipse">
            <a:avLst/>
          </a:prstGeom>
          <a:solidFill>
            <a:schemeClr val="tx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2770632" y="1920240"/>
            <a:ext cx="1554480" cy="1463040"/>
          </a:xfrm>
          <a:prstGeom prst="rect">
            <a:avLst/>
          </a:prstGeom>
          <a:noFill/>
          <a:ln/>
        </p:spPr>
        <p:txBody>
          <a:bodyPr wrap="square" lIns="0" tIns="0" rIns="0" bIns="0" rtlCol="0" anchor="t"/>
          <a:lstStyle/>
          <a:p>
            <a:pPr indent="0" marL="0">
              <a:buNone/>
            </a:pPr>
            <a:r>
              <a:rPr lang="en-US" sz="1600" b="1" dirty="0">
                <a:solidFill>
                  <a:schemeClr val="tx1"/>
                </a:solidFill>
              </a:rPr>
              <a:t>Try it</a:t>
            </a:r>
            <a:endParaRPr lang="en-US" sz="1400" dirty="0"/>
          </a:p>
          <a:p>
            <a:pPr indent="0" marL="0">
              <a:buNone/>
            </a:pPr>
            <a:r>
              <a:rPr lang="en-US" sz="1300" dirty="0">
                <a:solidFill>
                  <a:schemeClr val="accent2"/>
                </a:solidFill>
              </a:rPr>
              <a:t>Open it in your browser and use it like a visitor would.</a:t>
            </a:r>
            <a:endParaRPr lang="en-US" sz="1400" dirty="0"/>
          </a:p>
        </p:txBody>
      </p:sp>
      <p:sp>
        <p:nvSpPr>
          <p:cNvPr id="10" name="Shape 8"/>
          <p:cNvSpPr/>
          <p:nvPr/>
        </p:nvSpPr>
        <p:spPr>
          <a:xfrm>
            <a:off x="4480560" y="2286000"/>
            <a:ext cx="219456" cy="0"/>
          </a:xfrm>
          <a:prstGeom prst="line">
            <a:avLst/>
          </a:prstGeom>
          <a:noFill/>
          <a:ln w="19050">
            <a:solidFill>
              <a:schemeClr val="accent3"/>
            </a:solidFill>
            <a:prstDash val="solid"/>
            <a:tailEnd type="triangle"/>
          </a:ln>
        </p:spPr>
      </p:sp>
      <p:sp>
        <p:nvSpPr>
          <p:cNvPr id="11" name="Shape 9"/>
          <p:cNvSpPr/>
          <p:nvPr/>
        </p:nvSpPr>
        <p:spPr>
          <a:xfrm>
            <a:off x="4718304" y="1143000"/>
            <a:ext cx="1874520" cy="2286000"/>
          </a:xfrm>
          <a:prstGeom prst="roundRect">
            <a:avLst>
              <a:gd name="adj" fmla="val 3902"/>
            </a:avLst>
          </a:prstGeom>
          <a:solidFill>
            <a:schemeClr val="bg2"/>
          </a:solidFill>
          <a:ln w="12700">
            <a:solidFill>
              <a:schemeClr val="bg2"/>
            </a:solidFill>
            <a:prstDash val="solid"/>
          </a:ln>
        </p:spPr>
      </p:sp>
      <p:sp>
        <p:nvSpPr>
          <p:cNvPr id="12" name="Text 10"/>
          <p:cNvSpPr txBox="1"/>
          <p:nvPr/>
        </p:nvSpPr>
        <p:spPr>
          <a:xfrm>
            <a:off x="4946904" y="1325880"/>
            <a:ext cx="457200" cy="457200"/>
          </a:xfrm>
          <a:prstGeom prst="ellipse">
            <a:avLst/>
          </a:prstGeom>
          <a:solidFill>
            <a:schemeClr val="tx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4901184" y="1920240"/>
            <a:ext cx="1554480" cy="1463040"/>
          </a:xfrm>
          <a:prstGeom prst="rect">
            <a:avLst/>
          </a:prstGeom>
          <a:noFill/>
          <a:ln/>
        </p:spPr>
        <p:txBody>
          <a:bodyPr wrap="square" lIns="0" tIns="0" rIns="0" bIns="0" rtlCol="0" anchor="t"/>
          <a:lstStyle/>
          <a:p>
            <a:pPr indent="0" marL="0">
              <a:buNone/>
            </a:pPr>
            <a:r>
              <a:rPr lang="en-US" sz="1600" b="1" dirty="0">
                <a:solidFill>
                  <a:schemeClr val="tx1"/>
                </a:solidFill>
              </a:rPr>
              <a:t>Improve it</a:t>
            </a:r>
            <a:endParaRPr lang="en-US" sz="1400" dirty="0"/>
          </a:p>
          <a:p>
            <a:pPr indent="0" marL="0">
              <a:buNone/>
            </a:pPr>
            <a:r>
              <a:rPr lang="en-US" sz="1300" dirty="0">
                <a:solidFill>
                  <a:schemeClr val="accent2"/>
                </a:solidFill>
              </a:rPr>
              <a:t>Tell Claude what to change, in plain words. Refresh, look again.</a:t>
            </a:r>
            <a:endParaRPr lang="en-US" sz="1400" dirty="0"/>
          </a:p>
        </p:txBody>
      </p:sp>
      <p:sp>
        <p:nvSpPr>
          <p:cNvPr id="14" name="Shape 12"/>
          <p:cNvSpPr/>
          <p:nvPr/>
        </p:nvSpPr>
        <p:spPr>
          <a:xfrm>
            <a:off x="6611112" y="2286000"/>
            <a:ext cx="219456" cy="0"/>
          </a:xfrm>
          <a:prstGeom prst="line">
            <a:avLst/>
          </a:prstGeom>
          <a:noFill/>
          <a:ln w="19050">
            <a:solidFill>
              <a:schemeClr val="accent3"/>
            </a:solidFill>
            <a:prstDash val="solid"/>
            <a:tailEnd type="triangle"/>
          </a:ln>
        </p:spPr>
      </p:sp>
      <p:sp>
        <p:nvSpPr>
          <p:cNvPr id="15" name="Shape 13"/>
          <p:cNvSpPr/>
          <p:nvPr/>
        </p:nvSpPr>
        <p:spPr>
          <a:xfrm>
            <a:off x="6848856" y="1143000"/>
            <a:ext cx="1874520" cy="2286000"/>
          </a:xfrm>
          <a:prstGeom prst="roundRect">
            <a:avLst>
              <a:gd name="adj" fmla="val 3902"/>
            </a:avLst>
          </a:prstGeom>
          <a:solidFill>
            <a:schemeClr val="tx2"/>
          </a:solidFill>
          <a:ln w="12700">
            <a:solidFill>
              <a:schemeClr val="tx2"/>
            </a:solidFill>
            <a:prstDash val="solid"/>
          </a:ln>
        </p:spPr>
      </p:sp>
      <p:sp>
        <p:nvSpPr>
          <p:cNvPr id="16" name="Text 14"/>
          <p:cNvSpPr txBox="1"/>
          <p:nvPr/>
        </p:nvSpPr>
        <p:spPr>
          <a:xfrm>
            <a:off x="7077456" y="132588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 15"/>
          <p:cNvSpPr txBox="1"/>
          <p:nvPr/>
        </p:nvSpPr>
        <p:spPr>
          <a:xfrm>
            <a:off x="7031736" y="1920240"/>
            <a:ext cx="1554480" cy="1463040"/>
          </a:xfrm>
          <a:prstGeom prst="rect">
            <a:avLst/>
          </a:prstGeom>
          <a:noFill/>
          <a:ln/>
        </p:spPr>
        <p:txBody>
          <a:bodyPr wrap="square" lIns="0" tIns="0" rIns="0" bIns="0" rtlCol="0" anchor="t"/>
          <a:lstStyle/>
          <a:p>
            <a:pPr indent="0" marL="0">
              <a:buNone/>
            </a:pPr>
            <a:r>
              <a:rPr lang="en-US" sz="1600" b="1" dirty="0">
                <a:solidFill>
                  <a:schemeClr val="bg1"/>
                </a:solidFill>
              </a:rPr>
              <a:t>Send it</a:t>
            </a:r>
            <a:endParaRPr lang="en-US" sz="1400" dirty="0"/>
          </a:p>
          <a:p>
            <a:pPr indent="0" marL="0">
              <a:buNone/>
            </a:pPr>
            <a:r>
              <a:rPr lang="en-US" sz="1300" dirty="0">
                <a:solidFill>
                  <a:schemeClr val="accent4"/>
                </a:solidFill>
              </a:rPr>
              <a:t>When you're happy, Claude creates the pull request.</a:t>
            </a:r>
            <a:endParaRPr lang="en-US" sz="1400" dirty="0"/>
          </a:p>
        </p:txBody>
      </p:sp>
      <p:sp>
        <p:nvSpPr>
          <p:cNvPr id="18" name="Shape 16"/>
          <p:cNvSpPr/>
          <p:nvPr/>
        </p:nvSpPr>
        <p:spPr>
          <a:xfrm>
            <a:off x="2587752" y="3611880"/>
            <a:ext cx="4023360" cy="502920"/>
          </a:xfrm>
          <a:prstGeom prst="roundRect">
            <a:avLst>
              <a:gd name="adj" fmla="val 14545"/>
            </a:avLst>
          </a:prstGeom>
          <a:solidFill>
            <a:schemeClr val="bg1"/>
          </a:solidFill>
          <a:ln w="19050">
            <a:solidFill>
              <a:schemeClr val="accent1"/>
            </a:solidFill>
            <a:prstDash val="dash"/>
          </a:ln>
        </p:spPr>
      </p:sp>
      <p:sp>
        <p:nvSpPr>
          <p:cNvPr id="19" name="Text 17"/>
          <p:cNvSpPr txBox="1"/>
          <p:nvPr/>
        </p:nvSpPr>
        <p:spPr>
          <a:xfrm>
            <a:off x="2587752" y="3611880"/>
            <a:ext cx="4023360" cy="502920"/>
          </a:xfrm>
          <a:prstGeom prst="rect">
            <a:avLst/>
          </a:prstGeom>
          <a:noFill/>
          <a:ln/>
        </p:spPr>
        <p:txBody>
          <a:bodyPr wrap="square" lIns="0" tIns="0" rIns="0" bIns="0" rtlCol="0" anchor="ctr"/>
          <a:lstStyle/>
          <a:p>
            <a:pPr algn="ctr" indent="0" marL="0">
              <a:buNone/>
            </a:pPr>
            <a:r>
              <a:rPr lang="en-US" sz="1400" b="1" dirty="0">
                <a:solidFill>
                  <a:schemeClr val="accent1"/>
                </a:solidFill>
              </a:rPr>
              <a:t>↻  Repeat 2 and 3 as often as you like</a:t>
            </a:r>
            <a:endParaRPr lang="en-US" sz="1400" dirty="0"/>
          </a:p>
        </p:txBody>
      </p:sp>
      <p:sp>
        <p:nvSpPr>
          <p:cNvPr id="20" name="Text 18"/>
          <p:cNvSpPr txBox="1"/>
          <p:nvPr/>
        </p:nvSpPr>
        <p:spPr>
          <a:xfrm>
            <a:off x="457200" y="4297680"/>
            <a:ext cx="8229600" cy="365760"/>
          </a:xfrm>
          <a:prstGeom prst="rect">
            <a:avLst/>
          </a:prstGeom>
          <a:noFill/>
          <a:ln/>
        </p:spPr>
        <p:txBody>
          <a:bodyPr wrap="square" lIns="0" tIns="0" rIns="0" bIns="0" rtlCol="0" anchor="t"/>
          <a:lstStyle/>
          <a:p>
            <a:pPr indent="0" marL="0">
              <a:buNone/>
            </a:pPr>
            <a:r>
              <a:rPr lang="en-US" sz="1200" dirty="0">
                <a:solidFill>
                  <a:schemeClr val="accent2"/>
                </a:solidFill>
              </a:rPr>
              <a:t>This private copy is a "non-production" version: production is the real site everyone uses.</a:t>
            </a:r>
            <a:endParaRPr lang="en-US" sz="1200" dirty="0"/>
          </a:p>
        </p:txBody>
      </p:sp>
      <p:sp>
        <p:nvSpPr>
          <p:cNvPr id="25" name="Slide Number Placeholder 0"/>
          <p:cNvSpPr>
            <a:spLocks noGrp="1"/>
          </p:cNvSpPr>
          <p:nvPr>
            <p:ph type="sldNum" sz="quarter" idx="4294967295"/>
          </p:nvPr>
        </p:nvSpPr>
        <p:spPr>
          <a:xfrm>
            <a:off x="850392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40080"/>
          </a:xfrm>
          <a:prstGeom prst="rect">
            <a:avLst/>
          </a:prstGeom>
          <a:noFill/>
          <a:ln/>
        </p:spPr>
        <p:txBody>
          <a:bodyPr wrap="square" lIns="0" tIns="0" rIns="0" bIns="0" rtlCol="0" anchor="ctr"/>
          <a:lstStyle/>
          <a:p>
            <a:pPr algn="l" indent="0" marL="0">
              <a:buNone/>
            </a:pPr>
            <a:r>
              <a:rPr lang="en-US" sz="2400" b="1" dirty="0">
                <a:solidFill>
                  <a:schemeClr val="tx1"/>
                </a:solidFill>
              </a:rPr>
              <a:t>You design, Claude builds</a:t>
            </a:r>
            <a:endParaRPr lang="en-US" sz="2400" dirty="0"/>
          </a:p>
        </p:txBody>
      </p:sp>
      <p:sp>
        <p:nvSpPr>
          <p:cNvPr id="3" name="Shape 1"/>
          <p:cNvSpPr/>
          <p:nvPr/>
        </p:nvSpPr>
        <p:spPr>
          <a:xfrm>
            <a:off x="457200" y="1097280"/>
            <a:ext cx="3931920" cy="3200400"/>
          </a:xfrm>
          <a:prstGeom prst="roundRect">
            <a:avLst>
              <a:gd name="adj" fmla="val 2286"/>
            </a:avLst>
          </a:prstGeom>
          <a:solidFill>
            <a:schemeClr val="bg2"/>
          </a:solidFill>
          <a:ln w="12700">
            <a:solidFill>
              <a:schemeClr val="bg2"/>
            </a:solidFill>
            <a:prstDash val="solid"/>
          </a:ln>
        </p:spPr>
      </p:sp>
      <p:sp>
        <p:nvSpPr>
          <p:cNvPr id="4" name="Shape 2"/>
          <p:cNvSpPr/>
          <p:nvPr/>
        </p:nvSpPr>
        <p:spPr>
          <a:xfrm>
            <a:off x="4754880" y="1097280"/>
            <a:ext cx="3931920" cy="3200400"/>
          </a:xfrm>
          <a:prstGeom prst="roundRect">
            <a:avLst>
              <a:gd name="adj" fmla="val 2286"/>
            </a:avLst>
          </a:prstGeom>
          <a:solidFill>
            <a:schemeClr val="tx2"/>
          </a:solidFill>
          <a:ln w="12700">
            <a:solidFill>
              <a:schemeClr val="tx2"/>
            </a:solidFill>
            <a:prstDash val="solid"/>
          </a:ln>
        </p:spPr>
      </p:sp>
      <p:sp>
        <p:nvSpPr>
          <p:cNvPr id="5" name="Text 3"/>
          <p:cNvSpPr txBox="1"/>
          <p:nvPr/>
        </p:nvSpPr>
        <p:spPr>
          <a:xfrm>
            <a:off x="731520" y="1280160"/>
            <a:ext cx="3474720" cy="365760"/>
          </a:xfrm>
          <a:prstGeom prst="rect">
            <a:avLst/>
          </a:prstGeom>
          <a:noFill/>
          <a:ln/>
        </p:spPr>
        <p:txBody>
          <a:bodyPr wrap="square" lIns="0" tIns="0" rIns="0" bIns="0" rtlCol="0" anchor="t"/>
          <a:lstStyle/>
          <a:p>
            <a:pPr indent="0" marL="0">
              <a:buNone/>
            </a:pPr>
            <a:r>
              <a:rPr lang="en-US" sz="1800" b="1" dirty="0">
                <a:solidFill>
                  <a:schemeClr val="tx1"/>
                </a:solidFill>
              </a:rPr>
              <a:t>You, the designer</a:t>
            </a:r>
            <a:endParaRPr lang="en-US" sz="1800" dirty="0"/>
          </a:p>
        </p:txBody>
      </p:sp>
      <p:sp>
        <p:nvSpPr>
          <p:cNvPr id="6" name="Text 4"/>
          <p:cNvSpPr txBox="1"/>
          <p:nvPr/>
        </p:nvSpPr>
        <p:spPr>
          <a:xfrm>
            <a:off x="731520" y="1783080"/>
            <a:ext cx="347472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What the piece is and how it looks</a:t>
            </a:r>
            <a:endParaRPr lang="en-US" sz="1400" dirty="0"/>
          </a:p>
          <a:p>
            <a:pPr marL="342900" indent="-342900">
              <a:spcAft>
                <a:spcPts val="800"/>
              </a:spcAft>
              <a:buSzPct val="100000"/>
              <a:buChar char="•"/>
            </a:pPr>
            <a:r>
              <a:rPr lang="en-US" sz="1400" dirty="0">
                <a:solidFill>
                  <a:schemeClr val="tx1"/>
                </a:solidFill>
              </a:rPr>
              <a:t>Which real parts to buy, and their sizes</a:t>
            </a:r>
            <a:endParaRPr lang="en-US" sz="1400" dirty="0"/>
          </a:p>
          <a:p>
            <a:pPr marL="342900" indent="-342900">
              <a:spcAft>
                <a:spcPts val="800"/>
              </a:spcAft>
              <a:buSzPct val="100000"/>
              <a:buChar char="•"/>
            </a:pPr>
            <a:r>
              <a:rPr lang="en-US" sz="1400" dirty="0">
                <a:solidFill>
                  <a:schemeClr val="tx1"/>
                </a:solidFill>
              </a:rPr>
              <a:t>How it goes together, step by step</a:t>
            </a:r>
            <a:endParaRPr lang="en-US" sz="1400" dirty="0"/>
          </a:p>
          <a:p>
            <a:pPr marL="342900" indent="-342900">
              <a:spcAft>
                <a:spcPts val="800"/>
              </a:spcAft>
              <a:buSzPct val="100000"/>
              <a:buChar char="•"/>
            </a:pPr>
            <a:r>
              <a:rPr lang="en-US" sz="1400" dirty="0">
                <a:solidFill>
                  <a:schemeClr val="tx1"/>
                </a:solidFill>
              </a:rPr>
              <a:t>What people can change, and the limits</a:t>
            </a:r>
            <a:endParaRPr lang="en-US" sz="1400" dirty="0"/>
          </a:p>
          <a:p>
            <a:pPr marL="342900" indent="-342900">
              <a:spcAft>
                <a:spcPts val="800"/>
              </a:spcAft>
              <a:buSzPct val="100000"/>
              <a:buChar char="•"/>
            </a:pPr>
            <a:r>
              <a:rPr lang="en-US" sz="1400" dirty="0">
                <a:solidFill>
                  <a:schemeClr val="tx1"/>
                </a:solidFill>
              </a:rPr>
              <a:t>Saying "yes, that looks right" or "move this"</a:t>
            </a:r>
            <a:endParaRPr lang="en-US" sz="1400" dirty="0"/>
          </a:p>
        </p:txBody>
      </p:sp>
      <p:sp>
        <p:nvSpPr>
          <p:cNvPr id="7" name="Text 5"/>
          <p:cNvSpPr txBox="1"/>
          <p:nvPr/>
        </p:nvSpPr>
        <p:spPr>
          <a:xfrm>
            <a:off x="5029200" y="1280160"/>
            <a:ext cx="3474720" cy="365760"/>
          </a:xfrm>
          <a:prstGeom prst="rect">
            <a:avLst/>
          </a:prstGeom>
          <a:noFill/>
          <a:ln/>
        </p:spPr>
        <p:txBody>
          <a:bodyPr wrap="square" lIns="0" tIns="0" rIns="0" bIns="0" rtlCol="0" anchor="t"/>
          <a:lstStyle/>
          <a:p>
            <a:pPr indent="0" marL="0">
              <a:buNone/>
            </a:pPr>
            <a:r>
              <a:rPr lang="en-US" sz="1800" b="1" dirty="0">
                <a:solidFill>
                  <a:schemeClr val="bg1"/>
                </a:solidFill>
              </a:rPr>
              <a:t>Claude, in the desktop app</a:t>
            </a:r>
            <a:endParaRPr lang="en-US" sz="1800" dirty="0"/>
          </a:p>
        </p:txBody>
      </p:sp>
      <p:sp>
        <p:nvSpPr>
          <p:cNvPr id="8" name="Text 6"/>
          <p:cNvSpPr txBox="1"/>
          <p:nvPr/>
        </p:nvSpPr>
        <p:spPr>
          <a:xfrm>
            <a:off x="5029200" y="1783080"/>
            <a:ext cx="347472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Runs the private copy of the site for you</a:t>
            </a:r>
            <a:endParaRPr lang="en-US" sz="1400" dirty="0"/>
          </a:p>
          <a:p>
            <a:pPr marL="342900" indent="-342900">
              <a:spcAft>
                <a:spcPts val="800"/>
              </a:spcAft>
              <a:buSzPct val="100000"/>
              <a:buChar char="•"/>
            </a:pPr>
            <a:r>
              <a:rPr lang="en-US" sz="1400" dirty="0">
                <a:solidFill>
                  <a:schemeClr val="bg1"/>
                </a:solidFill>
              </a:rPr>
              <a:t>Writes the code and the tests</a:t>
            </a:r>
            <a:endParaRPr lang="en-US" sz="1400" dirty="0"/>
          </a:p>
          <a:p>
            <a:pPr marL="342900" indent="-342900">
              <a:spcAft>
                <a:spcPts val="800"/>
              </a:spcAft>
              <a:buSzPct val="100000"/>
              <a:buChar char="•"/>
            </a:pPr>
            <a:r>
              <a:rPr lang="en-US" sz="1400" dirty="0">
                <a:solidFill>
                  <a:schemeClr val="bg1"/>
                </a:solidFill>
              </a:rPr>
              <a:t>Shows you what changed after every round</a:t>
            </a:r>
            <a:endParaRPr lang="en-US" sz="1400" dirty="0"/>
          </a:p>
          <a:p>
            <a:pPr marL="342900" indent="-342900">
              <a:spcAft>
                <a:spcPts val="800"/>
              </a:spcAft>
              <a:buSzPct val="100000"/>
              <a:buChar char="•"/>
            </a:pPr>
            <a:r>
              <a:rPr lang="en-US" sz="1400" dirty="0">
                <a:solidFill>
                  <a:schemeClr val="bg1"/>
                </a:solidFill>
              </a:rPr>
              <a:t>Saves versions as it goes</a:t>
            </a:r>
            <a:endParaRPr lang="en-US" sz="1400" dirty="0"/>
          </a:p>
          <a:p>
            <a:pPr marL="342900" indent="-342900">
              <a:spcAft>
                <a:spcPts val="800"/>
              </a:spcAft>
              <a:buSzPct val="100000"/>
              <a:buChar char="•"/>
            </a:pPr>
            <a:r>
              <a:rPr lang="en-US" sz="1400" dirty="0">
                <a:solidFill>
                  <a:schemeClr val="bg1"/>
                </a:solidFill>
              </a:rPr>
              <a:t>Creates the pull request</a:t>
            </a:r>
            <a:endParaRPr lang="en-US" sz="1400" dirty="0"/>
          </a:p>
        </p:txBody>
      </p:sp>
      <p:sp>
        <p:nvSpPr>
          <p:cNvPr id="25" name="Slide Number Placeholder 0"/>
          <p:cNvSpPr>
            <a:spLocks noGrp="1"/>
          </p:cNvSpPr>
          <p:nvPr>
            <p:ph type="sldNum" sz="quarter" idx="4294967295"/>
          </p:nvPr>
        </p:nvSpPr>
        <p:spPr>
          <a:xfrm>
            <a:off x="850392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40080"/>
          </a:xfrm>
          <a:prstGeom prst="rect">
            <a:avLst/>
          </a:prstGeom>
          <a:noFill/>
          <a:ln/>
        </p:spPr>
        <p:txBody>
          <a:bodyPr wrap="square" lIns="0" tIns="0" rIns="0" bIns="0" rtlCol="0" anchor="ctr"/>
          <a:lstStyle/>
          <a:p>
            <a:pPr algn="l" indent="0" marL="0">
              <a:buNone/>
            </a:pPr>
            <a:r>
              <a:rPr lang="en-US" sz="2400" b="1" dirty="0">
                <a:solidFill>
                  <a:schemeClr val="tx1"/>
                </a:solidFill>
              </a:rPr>
              <a:t>Before you start, once</a:t>
            </a:r>
            <a:endParaRPr lang="en-US" sz="2400" dirty="0"/>
          </a:p>
        </p:txBody>
      </p:sp>
      <p:sp>
        <p:nvSpPr>
          <p:cNvPr id="3" name="Shape 1"/>
          <p:cNvSpPr/>
          <p:nvPr/>
        </p:nvSpPr>
        <p:spPr>
          <a:xfrm>
            <a:off x="457200" y="1188720"/>
            <a:ext cx="4023360" cy="1828800"/>
          </a:xfrm>
          <a:prstGeom prst="roundRect">
            <a:avLst>
              <a:gd name="adj" fmla="val 4000"/>
            </a:avLst>
          </a:prstGeom>
          <a:solidFill>
            <a:schemeClr val="bg2"/>
          </a:solidFill>
          <a:ln w="12700">
            <a:solidFill>
              <a:schemeClr val="bg2"/>
            </a:solidFill>
            <a:prstDash val="solid"/>
          </a:ln>
        </p:spPr>
      </p:sp>
      <p:sp>
        <p:nvSpPr>
          <p:cNvPr id="4" name="Text 2"/>
          <p:cNvSpPr txBox="1"/>
          <p:nvPr/>
        </p:nvSpPr>
        <p:spPr>
          <a:xfrm>
            <a:off x="731520" y="1417320"/>
            <a:ext cx="502920" cy="50292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417320" y="1371600"/>
            <a:ext cx="2880360" cy="1463040"/>
          </a:xfrm>
          <a:prstGeom prst="rect">
            <a:avLst/>
          </a:prstGeom>
          <a:noFill/>
          <a:ln/>
        </p:spPr>
        <p:txBody>
          <a:bodyPr wrap="square" lIns="0" tIns="0" rIns="0" bIns="0" rtlCol="0" anchor="t"/>
          <a:lstStyle/>
          <a:p>
            <a:pPr indent="0" marL="0">
              <a:buNone/>
            </a:pPr>
            <a:r>
              <a:rPr lang="en-US" sz="1700" b="1" dirty="0">
                <a:solidFill>
                  <a:schemeClr val="tx1"/>
                </a:solidFill>
              </a:rPr>
              <a:t>A GitHub account</a:t>
            </a:r>
            <a:endParaRPr lang="en-US" sz="1400" dirty="0"/>
          </a:p>
          <a:p>
            <a:pPr indent="0" marL="0">
              <a:buNone/>
            </a:pPr>
            <a:r>
              <a:rPr lang="en-US" sz="1400" dirty="0">
                <a:solidFill>
                  <a:schemeClr val="accent2"/>
                </a:solidFill>
              </a:rPr>
              <a:t>Free, at github.com/signup. GitHub is where the project lives.</a:t>
            </a:r>
            <a:endParaRPr lang="en-US" sz="1400" dirty="0"/>
          </a:p>
        </p:txBody>
      </p:sp>
      <p:sp>
        <p:nvSpPr>
          <p:cNvPr id="6" name="Shape 4"/>
          <p:cNvSpPr/>
          <p:nvPr/>
        </p:nvSpPr>
        <p:spPr>
          <a:xfrm>
            <a:off x="4663440" y="1188720"/>
            <a:ext cx="4023360" cy="1828800"/>
          </a:xfrm>
          <a:prstGeom prst="roundRect">
            <a:avLst>
              <a:gd name="adj" fmla="val 4000"/>
            </a:avLst>
          </a:prstGeom>
          <a:solidFill>
            <a:schemeClr val="bg2"/>
          </a:solidFill>
          <a:ln w="12700">
            <a:solidFill>
              <a:schemeClr val="bg2"/>
            </a:solidFill>
            <a:prstDash val="solid"/>
          </a:ln>
        </p:spPr>
      </p:sp>
      <p:sp>
        <p:nvSpPr>
          <p:cNvPr id="7" name="Text 5"/>
          <p:cNvSpPr txBox="1"/>
          <p:nvPr/>
        </p:nvSpPr>
        <p:spPr>
          <a:xfrm>
            <a:off x="4937760" y="1417320"/>
            <a:ext cx="502920" cy="50292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 6"/>
          <p:cNvSpPr txBox="1"/>
          <p:nvPr/>
        </p:nvSpPr>
        <p:spPr>
          <a:xfrm>
            <a:off x="5623560" y="1371600"/>
            <a:ext cx="2880360" cy="1463040"/>
          </a:xfrm>
          <a:prstGeom prst="rect">
            <a:avLst/>
          </a:prstGeom>
          <a:noFill/>
          <a:ln/>
        </p:spPr>
        <p:txBody>
          <a:bodyPr wrap="square" lIns="0" tIns="0" rIns="0" bIns="0" rtlCol="0" anchor="t"/>
          <a:lstStyle/>
          <a:p>
            <a:pPr indent="0" marL="0">
              <a:buNone/>
            </a:pPr>
            <a:r>
              <a:rPr lang="en-US" sz="1700" b="1" dirty="0">
                <a:solidFill>
                  <a:schemeClr val="tx1"/>
                </a:solidFill>
              </a:rPr>
              <a:t>The Claude desktop app</a:t>
            </a:r>
            <a:endParaRPr lang="en-US" sz="1400" dirty="0"/>
          </a:p>
          <a:p>
            <a:pPr indent="0" marL="0">
              <a:buNone/>
            </a:pPr>
            <a:r>
              <a:rPr lang="en-US" sz="1400" dirty="0">
                <a:solidFill>
                  <a:schemeClr val="accent2"/>
                </a:solidFill>
              </a:rPr>
              <a:t>Download it from claude.ai/download, install it and sign in.</a:t>
            </a:r>
            <a:endParaRPr lang="en-US" sz="1400" dirty="0"/>
          </a:p>
        </p:txBody>
      </p:sp>
      <p:sp>
        <p:nvSpPr>
          <p:cNvPr id="9" name="Shape 7"/>
          <p:cNvSpPr/>
          <p:nvPr/>
        </p:nvSpPr>
        <p:spPr>
          <a:xfrm>
            <a:off x="457200" y="3291840"/>
            <a:ext cx="8229600" cy="1097280"/>
          </a:xfrm>
          <a:prstGeom prst="roundRect">
            <a:avLst>
              <a:gd name="adj" fmla="val 6667"/>
            </a:avLst>
          </a:prstGeom>
          <a:solidFill>
            <a:schemeClr val="tx2"/>
          </a:solidFill>
          <a:ln w="12700">
            <a:solidFill>
              <a:schemeClr val="tx2"/>
            </a:solidFill>
            <a:prstDash val="solid"/>
          </a:ln>
        </p:spPr>
      </p:sp>
      <p:sp>
        <p:nvSpPr>
          <p:cNvPr id="10" name="Text 8"/>
          <p:cNvSpPr txBox="1"/>
          <p:nvPr/>
        </p:nvSpPr>
        <p:spPr>
          <a:xfrm>
            <a:off x="731520" y="3429000"/>
            <a:ext cx="7680960" cy="822960"/>
          </a:xfrm>
          <a:prstGeom prst="rect">
            <a:avLst/>
          </a:prstGeom>
          <a:noFill/>
          <a:ln/>
        </p:spPr>
        <p:txBody>
          <a:bodyPr wrap="square" lIns="0" tIns="0" rIns="0" bIns="0" rtlCol="0" anchor="ctr"/>
          <a:lstStyle/>
          <a:p>
            <a:pPr indent="0" marL="0">
              <a:buNone/>
            </a:pPr>
            <a:r>
              <a:rPr lang="en-US" sz="1500" b="1" dirty="0">
                <a:solidFill>
                  <a:schemeClr val="bg1"/>
                </a:solidFill>
              </a:rPr>
              <a:t>That's all the setup. </a:t>
            </a:r>
            <a:pPr indent="0" marL="0">
              <a:buNone/>
            </a:pPr>
            <a:r>
              <a:rPr lang="en-US" sz="1500" dirty="0">
                <a:solidFill>
                  <a:schemeClr val="bg1"/>
                </a:solidFill>
              </a:rPr>
              <a:t>Everything else (downloading the project, running the site, your own copy on GitHub) is prepared, and Claude does it for you.</a:t>
            </a:r>
            <a:endParaRPr lang="en-US" sz="1500" dirty="0"/>
          </a:p>
        </p:txBody>
      </p:sp>
      <p:sp>
        <p:nvSpPr>
          <p:cNvPr id="25" name="Slide Number Placeholder 0"/>
          <p:cNvSpPr>
            <a:spLocks noGrp="1"/>
          </p:cNvSpPr>
          <p:nvPr>
            <p:ph type="sldNum" sz="quarter" idx="4294967295"/>
          </p:nvPr>
        </p:nvSpPr>
        <p:spPr>
          <a:xfrm>
            <a:off x="850392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40080"/>
          </a:xfrm>
          <a:prstGeom prst="rect">
            <a:avLst/>
          </a:prstGeom>
          <a:noFill/>
          <a:ln/>
        </p:spPr>
        <p:txBody>
          <a:bodyPr wrap="square" lIns="0" tIns="0" rIns="0" bIns="0" rtlCol="0" anchor="ctr"/>
          <a:lstStyle/>
          <a:p>
            <a:pPr algn="l" indent="0" marL="0">
              <a:buNone/>
            </a:pPr>
            <a:r>
              <a:rPr lang="en-US" sz="2400" b="1" dirty="0">
                <a:solidFill>
                  <a:schemeClr val="tx1"/>
                </a:solidFill>
              </a:rPr>
              <a:t>Step 0: open the Claude app</a:t>
            </a:r>
            <a:endParaRPr lang="en-US" sz="2400" dirty="0"/>
          </a:p>
        </p:txBody>
      </p:sp>
      <p:sp>
        <p:nvSpPr>
          <p:cNvPr id="3" name="Illustration tag"/>
          <p:cNvSpPr txBox="1"/>
          <p:nvPr/>
        </p:nvSpPr>
        <p:spPr>
          <a:xfrm>
            <a:off x="7315200" y="466344"/>
            <a:ext cx="1371600" cy="256032"/>
          </a:xfrm>
          <a:prstGeom prst="rect">
            <a:avLst/>
          </a:prstGeom>
          <a:solidFill>
            <a:schemeClr val="accent2"/>
          </a:solidFill>
          <a:ln/>
        </p:spPr>
        <p:txBody>
          <a:bodyPr wrap="square" lIns="0" tIns="0" rIns="0" bIns="0" rtlCol="0" anchor="ctr"/>
          <a:lstStyle/>
          <a:p>
            <a:pPr algn="ctr" indent="0" marL="0">
              <a:buNone/>
            </a:pPr>
            <a:r>
              <a:rPr lang="en-US" sz="1000" b="1" dirty="0">
                <a:solidFill>
                  <a:schemeClr val="bg1"/>
                </a:solidFill>
              </a:rPr>
              <a:t>ILLUSTRATION</a:t>
            </a:r>
            <a:endParaRPr lang="en-US" sz="1000" dirty="0"/>
          </a:p>
        </p:txBody>
      </p:sp>
      <p:pic>
        <p:nvPicPr>
          <p:cNvPr id="4" name="Step 0: open the Claude app" descr="small/app-home.jpg">    </p:cNvPr>
          <p:cNvPicPr>
            <a:picLocks noChangeAspect="1"/>
          </p:cNvPicPr>
          <p:nvPr/>
        </p:nvPicPr>
        <p:blipFill>
          <a:blip r:embed="rId1"/>
          <a:stretch>
            <a:fillRect/>
          </a:stretch>
        </p:blipFill>
        <p:spPr>
          <a:xfrm>
            <a:off x="457200" y="1051560"/>
            <a:ext cx="5852160" cy="3323191"/>
          </a:xfrm>
          <a:prstGeom prst="rect">
            <a:avLst/>
          </a:prstGeom>
          <a:effectLst>
            <a:outerShdw sx="100000" sy="100000" kx="0" ky="0" algn="bl" rotWithShape="0" blurRad="76200" dist="25400" dir="5400000">
              <a:srgbClr val="000000">
                <a:alpha val="18000"/>
              </a:srgbClr>
            </a:outerShdw>
          </a:effectLst>
        </p:spPr>
      </p:pic>
      <p:sp>
        <p:nvSpPr>
          <p:cNvPr id="5" name="Text 2"/>
          <p:cNvSpPr txBox="1"/>
          <p:nvPr/>
        </p:nvSpPr>
        <p:spPr>
          <a:xfrm>
            <a:off x="6583680" y="1188720"/>
            <a:ext cx="548640" cy="54864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0</a:t>
            </a:r>
            <a:endParaRPr lang="en-US" sz="1400" dirty="0"/>
          </a:p>
        </p:txBody>
      </p:sp>
      <p:sp>
        <p:nvSpPr>
          <p:cNvPr id="6" name="Text 3"/>
          <p:cNvSpPr txBox="1"/>
          <p:nvPr/>
        </p:nvSpPr>
        <p:spPr>
          <a:xfrm>
            <a:off x="6583680" y="1920240"/>
            <a:ext cx="2194560" cy="2651760"/>
          </a:xfrm>
          <a:prstGeom prst="rect">
            <a:avLst/>
          </a:prstGeom>
          <a:noFill/>
          <a:ln/>
        </p:spPr>
        <p:txBody>
          <a:bodyPr wrap="square" lIns="0" tIns="0" rIns="0" bIns="0" rtlCol="0" anchor="t"/>
          <a:lstStyle/>
          <a:p>
            <a:pPr indent="0" marL="0">
              <a:buNone/>
            </a:pPr>
            <a:r>
              <a:rPr lang="en-US" sz="1700" b="1" dirty="0">
                <a:solidFill>
                  <a:schemeClr val="tx1"/>
                </a:solidFill>
              </a:rPr>
              <a:t>Open Claude</a:t>
            </a:r>
            <a:endParaRPr lang="en-US" sz="1400" dirty="0"/>
          </a:p>
          <a:p>
            <a:pPr indent="0" marL="0">
              <a:buNone/>
            </a:pPr>
            <a:r>
              <a:rPr lang="en-US" sz="800" dirty="0">
                <a:solidFill>
                  <a:schemeClr val="tx1"/>
                </a:solidFill>
              </a:rPr>
              <a:t> </a:t>
            </a:r>
            <a:endParaRPr lang="en-US" sz="1400" dirty="0"/>
          </a:p>
          <a:p>
            <a:pPr indent="0" marL="0">
              <a:buNone/>
            </a:pPr>
            <a:r>
              <a:rPr lang="en-US" sz="1400" dirty="0">
                <a:solidFill>
                  <a:schemeClr val="accent2"/>
                </a:solidFill>
              </a:rPr>
              <a:t>Open the Claude desktop app from your Applications (Mac) or Start menu (Windows), and sign in if asked.</a:t>
            </a:r>
            <a:endParaRPr lang="en-US" sz="1400" dirty="0"/>
          </a:p>
        </p:txBody>
      </p:sp>
      <p:sp>
        <p:nvSpPr>
          <p:cNvPr id="25" name="Slide Number Placeholder 0"/>
          <p:cNvSpPr>
            <a:spLocks noGrp="1"/>
          </p:cNvSpPr>
          <p:nvPr>
            <p:ph type="sldNum" sz="quarter" idx="4294967295"/>
          </p:nvPr>
        </p:nvSpPr>
        <p:spPr>
          <a:xfrm>
            <a:off x="850392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40080"/>
          </a:xfrm>
          <a:prstGeom prst="rect">
            <a:avLst/>
          </a:prstGeom>
          <a:noFill/>
          <a:ln/>
        </p:spPr>
        <p:txBody>
          <a:bodyPr wrap="square" lIns="0" tIns="0" rIns="0" bIns="0" rtlCol="0" anchor="ctr"/>
          <a:lstStyle/>
          <a:p>
            <a:pPr algn="l" indent="0" marL="0">
              <a:buNone/>
            </a:pPr>
            <a:r>
              <a:rPr lang="en-US" sz="2400" b="1" dirty="0">
                <a:solidFill>
                  <a:schemeClr val="tx1"/>
                </a:solidFill>
              </a:rPr>
              <a:t>Step 1: Code, then Local</a:t>
            </a:r>
            <a:endParaRPr lang="en-US" sz="2400" dirty="0"/>
          </a:p>
        </p:txBody>
      </p:sp>
      <p:sp>
        <p:nvSpPr>
          <p:cNvPr id="3" name="Illustration tag"/>
          <p:cNvSpPr txBox="1"/>
          <p:nvPr/>
        </p:nvSpPr>
        <p:spPr>
          <a:xfrm>
            <a:off x="7315200" y="466344"/>
            <a:ext cx="1371600" cy="256032"/>
          </a:xfrm>
          <a:prstGeom prst="rect">
            <a:avLst/>
          </a:prstGeom>
          <a:solidFill>
            <a:schemeClr val="accent2"/>
          </a:solidFill>
          <a:ln/>
        </p:spPr>
        <p:txBody>
          <a:bodyPr wrap="square" lIns="0" tIns="0" rIns="0" bIns="0" rtlCol="0" anchor="ctr"/>
          <a:lstStyle/>
          <a:p>
            <a:pPr algn="ctr" indent="0" marL="0">
              <a:buNone/>
            </a:pPr>
            <a:r>
              <a:rPr lang="en-US" sz="1000" b="1" dirty="0">
                <a:solidFill>
                  <a:schemeClr val="bg1"/>
                </a:solidFill>
              </a:rPr>
              <a:t>ILLUSTRATION</a:t>
            </a:r>
            <a:endParaRPr lang="en-US" sz="1000" dirty="0"/>
          </a:p>
        </p:txBody>
      </p:sp>
      <p:pic>
        <p:nvPicPr>
          <p:cNvPr id="4" name="Step 1: Code, then Local" descr="small/app-code.jpg">    </p:cNvPr>
          <p:cNvPicPr>
            <a:picLocks noChangeAspect="1"/>
          </p:cNvPicPr>
          <p:nvPr/>
        </p:nvPicPr>
        <p:blipFill>
          <a:blip r:embed="rId1"/>
          <a:stretch>
            <a:fillRect/>
          </a:stretch>
        </p:blipFill>
        <p:spPr>
          <a:xfrm>
            <a:off x="457200" y="1051560"/>
            <a:ext cx="5852160" cy="3323191"/>
          </a:xfrm>
          <a:prstGeom prst="rect">
            <a:avLst/>
          </a:prstGeom>
          <a:effectLst>
            <a:outerShdw sx="100000" sy="100000" kx="0" ky="0" algn="bl" rotWithShape="0" blurRad="76200" dist="25400" dir="5400000">
              <a:srgbClr val="000000">
                <a:alpha val="18000"/>
              </a:srgbClr>
            </a:outerShdw>
          </a:effectLst>
        </p:spPr>
      </p:pic>
      <p:sp>
        <p:nvSpPr>
          <p:cNvPr id="5" name="Text 2"/>
          <p:cNvSpPr txBox="1"/>
          <p:nvPr/>
        </p:nvSpPr>
        <p:spPr>
          <a:xfrm>
            <a:off x="6583680" y="1188720"/>
            <a:ext cx="548640" cy="54864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6583680" y="1920240"/>
            <a:ext cx="2194560" cy="2651760"/>
          </a:xfrm>
          <a:prstGeom prst="rect">
            <a:avLst/>
          </a:prstGeom>
          <a:noFill/>
          <a:ln/>
        </p:spPr>
        <p:txBody>
          <a:bodyPr wrap="square" lIns="0" tIns="0" rIns="0" bIns="0" rtlCol="0" anchor="t"/>
          <a:lstStyle/>
          <a:p>
            <a:pPr indent="0" marL="0">
              <a:buNone/>
            </a:pPr>
            <a:r>
              <a:rPr lang="en-US" sz="1700" b="1" dirty="0">
                <a:solidFill>
                  <a:schemeClr val="tx1"/>
                </a:solidFill>
              </a:rPr>
              <a:t>Click Code, pick Local</a:t>
            </a:r>
            <a:endParaRPr lang="en-US" sz="1400" dirty="0"/>
          </a:p>
          <a:p>
            <a:pPr indent="0" marL="0">
              <a:buNone/>
            </a:pPr>
            <a:r>
              <a:rPr lang="en-US" sz="800" dirty="0">
                <a:solidFill>
                  <a:schemeClr val="tx1"/>
                </a:solidFill>
              </a:rPr>
              <a:t> </a:t>
            </a:r>
            <a:endParaRPr lang="en-US" sz="1400" dirty="0"/>
          </a:p>
          <a:p>
            <a:pPr indent="0" marL="0">
              <a:buNone/>
            </a:pPr>
            <a:r>
              <a:rPr lang="en-US" sz="1400" dirty="0">
                <a:solidFill>
                  <a:schemeClr val="accent2"/>
                </a:solidFill>
              </a:rPr>
              <a:t>In the sidebar, click Code. Under the message box, set the environment to Local: Claude then works on your computer, so the site opens in your own browser.</a:t>
            </a:r>
            <a:endParaRPr lang="en-US" sz="1400" dirty="0"/>
          </a:p>
        </p:txBody>
      </p:sp>
      <p:sp>
        <p:nvSpPr>
          <p:cNvPr id="25" name="Slide Number Placeholder 0"/>
          <p:cNvSpPr>
            <a:spLocks noGrp="1"/>
          </p:cNvSpPr>
          <p:nvPr>
            <p:ph type="sldNum" sz="quarter" idx="4294967295"/>
          </p:nvPr>
        </p:nvSpPr>
        <p:spPr>
          <a:xfrm>
            <a:off x="850392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40080"/>
          </a:xfrm>
          <a:prstGeom prst="rect">
            <a:avLst/>
          </a:prstGeom>
          <a:noFill/>
          <a:ln/>
        </p:spPr>
        <p:txBody>
          <a:bodyPr wrap="square" lIns="0" tIns="0" rIns="0" bIns="0" rtlCol="0" anchor="ctr"/>
          <a:lstStyle/>
          <a:p>
            <a:pPr algn="l" indent="0" marL="0">
              <a:buNone/>
            </a:pPr>
            <a:r>
              <a:rPr lang="en-US" sz="2400" b="1" dirty="0">
                <a:solidFill>
                  <a:schemeClr val="tx1"/>
                </a:solidFill>
              </a:rPr>
              <a:t>First time only: get the project</a:t>
            </a:r>
            <a:endParaRPr lang="en-US" sz="2400" dirty="0"/>
          </a:p>
        </p:txBody>
      </p:sp>
      <p:sp>
        <p:nvSpPr>
          <p:cNvPr id="3" name="Illustration tag"/>
          <p:cNvSpPr txBox="1"/>
          <p:nvPr/>
        </p:nvSpPr>
        <p:spPr>
          <a:xfrm>
            <a:off x="7315200" y="466344"/>
            <a:ext cx="1371600" cy="256032"/>
          </a:xfrm>
          <a:prstGeom prst="rect">
            <a:avLst/>
          </a:prstGeom>
          <a:solidFill>
            <a:schemeClr val="accent2"/>
          </a:solidFill>
          <a:ln/>
        </p:spPr>
        <p:txBody>
          <a:bodyPr wrap="square" lIns="0" tIns="0" rIns="0" bIns="0" rtlCol="0" anchor="ctr"/>
          <a:lstStyle/>
          <a:p>
            <a:pPr algn="ctr" indent="0" marL="0">
              <a:buNone/>
            </a:pPr>
            <a:r>
              <a:rPr lang="en-US" sz="1000" b="1" dirty="0">
                <a:solidFill>
                  <a:schemeClr val="bg1"/>
                </a:solidFill>
              </a:rPr>
              <a:t>ILLUSTRATION</a:t>
            </a:r>
            <a:endParaRPr lang="en-US" sz="1000" dirty="0"/>
          </a:p>
        </p:txBody>
      </p:sp>
      <p:pic>
        <p:nvPicPr>
          <p:cNvPr id="4" name="First time only: get the project" descr="small/app-first.jpg">    </p:cNvPr>
          <p:cNvPicPr>
            <a:picLocks noChangeAspect="1"/>
          </p:cNvPicPr>
          <p:nvPr/>
        </p:nvPicPr>
        <p:blipFill>
          <a:blip r:embed="rId1"/>
          <a:stretch>
            <a:fillRect/>
          </a:stretch>
        </p:blipFill>
        <p:spPr>
          <a:xfrm>
            <a:off x="457200" y="1051560"/>
            <a:ext cx="5852160" cy="3331551"/>
          </a:xfrm>
          <a:prstGeom prst="rect">
            <a:avLst/>
          </a:prstGeom>
          <a:effectLst>
            <a:outerShdw sx="100000" sy="100000" kx="0" ky="0" algn="bl" rotWithShape="0" blurRad="76200" dist="25400" dir="5400000">
              <a:srgbClr val="000000">
                <a:alpha val="18000"/>
              </a:srgbClr>
            </a:outerShdw>
          </a:effectLst>
        </p:spPr>
      </p:pic>
      <p:sp>
        <p:nvSpPr>
          <p:cNvPr id="5" name="Text 2"/>
          <p:cNvSpPr txBox="1"/>
          <p:nvPr/>
        </p:nvSpPr>
        <p:spPr>
          <a:xfrm>
            <a:off x="6583680" y="1188720"/>
            <a:ext cx="548640" cy="54864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6583680" y="1920240"/>
            <a:ext cx="2194560" cy="2651760"/>
          </a:xfrm>
          <a:prstGeom prst="rect">
            <a:avLst/>
          </a:prstGeom>
          <a:noFill/>
          <a:ln/>
        </p:spPr>
        <p:txBody>
          <a:bodyPr wrap="square" lIns="0" tIns="0" rIns="0" bIns="0" rtlCol="0" anchor="t"/>
          <a:lstStyle/>
          <a:p>
            <a:pPr indent="0" marL="0">
              <a:buNone/>
            </a:pPr>
            <a:r>
              <a:rPr lang="en-US" sz="1700" b="1" dirty="0">
                <a:solidFill>
                  <a:schemeClr val="tx1"/>
                </a:solidFill>
              </a:rPr>
              <a:t>Claude downloads it</a:t>
            </a:r>
            <a:endParaRPr lang="en-US" sz="1400" dirty="0"/>
          </a:p>
          <a:p>
            <a:pPr indent="0" marL="0">
              <a:buNone/>
            </a:pPr>
            <a:r>
              <a:rPr lang="en-US" sz="800" dirty="0">
                <a:solidFill>
                  <a:schemeClr val="tx1"/>
                </a:solidFill>
              </a:rPr>
              <a:t> </a:t>
            </a:r>
            <a:endParaRPr lang="en-US" sz="1400" dirty="0"/>
          </a:p>
          <a:p>
            <a:pPr indent="0" marL="0">
              <a:buNone/>
            </a:pPr>
            <a:r>
              <a:rPr lang="en-US" sz="1400" dirty="0">
                <a:solidFill>
                  <a:schemeClr val="accent2"/>
                </a:solidFill>
              </a:rPr>
              <a:t>Choose your Documents folder and ask Claude to download the project. Do this once; afterwards the project lives in Documents.</a:t>
            </a:r>
            <a:endParaRPr lang="en-US" sz="1400" dirty="0"/>
          </a:p>
        </p:txBody>
      </p:sp>
      <p:sp>
        <p:nvSpPr>
          <p:cNvPr id="25" name="Slide Number Placeholder 0"/>
          <p:cNvSpPr>
            <a:spLocks noGrp="1"/>
          </p:cNvSpPr>
          <p:nvPr>
            <p:ph type="sldNum" sz="quarter" idx="4294967295"/>
          </p:nvPr>
        </p:nvSpPr>
        <p:spPr>
          <a:xfrm>
            <a:off x="850392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40080"/>
          </a:xfrm>
          <a:prstGeom prst="rect">
            <a:avLst/>
          </a:prstGeom>
          <a:noFill/>
          <a:ln/>
        </p:spPr>
        <p:txBody>
          <a:bodyPr wrap="square" lIns="0" tIns="0" rIns="0" bIns="0" rtlCol="0" anchor="ctr"/>
          <a:lstStyle/>
          <a:p>
            <a:pPr algn="l" indent="0" marL="0">
              <a:buNone/>
            </a:pPr>
            <a:r>
              <a:rPr lang="en-US" sz="2400" b="1" dirty="0">
                <a:solidFill>
                  <a:schemeClr val="tx1"/>
                </a:solidFill>
              </a:rPr>
              <a:t>Step 2: choose the project folder</a:t>
            </a:r>
            <a:endParaRPr lang="en-US" sz="2400" dirty="0"/>
          </a:p>
        </p:txBody>
      </p:sp>
      <p:sp>
        <p:nvSpPr>
          <p:cNvPr id="3" name="Illustration tag"/>
          <p:cNvSpPr txBox="1"/>
          <p:nvPr/>
        </p:nvSpPr>
        <p:spPr>
          <a:xfrm>
            <a:off x="7315200" y="466344"/>
            <a:ext cx="1371600" cy="256032"/>
          </a:xfrm>
          <a:prstGeom prst="rect">
            <a:avLst/>
          </a:prstGeom>
          <a:solidFill>
            <a:schemeClr val="accent2"/>
          </a:solidFill>
          <a:ln/>
        </p:spPr>
        <p:txBody>
          <a:bodyPr wrap="square" lIns="0" tIns="0" rIns="0" bIns="0" rtlCol="0" anchor="ctr"/>
          <a:lstStyle/>
          <a:p>
            <a:pPr algn="ctr" indent="0" marL="0">
              <a:buNone/>
            </a:pPr>
            <a:r>
              <a:rPr lang="en-US" sz="1000" b="1" dirty="0">
                <a:solidFill>
                  <a:schemeClr val="bg1"/>
                </a:solidFill>
              </a:rPr>
              <a:t>ILLUSTRATION</a:t>
            </a:r>
            <a:endParaRPr lang="en-US" sz="1000" dirty="0"/>
          </a:p>
        </p:txBody>
      </p:sp>
      <p:pic>
        <p:nvPicPr>
          <p:cNvPr id="4" name="Step 2: choose the project folder" descr="small/app-folder.jpg">    </p:cNvPr>
          <p:cNvPicPr>
            <a:picLocks noChangeAspect="1"/>
          </p:cNvPicPr>
          <p:nvPr/>
        </p:nvPicPr>
        <p:blipFill>
          <a:blip r:embed="rId1"/>
          <a:stretch>
            <a:fillRect/>
          </a:stretch>
        </p:blipFill>
        <p:spPr>
          <a:xfrm>
            <a:off x="457200" y="1051560"/>
            <a:ext cx="5852160" cy="3331551"/>
          </a:xfrm>
          <a:prstGeom prst="rect">
            <a:avLst/>
          </a:prstGeom>
          <a:effectLst>
            <a:outerShdw sx="100000" sy="100000" kx="0" ky="0" algn="bl" rotWithShape="0" blurRad="76200" dist="25400" dir="5400000">
              <a:srgbClr val="000000">
                <a:alpha val="18000"/>
              </a:srgbClr>
            </a:outerShdw>
          </a:effectLst>
        </p:spPr>
      </p:pic>
      <p:sp>
        <p:nvSpPr>
          <p:cNvPr id="5" name="Text 2"/>
          <p:cNvSpPr txBox="1"/>
          <p:nvPr/>
        </p:nvSpPr>
        <p:spPr>
          <a:xfrm>
            <a:off x="6583680" y="1188720"/>
            <a:ext cx="548640" cy="54864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6" name="Text 3"/>
          <p:cNvSpPr txBox="1"/>
          <p:nvPr/>
        </p:nvSpPr>
        <p:spPr>
          <a:xfrm>
            <a:off x="6583680" y="1920240"/>
            <a:ext cx="2194560" cy="2651760"/>
          </a:xfrm>
          <a:prstGeom prst="rect">
            <a:avLst/>
          </a:prstGeom>
          <a:noFill/>
          <a:ln/>
        </p:spPr>
        <p:txBody>
          <a:bodyPr wrap="square" lIns="0" tIns="0" rIns="0" bIns="0" rtlCol="0" anchor="t"/>
          <a:lstStyle/>
          <a:p>
            <a:pPr indent="0" marL="0">
              <a:buNone/>
            </a:pPr>
            <a:r>
              <a:rPr lang="en-US" sz="1700" b="1" dirty="0">
                <a:solidFill>
                  <a:schemeClr val="tx1"/>
                </a:solidFill>
              </a:rPr>
              <a:t>Pick the folder</a:t>
            </a:r>
            <a:endParaRPr lang="en-US" sz="1400" dirty="0"/>
          </a:p>
          <a:p>
            <a:pPr indent="0" marL="0">
              <a:buNone/>
            </a:pPr>
            <a:r>
              <a:rPr lang="en-US" sz="800" dirty="0">
                <a:solidFill>
                  <a:schemeClr val="tx1"/>
                </a:solidFill>
              </a:rPr>
              <a:t> </a:t>
            </a:r>
            <a:endParaRPr lang="en-US" sz="1400" dirty="0"/>
          </a:p>
          <a:p>
            <a:pPr indent="0" marL="0">
              <a:buNone/>
            </a:pPr>
            <a:r>
              <a:rPr lang="en-US" sz="1400" dirty="0">
                <a:solidFill>
                  <a:schemeClr val="accent2"/>
                </a:solidFill>
              </a:rPr>
              <a:t>Click Choose folder and pick open-source-modular-furniture in your Documents. Do this at the start of every session.</a:t>
            </a:r>
            <a:endParaRPr lang="en-US" sz="1400" dirty="0"/>
          </a:p>
        </p:txBody>
      </p:sp>
      <p:sp>
        <p:nvSpPr>
          <p:cNvPr id="25" name="Slide Number Placeholder 0"/>
          <p:cNvSpPr>
            <a:spLocks noGrp="1"/>
          </p:cNvSpPr>
          <p:nvPr>
            <p:ph type="sldNum" sz="quarter" idx="4294967295"/>
          </p:nvPr>
        </p:nvSpPr>
        <p:spPr>
          <a:xfrm>
            <a:off x="850392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40080"/>
          </a:xfrm>
          <a:prstGeom prst="rect">
            <a:avLst/>
          </a:prstGeom>
          <a:noFill/>
          <a:ln/>
        </p:spPr>
        <p:txBody>
          <a:bodyPr wrap="square" lIns="0" tIns="0" rIns="0" bIns="0" rtlCol="0" anchor="ctr"/>
          <a:lstStyle/>
          <a:p>
            <a:pPr algn="l" indent="0" marL="0">
              <a:buNone/>
            </a:pPr>
            <a:r>
              <a:rPr lang="en-US" sz="2400" b="1" dirty="0">
                <a:solidFill>
                  <a:schemeClr val="tx1"/>
                </a:solidFill>
              </a:rPr>
              <a:t>Step 3: say "let's work on this"</a:t>
            </a:r>
            <a:endParaRPr lang="en-US" sz="2400" dirty="0"/>
          </a:p>
        </p:txBody>
      </p:sp>
      <p:sp>
        <p:nvSpPr>
          <p:cNvPr id="3" name="Simulation tag"/>
          <p:cNvSpPr txBox="1"/>
          <p:nvPr/>
        </p:nvSpPr>
        <p:spPr>
          <a:xfrm>
            <a:off x="6949440" y="466344"/>
            <a:ext cx="1737360" cy="256032"/>
          </a:xfrm>
          <a:prstGeom prst="rect">
            <a:avLst/>
          </a:prstGeom>
          <a:solidFill>
            <a:schemeClr val="accent1"/>
          </a:solidFill>
          <a:ln/>
        </p:spPr>
        <p:txBody>
          <a:bodyPr wrap="square" lIns="0" tIns="0" rIns="0" bIns="0" rtlCol="0" anchor="ctr"/>
          <a:lstStyle/>
          <a:p>
            <a:pPr algn="ctr" indent="0" marL="0">
              <a:buNone/>
            </a:pPr>
            <a:r>
              <a:rPr lang="en-US" sz="1000" b="1" dirty="0">
                <a:solidFill>
                  <a:schemeClr val="bg1"/>
                </a:solidFill>
              </a:rPr>
              <a:t>SIMULATED EXAMPLE</a:t>
            </a:r>
            <a:endParaRPr lang="en-US" sz="1000" dirty="0"/>
          </a:p>
        </p:txBody>
      </p:sp>
      <p:pic>
        <p:nvPicPr>
          <p:cNvPr id="4" name="Simulated first conversation" descr="small/sim-start.jpg">    </p:cNvPr>
          <p:cNvPicPr>
            <a:picLocks noChangeAspect="1"/>
          </p:cNvPicPr>
          <p:nvPr/>
        </p:nvPicPr>
        <p:blipFill>
          <a:blip r:embed="rId1"/>
          <a:stretch>
            <a:fillRect/>
          </a:stretch>
        </p:blipFill>
        <p:spPr>
          <a:xfrm>
            <a:off x="457200" y="1051560"/>
            <a:ext cx="5394960" cy="3117516"/>
          </a:xfrm>
          <a:prstGeom prst="rect">
            <a:avLst/>
          </a:prstGeom>
          <a:effectLst>
            <a:outerShdw sx="100000" sy="100000" kx="0" ky="0" algn="bl" rotWithShape="0" blurRad="76200" dist="25400" dir="5400000">
              <a:srgbClr val="000000">
                <a:alpha val="18000"/>
              </a:srgbClr>
            </a:outerShdw>
          </a:effectLst>
        </p:spPr>
      </p:pic>
      <p:sp>
        <p:nvSpPr>
          <p:cNvPr id="5" name="Text 2"/>
          <p:cNvSpPr txBox="1"/>
          <p:nvPr/>
        </p:nvSpPr>
        <p:spPr>
          <a:xfrm>
            <a:off x="6126480" y="1188720"/>
            <a:ext cx="2651760" cy="3474720"/>
          </a:xfrm>
          <a:prstGeom prst="rect">
            <a:avLst/>
          </a:prstGeom>
          <a:noFill/>
          <a:ln/>
        </p:spPr>
        <p:txBody>
          <a:bodyPr wrap="square" lIns="0" tIns="0" rIns="0" bIns="0" rtlCol="0" anchor="t"/>
          <a:lstStyle/>
          <a:p>
            <a:pPr indent="0" marL="0">
              <a:buNone/>
            </a:pPr>
            <a:r>
              <a:rPr lang="en-US" sz="1400" b="1" dirty="0">
                <a:solidFill>
                  <a:schemeClr val="tx1"/>
                </a:solidFill>
              </a:rPr>
              <a:t>Everything is prepared</a:t>
            </a:r>
            <a:endParaRPr lang="en-US" sz="1400" dirty="0"/>
          </a:p>
          <a:p>
            <a:pPr indent="0" marL="0">
              <a:buNone/>
            </a:pPr>
            <a:r>
              <a:rPr lang="en-US" sz="1400" dirty="0">
                <a:solidFill>
                  <a:schemeClr val="accent2"/>
                </a:solidFill>
              </a:rPr>
              <a:t>The project carries step-by-step instructions for Claude, so it knows how to guide you.</a:t>
            </a:r>
            <a:endParaRPr lang="en-US" sz="1400" dirty="0"/>
          </a:p>
          <a:p>
            <a:pPr indent="0" marL="0">
              <a:buNone/>
            </a:pPr>
            <a:r>
              <a:rPr lang="en-US" sz="800" dirty="0">
                <a:solidFill>
                  <a:schemeClr val="tx1"/>
                </a:solidFill>
              </a:rPr>
              <a:t> </a:t>
            </a:r>
            <a:endParaRPr lang="en-US" sz="1400" dirty="0"/>
          </a:p>
          <a:p>
            <a:pPr indent="0" marL="0">
              <a:buNone/>
            </a:pPr>
            <a:r>
              <a:rPr lang="en-US" sz="1400" b="1" dirty="0">
                <a:solidFill>
                  <a:schemeClr val="tx1"/>
                </a:solidFill>
              </a:rPr>
              <a:t>It asks what you want</a:t>
            </a:r>
            <a:endParaRPr lang="en-US" sz="1400" dirty="0"/>
          </a:p>
          <a:p>
            <a:pPr indent="0" marL="0">
              <a:buNone/>
            </a:pPr>
            <a:r>
              <a:rPr lang="en-US" sz="1400" dirty="0">
                <a:solidFill>
                  <a:schemeClr val="accent2"/>
                </a:solidFill>
              </a:rPr>
              <a:t>Design a new piece, improve one, add an idea, or something else.</a:t>
            </a:r>
            <a:endParaRPr lang="en-US" sz="1400" dirty="0"/>
          </a:p>
          <a:p>
            <a:pPr indent="0" marL="0">
              <a:buNone/>
            </a:pPr>
            <a:r>
              <a:rPr lang="en-US" sz="800" dirty="0">
                <a:solidFill>
                  <a:schemeClr val="tx1"/>
                </a:solidFill>
              </a:rPr>
              <a:t> </a:t>
            </a:r>
            <a:endParaRPr lang="en-US" sz="1400" dirty="0"/>
          </a:p>
          <a:p>
            <a:pPr indent="0" marL="0">
              <a:buNone/>
            </a:pPr>
            <a:r>
              <a:rPr lang="en-US" sz="1400" b="1" dirty="0">
                <a:solidFill>
                  <a:schemeClr val="tx1"/>
                </a:solidFill>
              </a:rPr>
              <a:t>It starts your private copy</a:t>
            </a:r>
            <a:endParaRPr lang="en-US" sz="1400" dirty="0"/>
          </a:p>
          <a:p>
            <a:pPr indent="0" marL="0">
              <a:buNone/>
            </a:pPr>
            <a:r>
              <a:rPr lang="en-US" sz="1400" dirty="0">
                <a:solidFill>
                  <a:schemeClr val="accent2"/>
                </a:solidFill>
              </a:rPr>
              <a:t>And tells you where to open it.</a:t>
            </a:r>
            <a:endParaRPr lang="en-US" sz="1400" dirty="0"/>
          </a:p>
        </p:txBody>
      </p:sp>
      <p:sp>
        <p:nvSpPr>
          <p:cNvPr id="25" name="Slide Number Placeholder 0"/>
          <p:cNvSpPr>
            <a:spLocks noGrp="1"/>
          </p:cNvSpPr>
          <p:nvPr>
            <p:ph type="sldNum" sz="quarter" idx="4294967295"/>
          </p:nvPr>
        </p:nvSpPr>
        <p:spPr>
          <a:xfrm>
            <a:off x="850392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40080"/>
          </a:xfrm>
          <a:prstGeom prst="rect">
            <a:avLst/>
          </a:prstGeom>
          <a:noFill/>
          <a:ln/>
        </p:spPr>
        <p:txBody>
          <a:bodyPr wrap="square" lIns="0" tIns="0" rIns="0" bIns="0" rtlCol="0" anchor="ctr"/>
          <a:lstStyle/>
          <a:p>
            <a:pPr algn="l" indent="0" marL="0">
              <a:buNone/>
            </a:pPr>
            <a:r>
              <a:rPr lang="en-US" sz="2400" b="1" dirty="0">
                <a:solidFill>
                  <a:schemeClr val="tx1"/>
                </a:solidFill>
              </a:rPr>
              <a:t>Not sure what to make?</a:t>
            </a:r>
            <a:endParaRPr lang="en-US" sz="2400" dirty="0"/>
          </a:p>
        </p:txBody>
      </p:sp>
      <p:pic>
        <p:nvPicPr>
          <p:cNvPr id="3" name="Ideas board" descr="small/ideas.jpg">    </p:cNvPr>
          <p:cNvPicPr>
            <a:picLocks noChangeAspect="1"/>
          </p:cNvPicPr>
          <p:nvPr/>
        </p:nvPicPr>
        <p:blipFill>
          <a:blip r:embed="rId1"/>
          <a:stretch>
            <a:fillRect/>
          </a:stretch>
        </p:blipFill>
        <p:spPr>
          <a:xfrm>
            <a:off x="457200" y="1051560"/>
            <a:ext cx="5120640" cy="2923420"/>
          </a:xfrm>
          <a:prstGeom prst="rect">
            <a:avLst/>
          </a:prstGeom>
          <a:effectLst>
            <a:outerShdw sx="100000" sy="100000" kx="0" ky="0" algn="bl" rotWithShape="0" blurRad="76200" dist="25400" dir="5400000">
              <a:srgbClr val="000000">
                <a:alpha val="18000"/>
              </a:srgbClr>
            </a:outerShdw>
          </a:effectLst>
        </p:spPr>
      </p:pic>
      <p:sp>
        <p:nvSpPr>
          <p:cNvPr id="4" name="Text 1"/>
          <p:cNvSpPr txBox="1"/>
          <p:nvPr/>
        </p:nvSpPr>
        <p:spPr>
          <a:xfrm>
            <a:off x="5852160" y="1188720"/>
            <a:ext cx="2926080" cy="3383280"/>
          </a:xfrm>
          <a:prstGeom prst="rect">
            <a:avLst/>
          </a:prstGeom>
          <a:noFill/>
          <a:ln/>
        </p:spPr>
        <p:txBody>
          <a:bodyPr wrap="square" lIns="0" tIns="0" rIns="0" bIns="0" rtlCol="0" anchor="t"/>
          <a:lstStyle/>
          <a:p>
            <a:pPr indent="0" marL="0">
              <a:buNone/>
            </a:pPr>
            <a:r>
              <a:rPr lang="en-US" sz="1400" dirty="0">
                <a:solidFill>
                  <a:schemeClr val="tx1"/>
                </a:solidFill>
              </a:rPr>
              <a:t>The Ideas page (top bar, right) lists pieces nobody has designed yet, each with an open GitHub issue.</a:t>
            </a:r>
            <a:endParaRPr lang="en-US" sz="1400" dirty="0"/>
          </a:p>
          <a:p>
            <a:pPr indent="0" marL="0">
              <a:buNone/>
            </a:pPr>
            <a:r>
              <a:rPr lang="en-US" sz="1400" dirty="0">
                <a:solidFill>
                  <a:schemeClr val="tx1"/>
                </a:solidFill>
              </a:rPr>
              <a:t> </a:t>
            </a:r>
            <a:endParaRPr lang="en-US" sz="1400" dirty="0"/>
          </a:p>
          <a:p>
            <a:pPr indent="0" marL="0">
              <a:buNone/>
            </a:pPr>
            <a:r>
              <a:rPr lang="en-US" sz="1400" b="1" dirty="0">
                <a:solidFill>
                  <a:schemeClr val="tx1"/>
                </a:solidFill>
              </a:rPr>
              <a:t>Pick one, or bring your own.</a:t>
            </a:r>
            <a:endParaRPr lang="en-US" sz="1400" dirty="0"/>
          </a:p>
          <a:p>
            <a:pPr indent="0" marL="0">
              <a:buNone/>
            </a:pPr>
            <a:r>
              <a:rPr lang="en-US" sz="1400" dirty="0">
                <a:solidFill>
                  <a:schemeClr val="tx1"/>
                </a:solidFill>
              </a:rPr>
              <a:t> </a:t>
            </a:r>
            <a:endParaRPr lang="en-US" sz="1400" dirty="0"/>
          </a:p>
          <a:p>
            <a:pPr indent="0" marL="0">
              <a:buNone/>
            </a:pPr>
            <a:r>
              <a:rPr lang="en-US" sz="1400" dirty="0">
                <a:solidFill>
                  <a:schemeClr val="accent2"/>
                </a:solidFill>
              </a:rPr>
              <a:t>Tell Claude which one; it reads the issue and its pictures.</a:t>
            </a:r>
            <a:endParaRPr lang="en-US" sz="1400" dirty="0"/>
          </a:p>
        </p:txBody>
      </p:sp>
      <p:sp>
        <p:nvSpPr>
          <p:cNvPr id="25" name="Slide Number Placeholder 0"/>
          <p:cNvSpPr>
            <a:spLocks noGrp="1"/>
          </p:cNvSpPr>
          <p:nvPr>
            <p:ph type="sldNum" sz="quarter" idx="4294967295"/>
          </p:nvPr>
        </p:nvSpPr>
        <p:spPr>
          <a:xfrm>
            <a:off x="850392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40080"/>
          </a:xfrm>
          <a:prstGeom prst="rect">
            <a:avLst/>
          </a:prstGeom>
          <a:noFill/>
          <a:ln/>
        </p:spPr>
        <p:txBody>
          <a:bodyPr wrap="square" lIns="0" tIns="0" rIns="0" bIns="0" rtlCol="0" anchor="ctr"/>
          <a:lstStyle/>
          <a:p>
            <a:pPr algn="l" indent="0" marL="0">
              <a:buNone/>
            </a:pPr>
            <a:r>
              <a:rPr lang="en-US" sz="2400" b="1" dirty="0">
                <a:solidFill>
                  <a:schemeClr val="tx1"/>
                </a:solidFill>
              </a:rPr>
              <a:t>Your private copy of the site</a:t>
            </a:r>
            <a:endParaRPr lang="en-US" sz="2400" dirty="0"/>
          </a:p>
        </p:txBody>
      </p:sp>
      <p:pic>
        <p:nvPicPr>
          <p:cNvPr id="3" name="Local site open in Chrome" descr="small/sim-browser.jpg">    </p:cNvPr>
          <p:cNvPicPr>
            <a:picLocks noChangeAspect="1"/>
          </p:cNvPicPr>
          <p:nvPr/>
        </p:nvPicPr>
        <p:blipFill>
          <a:blip r:embed="rId1"/>
          <a:stretch>
            <a:fillRect/>
          </a:stretch>
        </p:blipFill>
        <p:spPr>
          <a:xfrm>
            <a:off x="457200" y="1051560"/>
            <a:ext cx="5120640" cy="3386938"/>
          </a:xfrm>
          <a:prstGeom prst="rect">
            <a:avLst/>
          </a:prstGeom>
          <a:effectLst>
            <a:outerShdw sx="100000" sy="100000" kx="0" ky="0" algn="bl" rotWithShape="0" blurRad="76200" dist="25400" dir="5400000">
              <a:srgbClr val="000000">
                <a:alpha val="18000"/>
              </a:srgbClr>
            </a:outerShdw>
          </a:effectLst>
        </p:spPr>
      </p:pic>
      <p:sp>
        <p:nvSpPr>
          <p:cNvPr id="4" name="Shape 1"/>
          <p:cNvSpPr/>
          <p:nvPr/>
        </p:nvSpPr>
        <p:spPr>
          <a:xfrm>
            <a:off x="5852160" y="1051560"/>
            <a:ext cx="2834640" cy="1554480"/>
          </a:xfrm>
          <a:prstGeom prst="roundRect">
            <a:avLst>
              <a:gd name="adj" fmla="val 4706"/>
            </a:avLst>
          </a:prstGeom>
          <a:solidFill>
            <a:schemeClr val="bg2"/>
          </a:solidFill>
          <a:ln w="12700">
            <a:solidFill>
              <a:schemeClr val="bg2"/>
            </a:solidFill>
            <a:prstDash val="solid"/>
          </a:ln>
        </p:spPr>
      </p:sp>
      <p:sp>
        <p:nvSpPr>
          <p:cNvPr id="5" name="Text 2"/>
          <p:cNvSpPr txBox="1"/>
          <p:nvPr/>
        </p:nvSpPr>
        <p:spPr>
          <a:xfrm>
            <a:off x="6035040" y="1188720"/>
            <a:ext cx="2514600" cy="1371600"/>
          </a:xfrm>
          <a:prstGeom prst="rect">
            <a:avLst/>
          </a:prstGeom>
          <a:noFill/>
          <a:ln/>
        </p:spPr>
        <p:txBody>
          <a:bodyPr wrap="square" lIns="0" tIns="0" rIns="0" bIns="0" rtlCol="0" anchor="t"/>
          <a:lstStyle/>
          <a:p>
            <a:pPr indent="0" marL="0">
              <a:buNone/>
            </a:pPr>
            <a:r>
              <a:rPr lang="en-US" sz="1500" b="1" dirty="0">
                <a:solidFill>
                  <a:schemeClr val="tx1"/>
                </a:solidFill>
              </a:rPr>
              <a:t>The real site</a:t>
            </a:r>
            <a:endParaRPr lang="en-US" sz="1400" dirty="0"/>
          </a:p>
          <a:p>
            <a:pPr indent="0" marL="0">
              <a:buNone/>
            </a:pPr>
            <a:r>
              <a:rPr lang="en-US" sz="1200" dirty="0">
                <a:solidFill>
                  <a:schemeClr val="accent2"/>
                </a:solidFill>
                <a:latin typeface="Courier New" pitchFamily="34" charset="0"/>
                <a:ea typeface="Courier New" pitchFamily="34" charset="-122"/>
                <a:cs typeface="Courier New" pitchFamily="34" charset="-120"/>
              </a:rPr>
              <a:t>mfprado.github.io/…</a:t>
            </a:r>
            <a:endParaRPr lang="en-US" sz="1400" dirty="0"/>
          </a:p>
          <a:p>
            <a:pPr indent="0" marL="0">
              <a:buNone/>
            </a:pPr>
            <a:r>
              <a:rPr lang="en-US" sz="1300" dirty="0">
                <a:solidFill>
                  <a:schemeClr val="accent2"/>
                </a:solidFill>
              </a:rPr>
              <a:t>Production: the shop window. Everyone sees it. It only changes after the owner approves.</a:t>
            </a:r>
            <a:endParaRPr lang="en-US" sz="1400" dirty="0"/>
          </a:p>
        </p:txBody>
      </p:sp>
      <p:sp>
        <p:nvSpPr>
          <p:cNvPr id="6" name="Shape 3"/>
          <p:cNvSpPr/>
          <p:nvPr/>
        </p:nvSpPr>
        <p:spPr>
          <a:xfrm>
            <a:off x="5852160" y="2788920"/>
            <a:ext cx="2834640" cy="1737360"/>
          </a:xfrm>
          <a:prstGeom prst="roundRect">
            <a:avLst>
              <a:gd name="adj" fmla="val 4211"/>
            </a:avLst>
          </a:prstGeom>
          <a:solidFill>
            <a:schemeClr val="tx2"/>
          </a:solidFill>
          <a:ln w="12700">
            <a:solidFill>
              <a:schemeClr val="tx2"/>
            </a:solidFill>
            <a:prstDash val="solid"/>
          </a:ln>
        </p:spPr>
      </p:sp>
      <p:sp>
        <p:nvSpPr>
          <p:cNvPr id="7" name="Text 4"/>
          <p:cNvSpPr txBox="1"/>
          <p:nvPr/>
        </p:nvSpPr>
        <p:spPr>
          <a:xfrm>
            <a:off x="6035040" y="2926080"/>
            <a:ext cx="2514600" cy="1554480"/>
          </a:xfrm>
          <a:prstGeom prst="rect">
            <a:avLst/>
          </a:prstGeom>
          <a:noFill/>
          <a:ln/>
        </p:spPr>
        <p:txBody>
          <a:bodyPr wrap="square" lIns="0" tIns="0" rIns="0" bIns="0" rtlCol="0" anchor="t"/>
          <a:lstStyle/>
          <a:p>
            <a:pPr indent="0" marL="0">
              <a:buNone/>
            </a:pPr>
            <a:r>
              <a:rPr lang="en-US" sz="1500" b="1" dirty="0">
                <a:solidFill>
                  <a:schemeClr val="bg1"/>
                </a:solidFill>
              </a:rPr>
              <a:t>Your private copy</a:t>
            </a:r>
            <a:endParaRPr lang="en-US" sz="1400" dirty="0"/>
          </a:p>
          <a:p>
            <a:pPr indent="0" marL="0">
              <a:buNone/>
            </a:pPr>
            <a:r>
              <a:rPr lang="en-US" sz="1200" dirty="0">
                <a:solidFill>
                  <a:schemeClr val="accent4"/>
                </a:solidFill>
                <a:latin typeface="Courier New" pitchFamily="34" charset="0"/>
                <a:ea typeface="Courier New" pitchFamily="34" charset="-122"/>
                <a:cs typeface="Courier New" pitchFamily="34" charset="-120"/>
              </a:rPr>
              <a:t>localhost:8000</a:t>
            </a:r>
            <a:endParaRPr lang="en-US" sz="1400" dirty="0"/>
          </a:p>
          <a:p>
            <a:pPr indent="0" marL="0">
              <a:buNone/>
            </a:pPr>
            <a:r>
              <a:rPr lang="en-US" sz="1300" dirty="0">
                <a:solidFill>
                  <a:schemeClr val="bg1"/>
                </a:solidFill>
              </a:rPr>
              <a:t>Non-production: the prototype on your workbench. Only on your computer, and it shows your changes straight away.</a:t>
            </a:r>
            <a:endParaRPr lang="en-US" sz="1400" dirty="0"/>
          </a:p>
        </p:txBody>
      </p:sp>
      <p:sp>
        <p:nvSpPr>
          <p:cNvPr id="25" name="Slide Number Placeholder 0"/>
          <p:cNvSpPr>
            <a:spLocks noGrp="1"/>
          </p:cNvSpPr>
          <p:nvPr>
            <p:ph type="sldNum" sz="quarter" idx="4294967295"/>
          </p:nvPr>
        </p:nvSpPr>
        <p:spPr>
          <a:xfrm>
            <a:off x="850392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40080"/>
          </a:xfrm>
          <a:prstGeom prst="rect">
            <a:avLst/>
          </a:prstGeom>
          <a:noFill/>
          <a:ln/>
        </p:spPr>
        <p:txBody>
          <a:bodyPr wrap="square" lIns="0" tIns="0" rIns="0" bIns="0" rtlCol="0" anchor="ctr"/>
          <a:lstStyle/>
          <a:p>
            <a:pPr algn="l" indent="0" marL="0">
              <a:buNone/>
            </a:pPr>
            <a:r>
              <a:rPr lang="en-US" sz="2400" b="1" dirty="0">
                <a:solidFill>
                  <a:schemeClr val="tx1"/>
                </a:solidFill>
              </a:rPr>
              <a:t>Open it in Chrome, in three moves</a:t>
            </a:r>
            <a:endParaRPr lang="en-US" sz="2400" dirty="0"/>
          </a:p>
        </p:txBody>
      </p:sp>
      <p:sp>
        <p:nvSpPr>
          <p:cNvPr id="3" name="Shape 1"/>
          <p:cNvSpPr/>
          <p:nvPr/>
        </p:nvSpPr>
        <p:spPr>
          <a:xfrm>
            <a:off x="457200" y="1097280"/>
            <a:ext cx="2606040" cy="2377440"/>
          </a:xfrm>
          <a:prstGeom prst="roundRect">
            <a:avLst>
              <a:gd name="adj" fmla="val 3077"/>
            </a:avLst>
          </a:prstGeom>
          <a:solidFill>
            <a:schemeClr val="bg2"/>
          </a:solidFill>
          <a:ln w="12700">
            <a:solidFill>
              <a:schemeClr val="bg2"/>
            </a:solidFill>
            <a:prstDash val="solid"/>
          </a:ln>
        </p:spPr>
      </p:sp>
      <p:sp>
        <p:nvSpPr>
          <p:cNvPr id="4" name="Text 2"/>
          <p:cNvSpPr txBox="1"/>
          <p:nvPr/>
        </p:nvSpPr>
        <p:spPr>
          <a:xfrm>
            <a:off x="685800" y="1280160"/>
            <a:ext cx="502920" cy="50292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685800" y="1920240"/>
            <a:ext cx="2194560" cy="1463040"/>
          </a:xfrm>
          <a:prstGeom prst="rect">
            <a:avLst/>
          </a:prstGeom>
          <a:noFill/>
          <a:ln/>
        </p:spPr>
        <p:txBody>
          <a:bodyPr wrap="square" lIns="0" tIns="0" rIns="0" bIns="0" rtlCol="0" anchor="t"/>
          <a:lstStyle/>
          <a:p>
            <a:pPr indent="0" marL="0">
              <a:buNone/>
            </a:pPr>
            <a:r>
              <a:rPr lang="en-US" sz="1600" b="1" dirty="0">
                <a:solidFill>
                  <a:schemeClr val="tx1"/>
                </a:solidFill>
              </a:rPr>
              <a:t>Claude starts it</a:t>
            </a:r>
            <a:endParaRPr lang="en-US" sz="1400" dirty="0"/>
          </a:p>
          <a:p>
            <a:pPr indent="0" marL="0">
              <a:buNone/>
            </a:pPr>
            <a:r>
              <a:rPr lang="en-US" sz="1300" dirty="0">
                <a:solidFill>
                  <a:schemeClr val="accent2"/>
                </a:solidFill>
              </a:rPr>
              <a:t>At the start of the session. Keep the chat open: closing it switches the copy off.</a:t>
            </a:r>
            <a:endParaRPr lang="en-US" sz="1400" dirty="0"/>
          </a:p>
        </p:txBody>
      </p:sp>
      <p:sp>
        <p:nvSpPr>
          <p:cNvPr id="6" name="Shape 4"/>
          <p:cNvSpPr/>
          <p:nvPr/>
        </p:nvSpPr>
        <p:spPr>
          <a:xfrm>
            <a:off x="3264408" y="1097280"/>
            <a:ext cx="2606040" cy="2377440"/>
          </a:xfrm>
          <a:prstGeom prst="roundRect">
            <a:avLst>
              <a:gd name="adj" fmla="val 3077"/>
            </a:avLst>
          </a:prstGeom>
          <a:solidFill>
            <a:schemeClr val="bg2"/>
          </a:solidFill>
          <a:ln w="12700">
            <a:solidFill>
              <a:schemeClr val="bg2"/>
            </a:solidFill>
            <a:prstDash val="solid"/>
          </a:ln>
        </p:spPr>
      </p:sp>
      <p:sp>
        <p:nvSpPr>
          <p:cNvPr id="7" name="Text 5"/>
          <p:cNvSpPr txBox="1"/>
          <p:nvPr/>
        </p:nvSpPr>
        <p:spPr>
          <a:xfrm>
            <a:off x="3493008" y="1280160"/>
            <a:ext cx="502920" cy="50292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 6"/>
          <p:cNvSpPr txBox="1"/>
          <p:nvPr/>
        </p:nvSpPr>
        <p:spPr>
          <a:xfrm>
            <a:off x="3493008" y="1920240"/>
            <a:ext cx="2194560" cy="1463040"/>
          </a:xfrm>
          <a:prstGeom prst="rect">
            <a:avLst/>
          </a:prstGeom>
          <a:noFill/>
          <a:ln/>
        </p:spPr>
        <p:txBody>
          <a:bodyPr wrap="square" lIns="0" tIns="0" rIns="0" bIns="0" rtlCol="0" anchor="t"/>
          <a:lstStyle/>
          <a:p>
            <a:pPr indent="0" marL="0">
              <a:buNone/>
            </a:pPr>
            <a:r>
              <a:rPr lang="en-US" sz="1600" b="1" dirty="0">
                <a:solidFill>
                  <a:schemeClr val="tx1"/>
                </a:solidFill>
              </a:rPr>
              <a:t>Type localhost:8000</a:t>
            </a:r>
            <a:endParaRPr lang="en-US" sz="1400" dirty="0"/>
          </a:p>
          <a:p>
            <a:pPr indent="0" marL="0">
              <a:buNone/>
            </a:pPr>
            <a:r>
              <a:rPr lang="en-US" sz="1300" dirty="0">
                <a:solidFill>
                  <a:schemeClr val="accent2"/>
                </a:solidFill>
              </a:rPr>
              <a:t>Open Chrome, click the address bar at the top, type localhost:8000 and press Enter.</a:t>
            </a:r>
            <a:endParaRPr lang="en-US" sz="1400" dirty="0"/>
          </a:p>
        </p:txBody>
      </p:sp>
      <p:sp>
        <p:nvSpPr>
          <p:cNvPr id="9" name="Shape 7"/>
          <p:cNvSpPr/>
          <p:nvPr/>
        </p:nvSpPr>
        <p:spPr>
          <a:xfrm>
            <a:off x="6071616" y="1097280"/>
            <a:ext cx="2606040" cy="2377440"/>
          </a:xfrm>
          <a:prstGeom prst="roundRect">
            <a:avLst>
              <a:gd name="adj" fmla="val 3077"/>
            </a:avLst>
          </a:prstGeom>
          <a:solidFill>
            <a:schemeClr val="bg2"/>
          </a:solidFill>
          <a:ln w="12700">
            <a:solidFill>
              <a:schemeClr val="bg2"/>
            </a:solidFill>
            <a:prstDash val="solid"/>
          </a:ln>
        </p:spPr>
      </p:sp>
      <p:sp>
        <p:nvSpPr>
          <p:cNvPr id="10" name="Text 8"/>
          <p:cNvSpPr txBox="1"/>
          <p:nvPr/>
        </p:nvSpPr>
        <p:spPr>
          <a:xfrm>
            <a:off x="6300216" y="1280160"/>
            <a:ext cx="502920" cy="50292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6300216" y="1920240"/>
            <a:ext cx="2194560" cy="1463040"/>
          </a:xfrm>
          <a:prstGeom prst="rect">
            <a:avLst/>
          </a:prstGeom>
          <a:noFill/>
          <a:ln/>
        </p:spPr>
        <p:txBody>
          <a:bodyPr wrap="square" lIns="0" tIns="0" rIns="0" bIns="0" rtlCol="0" anchor="t"/>
          <a:lstStyle/>
          <a:p>
            <a:pPr indent="0" marL="0">
              <a:buNone/>
            </a:pPr>
            <a:r>
              <a:rPr lang="en-US" sz="1600" b="1" dirty="0">
                <a:solidFill>
                  <a:schemeClr val="tx1"/>
                </a:solidFill>
              </a:rPr>
              <a:t>Refresh after each change</a:t>
            </a:r>
            <a:endParaRPr lang="en-US" sz="1400" dirty="0"/>
          </a:p>
          <a:p>
            <a:pPr indent="0" marL="0">
              <a:buNone/>
            </a:pPr>
            <a:r>
              <a:rPr lang="en-US" sz="1300" dirty="0">
                <a:solidFill>
                  <a:schemeClr val="accent2"/>
                </a:solidFill>
              </a:rPr>
              <a:t>Press Cmd+R on a Mac or Ctrl+R on Windows to see what Claude just changed.</a:t>
            </a:r>
            <a:endParaRPr lang="en-US" sz="1400" dirty="0"/>
          </a:p>
        </p:txBody>
      </p:sp>
      <p:sp>
        <p:nvSpPr>
          <p:cNvPr id="12" name="Shape 10"/>
          <p:cNvSpPr/>
          <p:nvPr/>
        </p:nvSpPr>
        <p:spPr>
          <a:xfrm>
            <a:off x="457200" y="3703320"/>
            <a:ext cx="8229600" cy="868680"/>
          </a:xfrm>
          <a:prstGeom prst="roundRect">
            <a:avLst>
              <a:gd name="adj" fmla="val 8421"/>
            </a:avLst>
          </a:prstGeom>
          <a:solidFill>
            <a:schemeClr val="tx2"/>
          </a:solidFill>
          <a:ln w="12700">
            <a:solidFill>
              <a:schemeClr val="tx2"/>
            </a:solidFill>
            <a:prstDash val="solid"/>
          </a:ln>
        </p:spPr>
      </p:sp>
      <p:sp>
        <p:nvSpPr>
          <p:cNvPr id="13" name="Text 11"/>
          <p:cNvSpPr txBox="1"/>
          <p:nvPr/>
        </p:nvSpPr>
        <p:spPr>
          <a:xfrm>
            <a:off x="685800" y="3840480"/>
            <a:ext cx="7772400" cy="594360"/>
          </a:xfrm>
          <a:prstGeom prst="rect">
            <a:avLst/>
          </a:prstGeom>
          <a:noFill/>
          <a:ln/>
        </p:spPr>
        <p:txBody>
          <a:bodyPr wrap="square" lIns="0" tIns="0" rIns="0" bIns="0" rtlCol="0" anchor="ctr"/>
          <a:lstStyle/>
          <a:p>
            <a:pPr indent="0" marL="0">
              <a:buNone/>
            </a:pPr>
            <a:r>
              <a:rPr lang="en-US" sz="1400" b="1" dirty="0">
                <a:solidFill>
                  <a:schemeClr val="bg1"/>
                </a:solidFill>
              </a:rPr>
              <a:t>"This site can't be reached"? </a:t>
            </a:r>
            <a:pPr indent="0" marL="0">
              <a:buNone/>
            </a:pPr>
            <a:r>
              <a:rPr lang="en-US" sz="1400" dirty="0">
                <a:solidFill>
                  <a:schemeClr val="bg1"/>
                </a:solidFill>
              </a:rPr>
              <a:t>The copy is switched off. Nothing is broken: just ask Claude to start the site again.</a:t>
            </a:r>
            <a:endParaRPr lang="en-US" sz="1400" dirty="0"/>
          </a:p>
        </p:txBody>
      </p:sp>
      <p:sp>
        <p:nvSpPr>
          <p:cNvPr id="25" name="Slide Number Placeholder 0"/>
          <p:cNvSpPr>
            <a:spLocks noGrp="1"/>
          </p:cNvSpPr>
          <p:nvPr>
            <p:ph type="sldNum" sz="quarter" idx="4294967295"/>
          </p:nvPr>
        </p:nvSpPr>
        <p:spPr>
          <a:xfrm>
            <a:off x="850392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40080"/>
          </a:xfrm>
          <a:prstGeom prst="rect">
            <a:avLst/>
          </a:prstGeom>
          <a:noFill/>
          <a:ln/>
        </p:spPr>
        <p:txBody>
          <a:bodyPr wrap="square" lIns="0" tIns="0" rIns="0" bIns="0" rtlCol="0" anchor="ctr"/>
          <a:lstStyle/>
          <a:p>
            <a:pPr algn="l" indent="0" marL="0">
              <a:buNone/>
            </a:pPr>
            <a:r>
              <a:rPr lang="en-US" sz="2400" b="1" dirty="0">
                <a:solidFill>
                  <a:schemeClr val="tx1"/>
                </a:solidFill>
              </a:rPr>
              <a:t>Work in rounds: chat, look, repeat</a:t>
            </a:r>
            <a:endParaRPr lang="en-US" sz="2400" dirty="0"/>
          </a:p>
        </p:txBody>
      </p:sp>
      <p:sp>
        <p:nvSpPr>
          <p:cNvPr id="3" name="Simulation tag"/>
          <p:cNvSpPr txBox="1"/>
          <p:nvPr/>
        </p:nvSpPr>
        <p:spPr>
          <a:xfrm>
            <a:off x="6949440" y="466344"/>
            <a:ext cx="1737360" cy="256032"/>
          </a:xfrm>
          <a:prstGeom prst="rect">
            <a:avLst/>
          </a:prstGeom>
          <a:solidFill>
            <a:schemeClr val="accent1"/>
          </a:solidFill>
          <a:ln/>
        </p:spPr>
        <p:txBody>
          <a:bodyPr wrap="square" lIns="0" tIns="0" rIns="0" bIns="0" rtlCol="0" anchor="ctr"/>
          <a:lstStyle/>
          <a:p>
            <a:pPr algn="ctr" indent="0" marL="0">
              <a:buNone/>
            </a:pPr>
            <a:r>
              <a:rPr lang="en-US" sz="1000" b="1" dirty="0">
                <a:solidFill>
                  <a:schemeClr val="bg1"/>
                </a:solidFill>
              </a:rPr>
              <a:t>SIMULATED EXAMPLE</a:t>
            </a:r>
            <a:endParaRPr lang="en-US" sz="1000" dirty="0"/>
          </a:p>
        </p:txBody>
      </p:sp>
      <p:pic>
        <p:nvPicPr>
          <p:cNvPr id="4" name="Simulated round" descr="small/app-rounds.jpg">    </p:cNvPr>
          <p:cNvPicPr>
            <a:picLocks noChangeAspect="1"/>
          </p:cNvPicPr>
          <p:nvPr/>
        </p:nvPicPr>
        <p:blipFill>
          <a:blip r:embed="rId1"/>
          <a:stretch>
            <a:fillRect/>
          </a:stretch>
        </p:blipFill>
        <p:spPr>
          <a:xfrm>
            <a:off x="457200" y="1051560"/>
            <a:ext cx="5394960" cy="2215787"/>
          </a:xfrm>
          <a:prstGeom prst="rect">
            <a:avLst/>
          </a:prstGeom>
          <a:effectLst>
            <a:outerShdw sx="100000" sy="100000" kx="0" ky="0" algn="bl" rotWithShape="0" blurRad="76200" dist="25400" dir="5400000">
              <a:srgbClr val="000000">
                <a:alpha val="18000"/>
              </a:srgbClr>
            </a:outerShdw>
          </a:effectLst>
        </p:spPr>
      </p:pic>
      <p:sp>
        <p:nvSpPr>
          <p:cNvPr id="5" name="Text 2"/>
          <p:cNvSpPr txBox="1"/>
          <p:nvPr/>
        </p:nvSpPr>
        <p:spPr>
          <a:xfrm>
            <a:off x="6126480" y="1188720"/>
            <a:ext cx="2651760" cy="2743200"/>
          </a:xfrm>
          <a:prstGeom prst="rect">
            <a:avLst/>
          </a:prstGeom>
          <a:noFill/>
          <a:ln/>
        </p:spPr>
        <p:txBody>
          <a:bodyPr wrap="square" lIns="0" tIns="0" rIns="0" bIns="0" rtlCol="0" anchor="t"/>
          <a:lstStyle/>
          <a:p>
            <a:pPr indent="0" marL="0">
              <a:buNone/>
            </a:pPr>
            <a:r>
              <a:rPr lang="en-US" sz="1400" b="1" dirty="0">
                <a:solidFill>
                  <a:schemeClr val="tx1"/>
                </a:solidFill>
              </a:rPr>
              <a:t>Claude makes one change</a:t>
            </a:r>
            <a:endParaRPr lang="en-US" sz="1400" dirty="0"/>
          </a:p>
          <a:p>
            <a:pPr indent="0" marL="0">
              <a:buNone/>
            </a:pPr>
            <a:r>
              <a:rPr lang="en-US" sz="1400" dirty="0">
                <a:solidFill>
                  <a:schemeClr val="accent2"/>
                </a:solidFill>
              </a:rPr>
              <a:t>And tells you exactly where to look.</a:t>
            </a:r>
            <a:endParaRPr lang="en-US" sz="1400" dirty="0"/>
          </a:p>
          <a:p>
            <a:pPr indent="0" marL="0">
              <a:buNone/>
            </a:pPr>
            <a:r>
              <a:rPr lang="en-US" sz="800" dirty="0">
                <a:solidFill>
                  <a:schemeClr val="tx1"/>
                </a:solidFill>
              </a:rPr>
              <a:t> </a:t>
            </a:r>
            <a:endParaRPr lang="en-US" sz="1400" dirty="0"/>
          </a:p>
          <a:p>
            <a:pPr indent="0" marL="0">
              <a:buNone/>
            </a:pPr>
            <a:r>
              <a:rPr lang="en-US" sz="1400" b="1" dirty="0">
                <a:solidFill>
                  <a:schemeClr val="tx1"/>
                </a:solidFill>
              </a:rPr>
              <a:t>You switch to Chrome</a:t>
            </a:r>
            <a:endParaRPr lang="en-US" sz="1400" dirty="0"/>
          </a:p>
          <a:p>
            <a:pPr indent="0" marL="0">
              <a:buNone/>
            </a:pPr>
            <a:r>
              <a:rPr lang="en-US" sz="1400" dirty="0">
                <a:solidFill>
                  <a:schemeClr val="accent2"/>
                </a:solidFill>
              </a:rPr>
              <a:t>Refresh, try it, come back to the chat.</a:t>
            </a:r>
            <a:endParaRPr lang="en-US" sz="1400" dirty="0"/>
          </a:p>
          <a:p>
            <a:pPr indent="0" marL="0">
              <a:buNone/>
            </a:pPr>
            <a:r>
              <a:rPr lang="en-US" sz="800" dirty="0">
                <a:solidFill>
                  <a:schemeClr val="tx1"/>
                </a:solidFill>
              </a:rPr>
              <a:t> </a:t>
            </a:r>
            <a:endParaRPr lang="en-US" sz="1400" dirty="0"/>
          </a:p>
          <a:p>
            <a:pPr indent="0" marL="0">
              <a:buNone/>
            </a:pPr>
            <a:r>
              <a:rPr lang="en-US" sz="1400" b="1" dirty="0">
                <a:solidFill>
                  <a:schemeClr val="tx1"/>
                </a:solidFill>
              </a:rPr>
              <a:t>You say what you think</a:t>
            </a:r>
            <a:endParaRPr lang="en-US" sz="1400" dirty="0"/>
          </a:p>
          <a:p>
            <a:pPr indent="0" marL="0">
              <a:buNone/>
            </a:pPr>
            <a:r>
              <a:rPr lang="en-US" sz="1400" dirty="0">
                <a:solidFill>
                  <a:schemeClr val="accent2"/>
                </a:solidFill>
              </a:rPr>
              <a:t>In plain words: "rename this", "add a height setting", "perfect".</a:t>
            </a:r>
            <a:endParaRPr lang="en-US" sz="1400" dirty="0"/>
          </a:p>
        </p:txBody>
      </p:sp>
      <p:sp>
        <p:nvSpPr>
          <p:cNvPr id="6" name="Shape 3"/>
          <p:cNvSpPr/>
          <p:nvPr/>
        </p:nvSpPr>
        <p:spPr>
          <a:xfrm>
            <a:off x="6126480" y="3611880"/>
            <a:ext cx="2651760" cy="777240"/>
          </a:xfrm>
          <a:prstGeom prst="roundRect">
            <a:avLst>
              <a:gd name="adj" fmla="val 9412"/>
            </a:avLst>
          </a:prstGeom>
          <a:solidFill>
            <a:schemeClr val="bg2"/>
          </a:solidFill>
          <a:ln w="12700">
            <a:solidFill>
              <a:schemeClr val="bg2"/>
            </a:solidFill>
            <a:prstDash val="solid"/>
          </a:ln>
        </p:spPr>
      </p:sp>
      <p:sp>
        <p:nvSpPr>
          <p:cNvPr id="7" name="Text 4"/>
          <p:cNvSpPr txBox="1"/>
          <p:nvPr/>
        </p:nvSpPr>
        <p:spPr>
          <a:xfrm>
            <a:off x="6263640" y="3657600"/>
            <a:ext cx="2377440" cy="685800"/>
          </a:xfrm>
          <a:prstGeom prst="rect">
            <a:avLst/>
          </a:prstGeom>
          <a:noFill/>
          <a:ln/>
        </p:spPr>
        <p:txBody>
          <a:bodyPr wrap="square" lIns="0" tIns="0" rIns="0" bIns="0" rtlCol="0" anchor="ctr"/>
          <a:lstStyle/>
          <a:p>
            <a:pPr indent="0" marL="0">
              <a:buNone/>
            </a:pPr>
            <a:r>
              <a:rPr lang="en-US" sz="1200" dirty="0">
                <a:solidFill>
                  <a:schemeClr val="tx1"/>
                </a:solidFill>
              </a:rPr>
              <a:t>Each round is saved, so nothing is lost if you change your mind.</a:t>
            </a:r>
            <a:endParaRPr lang="en-US" sz="1200" dirty="0"/>
          </a:p>
        </p:txBody>
      </p:sp>
      <p:sp>
        <p:nvSpPr>
          <p:cNvPr id="25" name="Slide Number Placeholder 0"/>
          <p:cNvSpPr>
            <a:spLocks noGrp="1"/>
          </p:cNvSpPr>
          <p:nvPr>
            <p:ph type="sldNum" sz="quarter" idx="4294967295"/>
          </p:nvPr>
        </p:nvSpPr>
        <p:spPr>
          <a:xfrm>
            <a:off x="850392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40080"/>
          </a:xfrm>
          <a:prstGeom prst="rect">
            <a:avLst/>
          </a:prstGeom>
          <a:noFill/>
          <a:ln/>
        </p:spPr>
        <p:txBody>
          <a:bodyPr wrap="square" lIns="0" tIns="0" rIns="0" bIns="0" rtlCol="0" anchor="ctr"/>
          <a:lstStyle/>
          <a:p>
            <a:pPr algn="l" indent="0" marL="0">
              <a:buNone/>
            </a:pPr>
            <a:r>
              <a:rPr lang="en-US" sz="2400" b="1" dirty="0">
                <a:solidFill>
                  <a:schemeClr val="tx1"/>
                </a:solidFill>
              </a:rPr>
              <a:t>New piece? It starts with a brief</a:t>
            </a:r>
            <a:endParaRPr lang="en-US" sz="2400" dirty="0"/>
          </a:p>
        </p:txBody>
      </p:sp>
      <p:sp>
        <p:nvSpPr>
          <p:cNvPr id="3" name="Simulation tag"/>
          <p:cNvSpPr txBox="1"/>
          <p:nvPr/>
        </p:nvSpPr>
        <p:spPr>
          <a:xfrm>
            <a:off x="6949440" y="466344"/>
            <a:ext cx="1737360" cy="256032"/>
          </a:xfrm>
          <a:prstGeom prst="rect">
            <a:avLst/>
          </a:prstGeom>
          <a:solidFill>
            <a:schemeClr val="accent1"/>
          </a:solidFill>
          <a:ln/>
        </p:spPr>
        <p:txBody>
          <a:bodyPr wrap="square" lIns="0" tIns="0" rIns="0" bIns="0" rtlCol="0" anchor="ctr"/>
          <a:lstStyle/>
          <a:p>
            <a:pPr algn="ctr" indent="0" marL="0">
              <a:buNone/>
            </a:pPr>
            <a:r>
              <a:rPr lang="en-US" sz="1000" b="1" dirty="0">
                <a:solidFill>
                  <a:schemeClr val="bg1"/>
                </a:solidFill>
              </a:rPr>
              <a:t>SIMULATED EXAMPLE</a:t>
            </a:r>
            <a:endParaRPr lang="en-US" sz="1000" dirty="0"/>
          </a:p>
        </p:txBody>
      </p:sp>
      <p:pic>
        <p:nvPicPr>
          <p:cNvPr id="4" name="Simulated design brief" descr="small/sim-brief.jpg">    </p:cNvPr>
          <p:cNvPicPr>
            <a:picLocks noChangeAspect="1"/>
          </p:cNvPicPr>
          <p:nvPr/>
        </p:nvPicPr>
        <p:blipFill>
          <a:blip r:embed="rId1"/>
          <a:stretch>
            <a:fillRect/>
          </a:stretch>
        </p:blipFill>
        <p:spPr>
          <a:xfrm>
            <a:off x="457200" y="1051560"/>
            <a:ext cx="4397071" cy="3611880"/>
          </a:xfrm>
          <a:prstGeom prst="rect">
            <a:avLst/>
          </a:prstGeom>
          <a:effectLst>
            <a:outerShdw sx="100000" sy="100000" kx="0" ky="0" algn="bl" rotWithShape="0" blurRad="76200" dist="25400" dir="5400000">
              <a:srgbClr val="000000">
                <a:alpha val="18000"/>
              </a:srgbClr>
            </a:outerShdw>
          </a:effectLst>
        </p:spPr>
      </p:pic>
      <p:sp>
        <p:nvSpPr>
          <p:cNvPr id="5" name="Text 2"/>
          <p:cNvSpPr txBox="1"/>
          <p:nvPr/>
        </p:nvSpPr>
        <p:spPr>
          <a:xfrm>
            <a:off x="5486400" y="1188720"/>
            <a:ext cx="3291840" cy="3474720"/>
          </a:xfrm>
          <a:prstGeom prst="rect">
            <a:avLst/>
          </a:prstGeom>
          <a:noFill/>
          <a:ln/>
        </p:spPr>
        <p:txBody>
          <a:bodyPr wrap="square" lIns="0" tIns="0" rIns="0" bIns="0" rtlCol="0" anchor="t"/>
          <a:lstStyle/>
          <a:p>
            <a:pPr indent="0" marL="0">
              <a:buNone/>
            </a:pPr>
            <a:r>
              <a:rPr lang="en-US" sz="1400" b="1" dirty="0">
                <a:solidFill>
                  <a:schemeClr val="tx1"/>
                </a:solidFill>
              </a:rPr>
              <a:t>An interview first</a:t>
            </a:r>
            <a:endParaRPr lang="en-US" sz="1400" dirty="0"/>
          </a:p>
          <a:p>
            <a:pPr indent="0" marL="0">
              <a:buNone/>
            </a:pPr>
            <a:r>
              <a:rPr lang="en-US" sz="1400" dirty="0">
                <a:solidFill>
                  <a:schemeClr val="accent2"/>
                </a:solidFill>
              </a:rPr>
              <a:t>Claude asks one question at a time: parts, sizes, how it goes together, what people can change.</a:t>
            </a:r>
            <a:endParaRPr lang="en-US" sz="1400" dirty="0"/>
          </a:p>
          <a:p>
            <a:pPr indent="0" marL="0">
              <a:buNone/>
            </a:pPr>
            <a:r>
              <a:rPr lang="en-US" sz="800" dirty="0">
                <a:solidFill>
                  <a:schemeClr val="tx1"/>
                </a:solidFill>
              </a:rPr>
              <a:t> </a:t>
            </a:r>
            <a:endParaRPr lang="en-US" sz="1400" dirty="0"/>
          </a:p>
          <a:p>
            <a:pPr indent="0" marL="0">
              <a:buNone/>
            </a:pPr>
            <a:r>
              <a:rPr lang="en-US" sz="1400" b="1" dirty="0">
                <a:solidFill>
                  <a:schemeClr val="tx1"/>
                </a:solidFill>
              </a:rPr>
              <a:t>Written down as a brief</a:t>
            </a:r>
            <a:endParaRPr lang="en-US" sz="1400" dirty="0"/>
          </a:p>
          <a:p>
            <a:pPr indent="0" marL="0">
              <a:buNone/>
            </a:pPr>
            <a:r>
              <a:rPr lang="en-US" sz="1400" dirty="0">
                <a:solidFill>
                  <a:schemeClr val="accent2"/>
                </a:solidFill>
              </a:rPr>
              <a:t>You approve it before anything is built.</a:t>
            </a:r>
            <a:endParaRPr lang="en-US" sz="1400" dirty="0"/>
          </a:p>
          <a:p>
            <a:pPr indent="0" marL="0">
              <a:buNone/>
            </a:pPr>
            <a:r>
              <a:rPr lang="en-US" sz="800" dirty="0">
                <a:solidFill>
                  <a:schemeClr val="tx1"/>
                </a:solidFill>
              </a:rPr>
              <a:t> </a:t>
            </a:r>
            <a:endParaRPr lang="en-US" sz="1400" dirty="0"/>
          </a:p>
          <a:p>
            <a:pPr indent="0" marL="0">
              <a:buNone/>
            </a:pPr>
            <a:r>
              <a:rPr lang="en-US" sz="1400" b="1" dirty="0">
                <a:solidFill>
                  <a:schemeClr val="tx1"/>
                </a:solidFill>
              </a:rPr>
              <a:t>Unknown means unknown</a:t>
            </a:r>
            <a:endParaRPr lang="en-US" sz="1400" dirty="0"/>
          </a:p>
          <a:p>
            <a:pPr indent="0" marL="0">
              <a:buNone/>
            </a:pPr>
            <a:r>
              <a:rPr lang="en-US" sz="1400" dirty="0">
                <a:solidFill>
                  <a:schemeClr val="accent2"/>
                </a:solidFill>
              </a:rPr>
              <a:t>Any size not on a listing goes on a "to measure" list.</a:t>
            </a:r>
            <a:endParaRPr lang="en-US" sz="1400" dirty="0"/>
          </a:p>
        </p:txBody>
      </p:sp>
      <p:sp>
        <p:nvSpPr>
          <p:cNvPr id="25" name="Slide Number Placeholder 0"/>
          <p:cNvSpPr>
            <a:spLocks noGrp="1"/>
          </p:cNvSpPr>
          <p:nvPr>
            <p:ph type="sldNum" sz="quarter" idx="4294967295"/>
          </p:nvPr>
        </p:nvSpPr>
        <p:spPr>
          <a:xfrm>
            <a:off x="850392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40080"/>
          </a:xfrm>
          <a:prstGeom prst="rect">
            <a:avLst/>
          </a:prstGeom>
          <a:noFill/>
          <a:ln/>
        </p:spPr>
        <p:txBody>
          <a:bodyPr wrap="square" lIns="0" tIns="0" rIns="0" bIns="0" rtlCol="0" anchor="ctr"/>
          <a:lstStyle/>
          <a:p>
            <a:pPr algn="l" indent="0" marL="0">
              <a:buNone/>
            </a:pPr>
            <a:r>
              <a:rPr lang="en-US" sz="2400" b="1" dirty="0">
                <a:solidFill>
                  <a:schemeClr val="tx1"/>
                </a:solidFill>
              </a:rPr>
              <a:t>Before sending: try it all</a:t>
            </a:r>
            <a:endParaRPr lang="en-US" sz="2400" dirty="0"/>
          </a:p>
        </p:txBody>
      </p:sp>
      <p:sp>
        <p:nvSpPr>
          <p:cNvPr id="3" name="Text 1"/>
          <p:cNvSpPr txBox="1"/>
          <p:nvPr/>
        </p:nvSpPr>
        <p:spPr>
          <a:xfrm>
            <a:off x="457200" y="1097280"/>
            <a:ext cx="274320" cy="365760"/>
          </a:xfrm>
          <a:prstGeom prst="rect">
            <a:avLst/>
          </a:prstGeom>
          <a:noFill/>
          <a:ln/>
        </p:spPr>
        <p:txBody>
          <a:bodyPr wrap="square" lIns="0" tIns="0" rIns="0" bIns="0" rtlCol="0" anchor="t"/>
          <a:lstStyle/>
          <a:p>
            <a:pPr indent="0" marL="0">
              <a:buNone/>
            </a:pPr>
            <a:r>
              <a:rPr lang="en-US" sz="1600" b="1" dirty="0">
                <a:solidFill>
                  <a:schemeClr val="accent1"/>
                </a:solidFill>
              </a:rPr>
              <a:t>✓</a:t>
            </a:r>
            <a:endParaRPr lang="en-US" sz="1600" dirty="0"/>
          </a:p>
        </p:txBody>
      </p:sp>
      <p:sp>
        <p:nvSpPr>
          <p:cNvPr id="4" name="Text 2"/>
          <p:cNvSpPr txBox="1"/>
          <p:nvPr/>
        </p:nvSpPr>
        <p:spPr>
          <a:xfrm>
            <a:off x="777240" y="1115568"/>
            <a:ext cx="2194560" cy="411480"/>
          </a:xfrm>
          <a:prstGeom prst="rect">
            <a:avLst/>
          </a:prstGeom>
          <a:noFill/>
          <a:ln/>
        </p:spPr>
        <p:txBody>
          <a:bodyPr wrap="square" lIns="0" tIns="0" rIns="0" bIns="0" rtlCol="0" anchor="t"/>
          <a:lstStyle/>
          <a:p>
            <a:pPr indent="0" marL="0">
              <a:buNone/>
            </a:pPr>
            <a:r>
              <a:rPr lang="en-US" sz="1400" dirty="0">
                <a:solidFill>
                  <a:schemeClr val="tx1"/>
                </a:solidFill>
              </a:rPr>
              <a:t>Smallest and largest sizes</a:t>
            </a:r>
            <a:endParaRPr lang="en-US" sz="1400" dirty="0"/>
          </a:p>
        </p:txBody>
      </p:sp>
      <p:sp>
        <p:nvSpPr>
          <p:cNvPr id="5" name="Text 3"/>
          <p:cNvSpPr txBox="1"/>
          <p:nvPr/>
        </p:nvSpPr>
        <p:spPr>
          <a:xfrm>
            <a:off x="3017520" y="1097280"/>
            <a:ext cx="274320" cy="365760"/>
          </a:xfrm>
          <a:prstGeom prst="rect">
            <a:avLst/>
          </a:prstGeom>
          <a:noFill/>
          <a:ln/>
        </p:spPr>
        <p:txBody>
          <a:bodyPr wrap="square" lIns="0" tIns="0" rIns="0" bIns="0" rtlCol="0" anchor="t"/>
          <a:lstStyle/>
          <a:p>
            <a:pPr indent="0" marL="0">
              <a:buNone/>
            </a:pPr>
            <a:r>
              <a:rPr lang="en-US" sz="1600" b="1" dirty="0">
                <a:solidFill>
                  <a:schemeClr val="accent1"/>
                </a:solidFill>
              </a:rPr>
              <a:t>✓</a:t>
            </a:r>
            <a:endParaRPr lang="en-US" sz="1600" dirty="0"/>
          </a:p>
        </p:txBody>
      </p:sp>
      <p:sp>
        <p:nvSpPr>
          <p:cNvPr id="6" name="Text 4"/>
          <p:cNvSpPr txBox="1"/>
          <p:nvPr/>
        </p:nvSpPr>
        <p:spPr>
          <a:xfrm>
            <a:off x="3337560" y="1115568"/>
            <a:ext cx="2194560" cy="411480"/>
          </a:xfrm>
          <a:prstGeom prst="rect">
            <a:avLst/>
          </a:prstGeom>
          <a:noFill/>
          <a:ln/>
        </p:spPr>
        <p:txBody>
          <a:bodyPr wrap="square" lIns="0" tIns="0" rIns="0" bIns="0" rtlCol="0" anchor="t"/>
          <a:lstStyle/>
          <a:p>
            <a:pPr indent="0" marL="0">
              <a:buNone/>
            </a:pPr>
            <a:r>
              <a:rPr lang="en-US" sz="1400" dirty="0">
                <a:solidFill>
                  <a:schemeClr val="tx1"/>
                </a:solidFill>
              </a:rPr>
              <a:t>Each option on and off</a:t>
            </a:r>
            <a:endParaRPr lang="en-US" sz="1400" dirty="0"/>
          </a:p>
        </p:txBody>
      </p:sp>
      <p:sp>
        <p:nvSpPr>
          <p:cNvPr id="7" name="Text 5"/>
          <p:cNvSpPr txBox="1"/>
          <p:nvPr/>
        </p:nvSpPr>
        <p:spPr>
          <a:xfrm>
            <a:off x="457200" y="1645920"/>
            <a:ext cx="274320" cy="365760"/>
          </a:xfrm>
          <a:prstGeom prst="rect">
            <a:avLst/>
          </a:prstGeom>
          <a:noFill/>
          <a:ln/>
        </p:spPr>
        <p:txBody>
          <a:bodyPr wrap="square" lIns="0" tIns="0" rIns="0" bIns="0" rtlCol="0" anchor="t"/>
          <a:lstStyle/>
          <a:p>
            <a:pPr indent="0" marL="0">
              <a:buNone/>
            </a:pPr>
            <a:r>
              <a:rPr lang="en-US" sz="1600" b="1" dirty="0">
                <a:solidFill>
                  <a:schemeClr val="accent1"/>
                </a:solidFill>
              </a:rPr>
              <a:t>✓</a:t>
            </a:r>
            <a:endParaRPr lang="en-US" sz="1600" dirty="0"/>
          </a:p>
        </p:txBody>
      </p:sp>
      <p:sp>
        <p:nvSpPr>
          <p:cNvPr id="8" name="Text 6"/>
          <p:cNvSpPr txBox="1"/>
          <p:nvPr/>
        </p:nvSpPr>
        <p:spPr>
          <a:xfrm>
            <a:off x="777240" y="1664208"/>
            <a:ext cx="2194560" cy="411480"/>
          </a:xfrm>
          <a:prstGeom prst="rect">
            <a:avLst/>
          </a:prstGeom>
          <a:noFill/>
          <a:ln/>
        </p:spPr>
        <p:txBody>
          <a:bodyPr wrap="square" lIns="0" tIns="0" rIns="0" bIns="0" rtlCol="0" anchor="t"/>
          <a:lstStyle/>
          <a:p>
            <a:pPr indent="0" marL="0">
              <a:buNone/>
            </a:pPr>
            <a:r>
              <a:rPr lang="en-US" sz="1400" dirty="0">
                <a:solidFill>
                  <a:schemeClr val="tx1"/>
                </a:solidFill>
              </a:rPr>
              <a:t>Make each warning appear</a:t>
            </a:r>
            <a:endParaRPr lang="en-US" sz="1400" dirty="0"/>
          </a:p>
        </p:txBody>
      </p:sp>
      <p:sp>
        <p:nvSpPr>
          <p:cNvPr id="9" name="Text 7"/>
          <p:cNvSpPr txBox="1"/>
          <p:nvPr/>
        </p:nvSpPr>
        <p:spPr>
          <a:xfrm>
            <a:off x="3017520" y="1645920"/>
            <a:ext cx="274320" cy="365760"/>
          </a:xfrm>
          <a:prstGeom prst="rect">
            <a:avLst/>
          </a:prstGeom>
          <a:noFill/>
          <a:ln/>
        </p:spPr>
        <p:txBody>
          <a:bodyPr wrap="square" lIns="0" tIns="0" rIns="0" bIns="0" rtlCol="0" anchor="t"/>
          <a:lstStyle/>
          <a:p>
            <a:pPr indent="0" marL="0">
              <a:buNone/>
            </a:pPr>
            <a:r>
              <a:rPr lang="en-US" sz="1600" b="1" dirty="0">
                <a:solidFill>
                  <a:schemeClr val="accent1"/>
                </a:solidFill>
              </a:rPr>
              <a:t>✓</a:t>
            </a:r>
            <a:endParaRPr lang="en-US" sz="1600" dirty="0"/>
          </a:p>
        </p:txBody>
      </p:sp>
      <p:sp>
        <p:nvSpPr>
          <p:cNvPr id="10" name="Text 8"/>
          <p:cNvSpPr txBox="1"/>
          <p:nvPr/>
        </p:nvSpPr>
        <p:spPr>
          <a:xfrm>
            <a:off x="3337560" y="1664208"/>
            <a:ext cx="2194560" cy="411480"/>
          </a:xfrm>
          <a:prstGeom prst="rect">
            <a:avLst/>
          </a:prstGeom>
          <a:noFill/>
          <a:ln/>
        </p:spPr>
        <p:txBody>
          <a:bodyPr wrap="square" lIns="0" tIns="0" rIns="0" bIns="0" rtlCol="0" anchor="t"/>
          <a:lstStyle/>
          <a:p>
            <a:pPr indent="0" marL="0">
              <a:buNone/>
            </a:pPr>
            <a:r>
              <a:rPr lang="en-US" sz="1400" dirty="0">
                <a:solidFill>
                  <a:schemeClr val="tx1"/>
                </a:solidFill>
              </a:rPr>
              <a:t>Click parts in the 3D view</a:t>
            </a:r>
            <a:endParaRPr lang="en-US" sz="1400" dirty="0"/>
          </a:p>
        </p:txBody>
      </p:sp>
      <p:sp>
        <p:nvSpPr>
          <p:cNvPr id="11" name="Text 9"/>
          <p:cNvSpPr txBox="1"/>
          <p:nvPr/>
        </p:nvSpPr>
        <p:spPr>
          <a:xfrm>
            <a:off x="457200" y="2194560"/>
            <a:ext cx="274320" cy="365760"/>
          </a:xfrm>
          <a:prstGeom prst="rect">
            <a:avLst/>
          </a:prstGeom>
          <a:noFill/>
          <a:ln/>
        </p:spPr>
        <p:txBody>
          <a:bodyPr wrap="square" lIns="0" tIns="0" rIns="0" bIns="0" rtlCol="0" anchor="t"/>
          <a:lstStyle/>
          <a:p>
            <a:pPr indent="0" marL="0">
              <a:buNone/>
            </a:pPr>
            <a:r>
              <a:rPr lang="en-US" sz="1600" b="1" dirty="0">
                <a:solidFill>
                  <a:schemeClr val="accent1"/>
                </a:solidFill>
              </a:rPr>
              <a:t>✓</a:t>
            </a:r>
            <a:endParaRPr lang="en-US" sz="1600" dirty="0"/>
          </a:p>
        </p:txBody>
      </p:sp>
      <p:sp>
        <p:nvSpPr>
          <p:cNvPr id="12" name="Text 10"/>
          <p:cNvSpPr txBox="1"/>
          <p:nvPr/>
        </p:nvSpPr>
        <p:spPr>
          <a:xfrm>
            <a:off x="777240" y="2212848"/>
            <a:ext cx="2194560" cy="411480"/>
          </a:xfrm>
          <a:prstGeom prst="rect">
            <a:avLst/>
          </a:prstGeom>
          <a:noFill/>
          <a:ln/>
        </p:spPr>
        <p:txBody>
          <a:bodyPr wrap="square" lIns="0" tIns="0" rIns="0" bIns="0" rtlCol="0" anchor="t"/>
          <a:lstStyle/>
          <a:p>
            <a:pPr indent="0" marL="0">
              <a:buNone/>
            </a:pPr>
            <a:r>
              <a:rPr lang="en-US" sz="1400" dirty="0">
                <a:solidFill>
                  <a:schemeClr val="tx1"/>
                </a:solidFill>
              </a:rPr>
              <a:t>Find it in the top menu</a:t>
            </a:r>
            <a:endParaRPr lang="en-US" sz="1400" dirty="0"/>
          </a:p>
        </p:txBody>
      </p:sp>
      <p:sp>
        <p:nvSpPr>
          <p:cNvPr id="13" name="Text 11"/>
          <p:cNvSpPr txBox="1"/>
          <p:nvPr/>
        </p:nvSpPr>
        <p:spPr>
          <a:xfrm>
            <a:off x="3017520" y="2194560"/>
            <a:ext cx="274320" cy="365760"/>
          </a:xfrm>
          <a:prstGeom prst="rect">
            <a:avLst/>
          </a:prstGeom>
          <a:noFill/>
          <a:ln/>
        </p:spPr>
        <p:txBody>
          <a:bodyPr wrap="square" lIns="0" tIns="0" rIns="0" bIns="0" rtlCol="0" anchor="t"/>
          <a:lstStyle/>
          <a:p>
            <a:pPr indent="0" marL="0">
              <a:buNone/>
            </a:pPr>
            <a:r>
              <a:rPr lang="en-US" sz="1600" b="1" dirty="0">
                <a:solidFill>
                  <a:schemeClr val="accent1"/>
                </a:solidFill>
              </a:rPr>
              <a:t>✓</a:t>
            </a:r>
            <a:endParaRPr lang="en-US" sz="1600" dirty="0"/>
          </a:p>
        </p:txBody>
      </p:sp>
      <p:sp>
        <p:nvSpPr>
          <p:cNvPr id="14" name="Text 12"/>
          <p:cNvSpPr txBox="1"/>
          <p:nvPr/>
        </p:nvSpPr>
        <p:spPr>
          <a:xfrm>
            <a:off x="3337560" y="2212848"/>
            <a:ext cx="2194560" cy="411480"/>
          </a:xfrm>
          <a:prstGeom prst="rect">
            <a:avLst/>
          </a:prstGeom>
          <a:noFill/>
          <a:ln/>
        </p:spPr>
        <p:txBody>
          <a:bodyPr wrap="square" lIns="0" tIns="0" rIns="0" bIns="0" rtlCol="0" anchor="t"/>
          <a:lstStyle/>
          <a:p>
            <a:pPr indent="0" marL="0">
              <a:buNone/>
            </a:pPr>
            <a:r>
              <a:rPr lang="en-US" sz="1400" dirty="0">
                <a:solidFill>
                  <a:schemeClr val="tx1"/>
                </a:solidFill>
              </a:rPr>
              <a:t>Download and read the PDF</a:t>
            </a:r>
            <a:endParaRPr lang="en-US" sz="1400" dirty="0"/>
          </a:p>
        </p:txBody>
      </p:sp>
      <p:sp>
        <p:nvSpPr>
          <p:cNvPr id="15" name="Text 13"/>
          <p:cNvSpPr txBox="1"/>
          <p:nvPr/>
        </p:nvSpPr>
        <p:spPr>
          <a:xfrm>
            <a:off x="457200" y="2743200"/>
            <a:ext cx="274320" cy="365760"/>
          </a:xfrm>
          <a:prstGeom prst="rect">
            <a:avLst/>
          </a:prstGeom>
          <a:noFill/>
          <a:ln/>
        </p:spPr>
        <p:txBody>
          <a:bodyPr wrap="square" lIns="0" tIns="0" rIns="0" bIns="0" rtlCol="0" anchor="t"/>
          <a:lstStyle/>
          <a:p>
            <a:pPr indent="0" marL="0">
              <a:buNone/>
            </a:pPr>
            <a:r>
              <a:rPr lang="en-US" sz="1600" b="1" dirty="0">
                <a:solidFill>
                  <a:schemeClr val="accent1"/>
                </a:solidFill>
              </a:rPr>
              <a:t>✓</a:t>
            </a:r>
            <a:endParaRPr lang="en-US" sz="1600" dirty="0"/>
          </a:p>
        </p:txBody>
      </p:sp>
      <p:sp>
        <p:nvSpPr>
          <p:cNvPr id="16" name="Text 14"/>
          <p:cNvSpPr txBox="1"/>
          <p:nvPr/>
        </p:nvSpPr>
        <p:spPr>
          <a:xfrm>
            <a:off x="777240" y="2761488"/>
            <a:ext cx="2194560" cy="411480"/>
          </a:xfrm>
          <a:prstGeom prst="rect">
            <a:avLst/>
          </a:prstGeom>
          <a:noFill/>
          <a:ln/>
        </p:spPr>
        <p:txBody>
          <a:bodyPr wrap="square" lIns="0" tIns="0" rIns="0" bIns="0" rtlCol="0" anchor="t"/>
          <a:lstStyle/>
          <a:p>
            <a:pPr indent="0" marL="0">
              <a:buNone/>
            </a:pPr>
            <a:r>
              <a:rPr lang="en-US" sz="1400" dirty="0">
                <a:solidFill>
                  <a:schemeClr val="tx1"/>
                </a:solidFill>
              </a:rPr>
              <a:t>Shelf and desk still work</a:t>
            </a:r>
            <a:endParaRPr lang="en-US" sz="1400" dirty="0"/>
          </a:p>
        </p:txBody>
      </p:sp>
      <p:sp>
        <p:nvSpPr>
          <p:cNvPr id="17" name="Text 15"/>
          <p:cNvSpPr txBox="1"/>
          <p:nvPr/>
        </p:nvSpPr>
        <p:spPr>
          <a:xfrm>
            <a:off x="3017520" y="2743200"/>
            <a:ext cx="274320" cy="365760"/>
          </a:xfrm>
          <a:prstGeom prst="rect">
            <a:avLst/>
          </a:prstGeom>
          <a:noFill/>
          <a:ln/>
        </p:spPr>
        <p:txBody>
          <a:bodyPr wrap="square" lIns="0" tIns="0" rIns="0" bIns="0" rtlCol="0" anchor="t"/>
          <a:lstStyle/>
          <a:p>
            <a:pPr indent="0" marL="0">
              <a:buNone/>
            </a:pPr>
            <a:r>
              <a:rPr lang="en-US" sz="1600" b="1" dirty="0">
                <a:solidFill>
                  <a:schemeClr val="accent1"/>
                </a:solidFill>
              </a:rPr>
              <a:t>✓</a:t>
            </a:r>
            <a:endParaRPr lang="en-US" sz="1600" dirty="0"/>
          </a:p>
        </p:txBody>
      </p:sp>
      <p:sp>
        <p:nvSpPr>
          <p:cNvPr id="18" name="Text 16"/>
          <p:cNvSpPr txBox="1"/>
          <p:nvPr/>
        </p:nvSpPr>
        <p:spPr>
          <a:xfrm>
            <a:off x="3337560" y="2761488"/>
            <a:ext cx="2194560" cy="411480"/>
          </a:xfrm>
          <a:prstGeom prst="rect">
            <a:avLst/>
          </a:prstGeom>
          <a:noFill/>
          <a:ln/>
        </p:spPr>
        <p:txBody>
          <a:bodyPr wrap="square" lIns="0" tIns="0" rIns="0" bIns="0" rtlCol="0" anchor="t"/>
          <a:lstStyle/>
          <a:p>
            <a:pPr indent="0" marL="0">
              <a:buNone/>
            </a:pPr>
            <a:r>
              <a:rPr lang="en-US" sz="1400" dirty="0">
                <a:solidFill>
                  <a:schemeClr val="tx1"/>
                </a:solidFill>
              </a:rPr>
              <a:t>Narrow window, like a phone</a:t>
            </a:r>
            <a:endParaRPr lang="en-US" sz="1400" dirty="0"/>
          </a:p>
        </p:txBody>
      </p:sp>
      <p:sp>
        <p:nvSpPr>
          <p:cNvPr id="19" name="Shape 17"/>
          <p:cNvSpPr/>
          <p:nvPr/>
        </p:nvSpPr>
        <p:spPr>
          <a:xfrm>
            <a:off x="457200" y="3383280"/>
            <a:ext cx="5029200" cy="1188720"/>
          </a:xfrm>
          <a:prstGeom prst="roundRect">
            <a:avLst>
              <a:gd name="adj" fmla="val 6154"/>
            </a:avLst>
          </a:prstGeom>
          <a:solidFill>
            <a:schemeClr val="bg2"/>
          </a:solidFill>
          <a:ln w="12700">
            <a:solidFill>
              <a:schemeClr val="bg2"/>
            </a:solidFill>
            <a:prstDash val="solid"/>
          </a:ln>
        </p:spPr>
      </p:sp>
      <p:sp>
        <p:nvSpPr>
          <p:cNvPr id="20" name="Text 18"/>
          <p:cNvSpPr txBox="1"/>
          <p:nvPr/>
        </p:nvSpPr>
        <p:spPr>
          <a:xfrm>
            <a:off x="640080" y="3493008"/>
            <a:ext cx="4663440" cy="1005840"/>
          </a:xfrm>
          <a:prstGeom prst="rect">
            <a:avLst/>
          </a:prstGeom>
          <a:noFill/>
          <a:ln/>
        </p:spPr>
        <p:txBody>
          <a:bodyPr wrap="square" lIns="0" tIns="0" rIns="0" bIns="0" rtlCol="0" anchor="t"/>
          <a:lstStyle/>
          <a:p>
            <a:pPr indent="0" marL="0">
              <a:buNone/>
            </a:pPr>
            <a:r>
              <a:rPr lang="en-US" sz="1300" b="1" dirty="0">
                <a:solidFill>
                  <a:schemeClr val="tx1"/>
                </a:solidFill>
              </a:rPr>
              <a:t>Found something odd? </a:t>
            </a:r>
            <a:pPr indent="0" marL="0">
              <a:buNone/>
            </a:pPr>
            <a:r>
              <a:rPr lang="en-US" sz="1300" dirty="0">
                <a:solidFill>
                  <a:schemeClr val="tx1"/>
                </a:solidFill>
              </a:rPr>
              <a:t>Tell Claude, refresh, check again.</a:t>
            </a:r>
            <a:endParaRPr lang="en-US" sz="1300" dirty="0"/>
          </a:p>
          <a:p>
            <a:pPr indent="0" marL="0">
              <a:buNone/>
            </a:pPr>
            <a:r>
              <a:rPr lang="en-US" sz="1300" dirty="0">
                <a:solidFill>
                  <a:schemeClr val="accent2"/>
                </a:solidFill>
              </a:rPr>
              <a:t>Then Claude runs its own checks and takes the screenshots for the pull request.</a:t>
            </a:r>
            <a:endParaRPr lang="en-US" sz="1300" dirty="0"/>
          </a:p>
        </p:txBody>
      </p:sp>
      <p:pic>
        <p:nvPicPr>
          <p:cNvPr id="21" name="Warning scenario screenshot" descr="small/shelf-wide.jpg">    </p:cNvPr>
          <p:cNvPicPr>
            <a:picLocks noChangeAspect="1"/>
          </p:cNvPicPr>
          <p:nvPr/>
        </p:nvPicPr>
        <p:blipFill>
          <a:blip r:embed="rId1"/>
          <a:stretch>
            <a:fillRect/>
          </a:stretch>
        </p:blipFill>
        <p:spPr>
          <a:xfrm>
            <a:off x="5760720" y="1097280"/>
            <a:ext cx="2926080" cy="1670526"/>
          </a:xfrm>
          <a:prstGeom prst="rect">
            <a:avLst/>
          </a:prstGeom>
          <a:effectLst>
            <a:outerShdw sx="100000" sy="100000" kx="0" ky="0" algn="bl" rotWithShape="0" blurRad="76200" dist="25400" dir="5400000">
              <a:srgbClr val="000000">
                <a:alpha val="18000"/>
              </a:srgbClr>
            </a:outerShdw>
          </a:effectLst>
        </p:spPr>
      </p:pic>
      <p:sp>
        <p:nvSpPr>
          <p:cNvPr id="22" name="Text 19"/>
          <p:cNvSpPr txBox="1"/>
          <p:nvPr/>
        </p:nvSpPr>
        <p:spPr>
          <a:xfrm>
            <a:off x="5760720" y="2880360"/>
            <a:ext cx="2926080" cy="457200"/>
          </a:xfrm>
          <a:prstGeom prst="rect">
            <a:avLst/>
          </a:prstGeom>
          <a:noFill/>
          <a:ln/>
        </p:spPr>
        <p:txBody>
          <a:bodyPr wrap="square" lIns="0" tIns="0" rIns="0" bIns="0" rtlCol="0" anchor="t"/>
          <a:lstStyle/>
          <a:p>
            <a:pPr algn="ctr" indent="0" marL="0">
              <a:buNone/>
            </a:pPr>
            <a:r>
              <a:rPr lang="en-US" sz="1100" dirty="0">
                <a:solidFill>
                  <a:schemeClr val="accent2"/>
                </a:solidFill>
              </a:rPr>
              <a:t>Real example: making a warning appear (2000 mm wide, 40 kg)</a:t>
            </a:r>
            <a:endParaRPr lang="en-US" sz="1100" dirty="0"/>
          </a:p>
        </p:txBody>
      </p:sp>
      <p:sp>
        <p:nvSpPr>
          <p:cNvPr id="25" name="Slide Number Placeholder 0"/>
          <p:cNvSpPr>
            <a:spLocks noGrp="1"/>
          </p:cNvSpPr>
          <p:nvPr>
            <p:ph type="sldNum" sz="quarter" idx="4294967295"/>
          </p:nvPr>
        </p:nvSpPr>
        <p:spPr>
          <a:xfrm>
            <a:off x="850392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40080"/>
          </a:xfrm>
          <a:prstGeom prst="rect">
            <a:avLst/>
          </a:prstGeom>
          <a:noFill/>
          <a:ln/>
        </p:spPr>
        <p:txBody>
          <a:bodyPr wrap="square" lIns="0" tIns="0" rIns="0" bIns="0" rtlCol="0" anchor="ctr"/>
          <a:lstStyle/>
          <a:p>
            <a:pPr algn="l" indent="0" marL="0">
              <a:buNone/>
            </a:pPr>
            <a:r>
              <a:rPr lang="en-US" sz="2400" b="1" dirty="0">
                <a:solidFill>
                  <a:schemeClr val="tx1"/>
                </a:solidFill>
              </a:rPr>
              <a:t>Last step: Claude creates the PR</a:t>
            </a:r>
            <a:endParaRPr lang="en-US" sz="2400" dirty="0"/>
          </a:p>
        </p:txBody>
      </p:sp>
      <p:sp>
        <p:nvSpPr>
          <p:cNvPr id="3" name="Simulation tag"/>
          <p:cNvSpPr txBox="1"/>
          <p:nvPr/>
        </p:nvSpPr>
        <p:spPr>
          <a:xfrm>
            <a:off x="6949440" y="466344"/>
            <a:ext cx="1737360" cy="256032"/>
          </a:xfrm>
          <a:prstGeom prst="rect">
            <a:avLst/>
          </a:prstGeom>
          <a:solidFill>
            <a:schemeClr val="accent1"/>
          </a:solidFill>
          <a:ln/>
        </p:spPr>
        <p:txBody>
          <a:bodyPr wrap="square" lIns="0" tIns="0" rIns="0" bIns="0" rtlCol="0" anchor="ctr"/>
          <a:lstStyle/>
          <a:p>
            <a:pPr algn="ctr" indent="0" marL="0">
              <a:buNone/>
            </a:pPr>
            <a:r>
              <a:rPr lang="en-US" sz="1000" b="1" dirty="0">
                <a:solidFill>
                  <a:schemeClr val="bg1"/>
                </a:solidFill>
              </a:rPr>
              <a:t>SIMULATED EXAMPLE</a:t>
            </a:r>
            <a:endParaRPr lang="en-US" sz="1000" dirty="0"/>
          </a:p>
        </p:txBody>
      </p:sp>
      <p:pic>
        <p:nvPicPr>
          <p:cNvPr id="4" name="Simulated pull request" descr="small/sim-pr.jpg">    </p:cNvPr>
          <p:cNvPicPr>
            <a:picLocks noChangeAspect="1"/>
          </p:cNvPicPr>
          <p:nvPr/>
        </p:nvPicPr>
        <p:blipFill>
          <a:blip r:embed="rId1"/>
          <a:stretch>
            <a:fillRect/>
          </a:stretch>
        </p:blipFill>
        <p:spPr>
          <a:xfrm>
            <a:off x="457200" y="1005840"/>
            <a:ext cx="3307282" cy="3749040"/>
          </a:xfrm>
          <a:prstGeom prst="rect">
            <a:avLst/>
          </a:prstGeom>
          <a:effectLst>
            <a:outerShdw sx="100000" sy="100000" kx="0" ky="0" algn="bl" rotWithShape="0" blurRad="76200" dist="25400" dir="5400000">
              <a:srgbClr val="000000">
                <a:alpha val="18000"/>
              </a:srgbClr>
            </a:outerShdw>
          </a:effectLst>
        </p:spPr>
      </p:pic>
      <p:sp>
        <p:nvSpPr>
          <p:cNvPr id="5" name="Text 2"/>
          <p:cNvSpPr txBox="1"/>
          <p:nvPr/>
        </p:nvSpPr>
        <p:spPr>
          <a:xfrm>
            <a:off x="4937760" y="1051560"/>
            <a:ext cx="3840480" cy="640080"/>
          </a:xfrm>
          <a:prstGeom prst="rect">
            <a:avLst/>
          </a:prstGeom>
          <a:noFill/>
          <a:ln/>
        </p:spPr>
        <p:txBody>
          <a:bodyPr wrap="square" lIns="0" tIns="0" rIns="0" bIns="0" rtlCol="0" anchor="t"/>
          <a:lstStyle/>
          <a:p>
            <a:pPr indent="0" marL="0">
              <a:buNone/>
            </a:pPr>
            <a:r>
              <a:rPr lang="en-US" sz="1400" b="1" dirty="0">
                <a:solidFill>
                  <a:schemeClr val="tx1"/>
                </a:solidFill>
              </a:rPr>
              <a:t>When you say "I'm happy, let's send it", Claude writes the pull request in a standard shape:</a:t>
            </a:r>
            <a:endParaRPr lang="en-US" sz="1400" dirty="0"/>
          </a:p>
        </p:txBody>
      </p:sp>
      <p:sp>
        <p:nvSpPr>
          <p:cNvPr id="6" name="Text 3"/>
          <p:cNvSpPr txBox="1"/>
          <p:nvPr/>
        </p:nvSpPr>
        <p:spPr>
          <a:xfrm>
            <a:off x="4937760" y="1783080"/>
            <a:ext cx="3840480" cy="2194560"/>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400" dirty="0">
                <a:solidFill>
                  <a:schemeClr val="tx1"/>
                </a:solidFill>
              </a:rPr>
              <a:t>What this adds</a:t>
            </a:r>
            <a:endParaRPr lang="en-US" sz="1400" dirty="0"/>
          </a:p>
          <a:p>
            <a:pPr marL="342900" indent="-342900">
              <a:spcAft>
                <a:spcPts val="200"/>
              </a:spcAft>
              <a:buSzPct val="100000"/>
              <a:buFont typeface="+mj-lt"/>
              <a:buAutoNum type="arabicPeriod" startAt="1"/>
            </a:pPr>
            <a:r>
              <a:rPr lang="en-US" sz="1400" dirty="0">
                <a:solidFill>
                  <a:schemeClr val="tx1"/>
                </a:solidFill>
              </a:rPr>
              <a:t>Idea / issue</a:t>
            </a:r>
            <a:endParaRPr lang="en-US" sz="1400" dirty="0"/>
          </a:p>
          <a:p>
            <a:pPr marL="342900" indent="-342900">
              <a:spcAft>
                <a:spcPts val="200"/>
              </a:spcAft>
              <a:buSzPct val="100000"/>
              <a:buFont typeface="+mj-lt"/>
              <a:buAutoNum type="arabicPeriod" startAt="1"/>
            </a:pPr>
            <a:r>
              <a:rPr lang="en-US" sz="1400" dirty="0">
                <a:solidFill>
                  <a:schemeClr val="tx1"/>
                </a:solidFill>
              </a:rPr>
              <a:t>Design brief</a:t>
            </a:r>
            <a:endParaRPr lang="en-US" sz="1400" dirty="0"/>
          </a:p>
          <a:p>
            <a:pPr marL="342900" indent="-342900">
              <a:spcAft>
                <a:spcPts val="200"/>
              </a:spcAft>
              <a:buSzPct val="100000"/>
              <a:buFont typeface="+mj-lt"/>
              <a:buAutoNum type="arabicPeriod" startAt="1"/>
            </a:pPr>
            <a:r>
              <a:rPr lang="en-US" sz="1400" dirty="0">
                <a:solidFill>
                  <a:schemeClr val="tx1"/>
                </a:solidFill>
              </a:rPr>
              <a:t>Parts and sources</a:t>
            </a:r>
            <a:endParaRPr lang="en-US" sz="1400" dirty="0"/>
          </a:p>
          <a:p>
            <a:pPr marL="342900" indent="-342900">
              <a:spcAft>
                <a:spcPts val="200"/>
              </a:spcAft>
              <a:buSzPct val="100000"/>
              <a:buFont typeface="+mj-lt"/>
              <a:buAutoNum type="arabicPeriod" startAt="1"/>
            </a:pPr>
            <a:r>
              <a:rPr lang="en-US" sz="1400" dirty="0">
                <a:solidFill>
                  <a:schemeClr val="tx1"/>
                </a:solidFill>
              </a:rPr>
              <a:t>How it was checked</a:t>
            </a:r>
            <a:endParaRPr lang="en-US" sz="1400" dirty="0"/>
          </a:p>
          <a:p>
            <a:pPr marL="342900" indent="-342900">
              <a:spcAft>
                <a:spcPts val="200"/>
              </a:spcAft>
              <a:buSzPct val="100000"/>
              <a:buFont typeface="+mj-lt"/>
              <a:buAutoNum type="arabicPeriod" startAt="1"/>
            </a:pPr>
            <a:r>
              <a:rPr lang="en-US" sz="1400" dirty="0">
                <a:solidFill>
                  <a:schemeClr val="tx1"/>
                </a:solidFill>
              </a:rPr>
              <a:t>Screenshots</a:t>
            </a:r>
            <a:endParaRPr lang="en-US" sz="1400" dirty="0"/>
          </a:p>
          <a:p>
            <a:pPr marL="342900" indent="-342900">
              <a:spcAft>
                <a:spcPts val="200"/>
              </a:spcAft>
              <a:buSzPct val="100000"/>
              <a:buFont typeface="+mj-lt"/>
              <a:buAutoNum type="arabicPeriod" startAt="1"/>
            </a:pPr>
            <a:r>
              <a:rPr lang="en-US" sz="1400" dirty="0">
                <a:solidFill>
                  <a:schemeClr val="tx1"/>
                </a:solidFill>
              </a:rPr>
              <a:t>Assumptions to verify</a:t>
            </a:r>
            <a:endParaRPr lang="en-US" sz="1400" dirty="0"/>
          </a:p>
          <a:p>
            <a:pPr marL="342900" indent="-342900">
              <a:spcAft>
                <a:spcPts val="200"/>
              </a:spcAft>
              <a:buSzPct val="100000"/>
              <a:buFont typeface="+mj-lt"/>
              <a:buAutoNum type="arabicPeriod" startAt="1"/>
            </a:pPr>
            <a:r>
              <a:rPr lang="en-US" sz="1400" dirty="0">
                <a:solidFill>
                  <a:schemeClr val="tx1"/>
                </a:solidFill>
              </a:rPr>
              <a:t>Next steps</a:t>
            </a:r>
            <a:endParaRPr lang="en-US" sz="1400" dirty="0"/>
          </a:p>
        </p:txBody>
      </p:sp>
      <p:sp>
        <p:nvSpPr>
          <p:cNvPr id="7" name="Shape 4"/>
          <p:cNvSpPr/>
          <p:nvPr/>
        </p:nvSpPr>
        <p:spPr>
          <a:xfrm>
            <a:off x="4937760" y="3977640"/>
            <a:ext cx="3840480" cy="731520"/>
          </a:xfrm>
          <a:prstGeom prst="roundRect">
            <a:avLst>
              <a:gd name="adj" fmla="val 10000"/>
            </a:avLst>
          </a:prstGeom>
          <a:solidFill>
            <a:schemeClr val="bg2"/>
          </a:solidFill>
          <a:ln w="12700">
            <a:solidFill>
              <a:schemeClr val="bg2"/>
            </a:solidFill>
            <a:prstDash val="solid"/>
          </a:ln>
        </p:spPr>
      </p:sp>
      <p:sp>
        <p:nvSpPr>
          <p:cNvPr id="8" name="Text 5"/>
          <p:cNvSpPr txBox="1"/>
          <p:nvPr/>
        </p:nvSpPr>
        <p:spPr>
          <a:xfrm>
            <a:off x="5120640" y="4069080"/>
            <a:ext cx="3474720" cy="548640"/>
          </a:xfrm>
          <a:prstGeom prst="rect">
            <a:avLst/>
          </a:prstGeom>
          <a:noFill/>
          <a:ln/>
        </p:spPr>
        <p:txBody>
          <a:bodyPr wrap="square" lIns="0" tIns="0" rIns="0" bIns="0" rtlCol="0" anchor="t"/>
          <a:lstStyle/>
          <a:p>
            <a:pPr indent="0" marL="0">
              <a:buNone/>
            </a:pPr>
            <a:r>
              <a:rPr lang="en-US" sz="1300" dirty="0">
                <a:solidFill>
                  <a:schemeClr val="tx1"/>
                </a:solidFill>
              </a:rPr>
              <a:t>Your one job: drag the screenshots into it on GitHub.</a:t>
            </a:r>
            <a:endParaRPr lang="en-US" sz="1300" dirty="0"/>
          </a:p>
        </p:txBody>
      </p:sp>
      <p:sp>
        <p:nvSpPr>
          <p:cNvPr id="25" name="Slide Number Placeholder 0"/>
          <p:cNvSpPr>
            <a:spLocks noGrp="1"/>
          </p:cNvSpPr>
          <p:nvPr>
            <p:ph type="sldNum" sz="quarter" idx="4294967295"/>
          </p:nvPr>
        </p:nvSpPr>
        <p:spPr>
          <a:xfrm>
            <a:off x="850392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40080"/>
          </a:xfrm>
          <a:prstGeom prst="rect">
            <a:avLst/>
          </a:prstGeom>
          <a:noFill/>
          <a:ln/>
        </p:spPr>
        <p:txBody>
          <a:bodyPr wrap="square" lIns="0" tIns="0" rIns="0" bIns="0" rtlCol="0" anchor="ctr"/>
          <a:lstStyle/>
          <a:p>
            <a:pPr algn="l" indent="0" marL="0">
              <a:buNone/>
            </a:pPr>
            <a:r>
              <a:rPr lang="en-US" sz="2400" b="1" dirty="0">
                <a:solidFill>
                  <a:schemeClr val="tx1"/>
                </a:solidFill>
              </a:rPr>
              <a:t>After you send it</a:t>
            </a:r>
            <a:endParaRPr lang="en-US" sz="2400" dirty="0"/>
          </a:p>
        </p:txBody>
      </p:sp>
      <p:sp>
        <p:nvSpPr>
          <p:cNvPr id="3" name="Shape 1"/>
          <p:cNvSpPr/>
          <p:nvPr/>
        </p:nvSpPr>
        <p:spPr>
          <a:xfrm>
            <a:off x="457200" y="1280160"/>
            <a:ext cx="1874520" cy="2286000"/>
          </a:xfrm>
          <a:prstGeom prst="roundRect">
            <a:avLst>
              <a:gd name="adj" fmla="val 3902"/>
            </a:avLst>
          </a:prstGeom>
          <a:solidFill>
            <a:schemeClr val="bg2"/>
          </a:solidFill>
          <a:ln w="12700">
            <a:solidFill>
              <a:schemeClr val="bg2"/>
            </a:solidFill>
            <a:prstDash val="solid"/>
          </a:ln>
        </p:spPr>
      </p:sp>
      <p:sp>
        <p:nvSpPr>
          <p:cNvPr id="4" name="Text 2"/>
          <p:cNvSpPr txBox="1"/>
          <p:nvPr/>
        </p:nvSpPr>
        <p:spPr>
          <a:xfrm>
            <a:off x="1170432" y="1600200"/>
            <a:ext cx="457200" cy="457200"/>
          </a:xfrm>
          <a:prstGeom prst="ellipse">
            <a:avLst/>
          </a:prstGeom>
          <a:solidFill>
            <a:schemeClr val="tx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548640" y="2286000"/>
            <a:ext cx="1691640" cy="1097280"/>
          </a:xfrm>
          <a:prstGeom prst="rect">
            <a:avLst/>
          </a:prstGeom>
          <a:noFill/>
          <a:ln/>
        </p:spPr>
        <p:txBody>
          <a:bodyPr wrap="square" lIns="0" tIns="0" rIns="0" bIns="0" rtlCol="0" anchor="t"/>
          <a:lstStyle/>
          <a:p>
            <a:pPr algn="ctr" indent="0" marL="0">
              <a:buNone/>
            </a:pPr>
            <a:r>
              <a:rPr lang="en-US" sz="1500" b="1" dirty="0">
                <a:solidFill>
                  <a:schemeClr val="tx1"/>
                </a:solidFill>
              </a:rPr>
              <a:t>Owner reviews</a:t>
            </a:r>
            <a:endParaRPr lang="en-US" sz="1400" dirty="0"/>
          </a:p>
          <a:p>
            <a:pPr algn="ctr" indent="0" marL="0">
              <a:buNone/>
            </a:pPr>
            <a:r>
              <a:rPr lang="en-US" sz="1200" dirty="0">
                <a:solidFill>
                  <a:schemeClr val="accent2"/>
                </a:solidFill>
              </a:rPr>
              <a:t>Starting with the brief</a:t>
            </a:r>
            <a:endParaRPr lang="en-US" sz="1400" dirty="0"/>
          </a:p>
        </p:txBody>
      </p:sp>
      <p:sp>
        <p:nvSpPr>
          <p:cNvPr id="6" name="Shape 4"/>
          <p:cNvSpPr/>
          <p:nvPr/>
        </p:nvSpPr>
        <p:spPr>
          <a:xfrm>
            <a:off x="2350008" y="2423160"/>
            <a:ext cx="219456" cy="0"/>
          </a:xfrm>
          <a:prstGeom prst="line">
            <a:avLst/>
          </a:prstGeom>
          <a:noFill/>
          <a:ln w="19050">
            <a:solidFill>
              <a:schemeClr val="accent3"/>
            </a:solidFill>
            <a:prstDash val="solid"/>
            <a:tailEnd type="triangle"/>
          </a:ln>
        </p:spPr>
      </p:sp>
      <p:sp>
        <p:nvSpPr>
          <p:cNvPr id="7" name="Shape 5"/>
          <p:cNvSpPr/>
          <p:nvPr/>
        </p:nvSpPr>
        <p:spPr>
          <a:xfrm>
            <a:off x="2587752" y="1280160"/>
            <a:ext cx="1874520" cy="2286000"/>
          </a:xfrm>
          <a:prstGeom prst="roundRect">
            <a:avLst>
              <a:gd name="adj" fmla="val 3902"/>
            </a:avLst>
          </a:prstGeom>
          <a:solidFill>
            <a:schemeClr val="bg2"/>
          </a:solidFill>
          <a:ln w="12700">
            <a:solidFill>
              <a:schemeClr val="bg2"/>
            </a:solidFill>
            <a:prstDash val="solid"/>
          </a:ln>
        </p:spPr>
      </p:sp>
      <p:sp>
        <p:nvSpPr>
          <p:cNvPr id="8" name="Text 6"/>
          <p:cNvSpPr txBox="1"/>
          <p:nvPr/>
        </p:nvSpPr>
        <p:spPr>
          <a:xfrm>
            <a:off x="3300984" y="1600200"/>
            <a:ext cx="457200" cy="457200"/>
          </a:xfrm>
          <a:prstGeom prst="ellipse">
            <a:avLst/>
          </a:prstGeom>
          <a:solidFill>
            <a:schemeClr val="tx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2679192" y="2286000"/>
            <a:ext cx="1691640" cy="1097280"/>
          </a:xfrm>
          <a:prstGeom prst="rect">
            <a:avLst/>
          </a:prstGeom>
          <a:noFill/>
          <a:ln/>
        </p:spPr>
        <p:txBody>
          <a:bodyPr wrap="square" lIns="0" tIns="0" rIns="0" bIns="0" rtlCol="0" anchor="t"/>
          <a:lstStyle/>
          <a:p>
            <a:pPr algn="ctr" indent="0" marL="0">
              <a:buNone/>
            </a:pPr>
            <a:r>
              <a:rPr lang="en-US" sz="1500" b="1" dirty="0">
                <a:solidFill>
                  <a:schemeClr val="tx1"/>
                </a:solidFill>
              </a:rPr>
              <a:t>Comments</a:t>
            </a:r>
            <a:endParaRPr lang="en-US" sz="1400" dirty="0"/>
          </a:p>
          <a:p>
            <a:pPr algn="ctr" indent="0" marL="0">
              <a:buNone/>
            </a:pPr>
            <a:r>
              <a:rPr lang="en-US" sz="1200" dirty="0">
                <a:solidFill>
                  <a:schemeClr val="accent2"/>
                </a:solidFill>
              </a:rPr>
              <a:t>Questions or changes</a:t>
            </a:r>
            <a:endParaRPr lang="en-US" sz="1400" dirty="0"/>
          </a:p>
        </p:txBody>
      </p:sp>
      <p:sp>
        <p:nvSpPr>
          <p:cNvPr id="10" name="Shape 8"/>
          <p:cNvSpPr/>
          <p:nvPr/>
        </p:nvSpPr>
        <p:spPr>
          <a:xfrm>
            <a:off x="4480560" y="2423160"/>
            <a:ext cx="219456" cy="0"/>
          </a:xfrm>
          <a:prstGeom prst="line">
            <a:avLst/>
          </a:prstGeom>
          <a:noFill/>
          <a:ln w="19050">
            <a:solidFill>
              <a:schemeClr val="accent3"/>
            </a:solidFill>
            <a:prstDash val="solid"/>
            <a:tailEnd type="triangle"/>
          </a:ln>
        </p:spPr>
      </p:sp>
      <p:sp>
        <p:nvSpPr>
          <p:cNvPr id="11" name="Shape 9"/>
          <p:cNvSpPr/>
          <p:nvPr/>
        </p:nvSpPr>
        <p:spPr>
          <a:xfrm>
            <a:off x="4718304" y="1280160"/>
            <a:ext cx="1874520" cy="2286000"/>
          </a:xfrm>
          <a:prstGeom prst="roundRect">
            <a:avLst>
              <a:gd name="adj" fmla="val 3902"/>
            </a:avLst>
          </a:prstGeom>
          <a:solidFill>
            <a:schemeClr val="bg2"/>
          </a:solidFill>
          <a:ln w="12700">
            <a:solidFill>
              <a:schemeClr val="bg2"/>
            </a:solidFill>
            <a:prstDash val="solid"/>
          </a:ln>
        </p:spPr>
      </p:sp>
      <p:sp>
        <p:nvSpPr>
          <p:cNvPr id="12" name="Text 10"/>
          <p:cNvSpPr txBox="1"/>
          <p:nvPr/>
        </p:nvSpPr>
        <p:spPr>
          <a:xfrm>
            <a:off x="5431536" y="1600200"/>
            <a:ext cx="457200" cy="457200"/>
          </a:xfrm>
          <a:prstGeom prst="ellipse">
            <a:avLst/>
          </a:prstGeom>
          <a:solidFill>
            <a:schemeClr val="tx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4809744" y="2286000"/>
            <a:ext cx="1691640" cy="1097280"/>
          </a:xfrm>
          <a:prstGeom prst="rect">
            <a:avLst/>
          </a:prstGeom>
          <a:noFill/>
          <a:ln/>
        </p:spPr>
        <p:txBody>
          <a:bodyPr wrap="square" lIns="0" tIns="0" rIns="0" bIns="0" rtlCol="0" anchor="t"/>
          <a:lstStyle/>
          <a:p>
            <a:pPr algn="ctr" indent="0" marL="0">
              <a:buNone/>
            </a:pPr>
            <a:r>
              <a:rPr lang="en-US" sz="1500" b="1" dirty="0">
                <a:solidFill>
                  <a:schemeClr val="tx1"/>
                </a:solidFill>
              </a:rPr>
              <a:t>Ask Claude</a:t>
            </a:r>
            <a:endParaRPr lang="en-US" sz="1400" dirty="0"/>
          </a:p>
          <a:p>
            <a:pPr algn="ctr" indent="0" marL="0">
              <a:buNone/>
            </a:pPr>
            <a:r>
              <a:rPr lang="en-US" sz="1200" dirty="0">
                <a:solidFill>
                  <a:schemeClr val="accent2"/>
                </a:solidFill>
              </a:rPr>
              <a:t>"let's work on the review comments"</a:t>
            </a:r>
            <a:endParaRPr lang="en-US" sz="1400" dirty="0"/>
          </a:p>
        </p:txBody>
      </p:sp>
      <p:sp>
        <p:nvSpPr>
          <p:cNvPr id="14" name="Shape 12"/>
          <p:cNvSpPr/>
          <p:nvPr/>
        </p:nvSpPr>
        <p:spPr>
          <a:xfrm>
            <a:off x="6611112" y="2423160"/>
            <a:ext cx="219456" cy="0"/>
          </a:xfrm>
          <a:prstGeom prst="line">
            <a:avLst/>
          </a:prstGeom>
          <a:noFill/>
          <a:ln w="19050">
            <a:solidFill>
              <a:schemeClr val="accent3"/>
            </a:solidFill>
            <a:prstDash val="solid"/>
            <a:tailEnd type="triangle"/>
          </a:ln>
        </p:spPr>
      </p:sp>
      <p:sp>
        <p:nvSpPr>
          <p:cNvPr id="15" name="Shape 13"/>
          <p:cNvSpPr/>
          <p:nvPr/>
        </p:nvSpPr>
        <p:spPr>
          <a:xfrm>
            <a:off x="6848856" y="1280160"/>
            <a:ext cx="1874520" cy="2286000"/>
          </a:xfrm>
          <a:prstGeom prst="roundRect">
            <a:avLst>
              <a:gd name="adj" fmla="val 3902"/>
            </a:avLst>
          </a:prstGeom>
          <a:solidFill>
            <a:schemeClr val="tx2"/>
          </a:solidFill>
          <a:ln w="12700">
            <a:solidFill>
              <a:schemeClr val="tx2"/>
            </a:solidFill>
            <a:prstDash val="solid"/>
          </a:ln>
        </p:spPr>
      </p:sp>
      <p:sp>
        <p:nvSpPr>
          <p:cNvPr id="16" name="Text 14"/>
          <p:cNvSpPr txBox="1"/>
          <p:nvPr/>
        </p:nvSpPr>
        <p:spPr>
          <a:xfrm>
            <a:off x="7562088" y="1600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 15"/>
          <p:cNvSpPr txBox="1"/>
          <p:nvPr/>
        </p:nvSpPr>
        <p:spPr>
          <a:xfrm>
            <a:off x="6940296" y="2286000"/>
            <a:ext cx="1691640" cy="1097280"/>
          </a:xfrm>
          <a:prstGeom prst="rect">
            <a:avLst/>
          </a:prstGeom>
          <a:noFill/>
          <a:ln/>
        </p:spPr>
        <p:txBody>
          <a:bodyPr wrap="square" lIns="0" tIns="0" rIns="0" bIns="0" rtlCol="0" anchor="t"/>
          <a:lstStyle/>
          <a:p>
            <a:pPr algn="ctr" indent="0" marL="0">
              <a:buNone/>
            </a:pPr>
            <a:r>
              <a:rPr lang="en-US" sz="1500" b="1" dirty="0">
                <a:solidFill>
                  <a:schemeClr val="bg1"/>
                </a:solidFill>
              </a:rPr>
              <a:t>Merged</a:t>
            </a:r>
            <a:endParaRPr lang="en-US" sz="1400" dirty="0"/>
          </a:p>
          <a:p>
            <a:pPr algn="ctr" indent="0" marL="0">
              <a:buNone/>
            </a:pPr>
            <a:r>
              <a:rPr lang="en-US" sz="1200" dirty="0">
                <a:solidFill>
                  <a:schemeClr val="accent4"/>
                </a:solidFill>
              </a:rPr>
              <a:t>Your piece is live</a:t>
            </a:r>
            <a:endParaRPr lang="en-US" sz="1400" dirty="0"/>
          </a:p>
        </p:txBody>
      </p:sp>
      <p:sp>
        <p:nvSpPr>
          <p:cNvPr id="18" name="Text 16"/>
          <p:cNvSpPr txBox="1"/>
          <p:nvPr/>
        </p:nvSpPr>
        <p:spPr>
          <a:xfrm>
            <a:off x="457200" y="3931920"/>
            <a:ext cx="8229600" cy="548640"/>
          </a:xfrm>
          <a:prstGeom prst="rect">
            <a:avLst/>
          </a:prstGeom>
          <a:noFill/>
          <a:ln/>
        </p:spPr>
        <p:txBody>
          <a:bodyPr wrap="square" lIns="0" tIns="0" rIns="0" bIns="0" rtlCol="0" anchor="t"/>
          <a:lstStyle/>
          <a:p>
            <a:pPr indent="0" marL="0">
              <a:buNone/>
            </a:pPr>
            <a:r>
              <a:rPr lang="en-US" sz="1500" dirty="0">
                <a:solidFill>
                  <a:schemeClr val="accent2"/>
                </a:solidFill>
              </a:rPr>
              <a:t>Changes go on the same pull request: open Code again (Local, the project folder), and Claude picks up the comments.</a:t>
            </a:r>
            <a:endParaRPr lang="en-US" sz="1500" dirty="0"/>
          </a:p>
        </p:txBody>
      </p:sp>
      <p:sp>
        <p:nvSpPr>
          <p:cNvPr id="25" name="Slide Number Placeholder 0"/>
          <p:cNvSpPr>
            <a:spLocks noGrp="1"/>
          </p:cNvSpPr>
          <p:nvPr>
            <p:ph type="sldNum" sz="quarter" idx="4294967295"/>
          </p:nvPr>
        </p:nvSpPr>
        <p:spPr>
          <a:xfrm>
            <a:off x="850392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4754880" cy="1463040"/>
          </a:xfrm>
          <a:prstGeom prst="rect">
            <a:avLst/>
          </a:prstGeom>
          <a:noFill/>
          <a:ln/>
        </p:spPr>
        <p:txBody>
          <a:bodyPr wrap="square" lIns="0" tIns="0" rIns="0" bIns="0" rtlCol="0" anchor="b"/>
          <a:lstStyle/>
          <a:p>
            <a:pPr algn="l" indent="0" marL="0">
              <a:buNone/>
            </a:pPr>
            <a:r>
              <a:rPr lang="en-US" sz="3200" b="1" dirty="0">
                <a:solidFill>
                  <a:schemeClr val="bg1"/>
                </a:solidFill>
              </a:rPr>
              <a:t>Three things to say</a:t>
            </a:r>
            <a:endParaRPr lang="en-US" sz="3200" dirty="0"/>
          </a:p>
        </p:txBody>
      </p:sp>
      <p:sp>
        <p:nvSpPr>
          <p:cNvPr id="3" name="Text 0"/>
          <p:cNvSpPr/>
          <p:nvPr>
            <p:ph idx="101" type="body" hasCustomPrompt="1"/>
          </p:nvPr>
        </p:nvSpPr>
        <p:spPr>
          <a:xfrm>
            <a:off x="548640" y="2971800"/>
            <a:ext cx="4572000" cy="1097280"/>
          </a:xfrm>
          <a:prstGeom prst="rect">
            <a:avLst/>
          </a:prstGeom>
          <a:noFill/>
          <a:ln/>
        </p:spPr>
        <p:txBody>
          <a:bodyPr wrap="square" lIns="0" tIns="0" rIns="0" bIns="0" rtlCol="0" anchor="t"/>
          <a:lstStyle/>
          <a:p>
            <a:pPr indent="0" marL="0">
              <a:buNone/>
            </a:pPr>
            <a:r>
              <a:rPr lang="en-US" sz="1600" dirty="0">
                <a:solidFill>
                  <a:schemeClr val="accent4"/>
                </a:solidFill>
              </a:rPr>
              <a:t>Claude app → Code → Local → folder open-source-modular-furniture, then:</a:t>
            </a:r>
            <a:endParaRPr lang="en-US" sz="1600" dirty="0"/>
          </a:p>
        </p:txBody>
      </p:sp>
      <p:sp>
        <p:nvSpPr>
          <p:cNvPr id="4" name="Shape 2"/>
          <p:cNvSpPr/>
          <p:nvPr/>
        </p:nvSpPr>
        <p:spPr>
          <a:xfrm>
            <a:off x="5394960" y="1097280"/>
            <a:ext cx="3383280" cy="777240"/>
          </a:xfrm>
          <a:prstGeom prst="roundRect">
            <a:avLst>
              <a:gd name="adj" fmla="val 9412"/>
            </a:avLst>
          </a:prstGeom>
          <a:solidFill>
            <a:schemeClr val="tx1"/>
          </a:solidFill>
          <a:ln w="12700">
            <a:solidFill>
              <a:schemeClr val="accent3"/>
            </a:solidFill>
            <a:prstDash val="solid"/>
          </a:ln>
        </p:spPr>
      </p:sp>
      <p:sp>
        <p:nvSpPr>
          <p:cNvPr id="5" name="Text 3"/>
          <p:cNvSpPr txBox="1"/>
          <p:nvPr/>
        </p:nvSpPr>
        <p:spPr>
          <a:xfrm>
            <a:off x="5577840" y="1097280"/>
            <a:ext cx="3017520" cy="777240"/>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"let's work on this"</a:t>
            </a:r>
            <a:endParaRPr lang="en-US" sz="1400" dirty="0"/>
          </a:p>
        </p:txBody>
      </p:sp>
      <p:sp>
        <p:nvSpPr>
          <p:cNvPr id="6" name="Shape 4"/>
          <p:cNvSpPr/>
          <p:nvPr/>
        </p:nvSpPr>
        <p:spPr>
          <a:xfrm>
            <a:off x="5394960" y="2103120"/>
            <a:ext cx="3383280" cy="777240"/>
          </a:xfrm>
          <a:prstGeom prst="roundRect">
            <a:avLst>
              <a:gd name="adj" fmla="val 9412"/>
            </a:avLst>
          </a:prstGeom>
          <a:solidFill>
            <a:schemeClr val="tx1"/>
          </a:solidFill>
          <a:ln w="12700">
            <a:solidFill>
              <a:schemeClr val="accent3"/>
            </a:solidFill>
            <a:prstDash val="solid"/>
          </a:ln>
        </p:spPr>
      </p:sp>
      <p:sp>
        <p:nvSpPr>
          <p:cNvPr id="7" name="Text 5"/>
          <p:cNvSpPr txBox="1"/>
          <p:nvPr/>
        </p:nvSpPr>
        <p:spPr>
          <a:xfrm>
            <a:off x="5577840" y="2103120"/>
            <a:ext cx="3017520" cy="777240"/>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"I'm happy, let's send it"</a:t>
            </a:r>
            <a:endParaRPr lang="en-US" sz="1400" dirty="0"/>
          </a:p>
        </p:txBody>
      </p:sp>
      <p:sp>
        <p:nvSpPr>
          <p:cNvPr id="8" name="Shape 6"/>
          <p:cNvSpPr/>
          <p:nvPr/>
        </p:nvSpPr>
        <p:spPr>
          <a:xfrm>
            <a:off x="5394960" y="3108960"/>
            <a:ext cx="3383280" cy="777240"/>
          </a:xfrm>
          <a:prstGeom prst="roundRect">
            <a:avLst>
              <a:gd name="adj" fmla="val 9412"/>
            </a:avLst>
          </a:prstGeom>
          <a:solidFill>
            <a:schemeClr val="tx1"/>
          </a:solidFill>
          <a:ln w="12700">
            <a:solidFill>
              <a:schemeClr val="accent3"/>
            </a:solidFill>
            <a:prstDash val="solid"/>
          </a:ln>
        </p:spPr>
      </p:sp>
      <p:sp>
        <p:nvSpPr>
          <p:cNvPr id="9" name="Text 7"/>
          <p:cNvSpPr txBox="1"/>
          <p:nvPr/>
        </p:nvSpPr>
        <p:spPr>
          <a:xfrm>
            <a:off x="5577840" y="3108960"/>
            <a:ext cx="3017520" cy="777240"/>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"let's work on the review comments"</a:t>
            </a:r>
            <a:endParaRPr lang="en-US" sz="1400" dirty="0"/>
          </a:p>
        </p:txBody>
      </p:sp>
    </p:spTree>
  </p:cSld>
  <p:clrMapOvr>
    <a:masterClrMapping/>
  </p:clrMapOvr>
</p:sld>
</file>

<file path=ppt/theme/theme1.xml><?xml version="1.0" encoding="utf-8"?>
<a:theme xmlns:a="http://schemas.openxmlformats.org/drawingml/2006/main" name="Modular Furniture">
  <a:themeElements>
    <a:clrScheme name="Modular Furniture">
      <a:dk1>
        <a:srgbClr val="15171A"/>
      </a:dk1>
      <a:lt1>
        <a:srgbClr val="FFFFFF"/>
      </a:lt1>
      <a:dk2>
        <a:srgbClr val="2C3035"/>
      </a:dk2>
      <a:lt2>
        <a:srgbClr val="EEF0F2"/>
      </a:lt2>
      <a:accent1>
        <a:srgbClr val="B4532A"/>
      </a:accent1>
      <a:accent2>
        <a:srgbClr val="5B6168"/>
      </a:accent2>
      <a:accent3>
        <a:srgbClr val="8A8F94"/>
      </a:accent3>
      <a:accent4>
        <a:srgbClr val="D9DCDF"/>
      </a:accent4>
      <a:accent5>
        <a:srgbClr val="7A9E7E"/>
      </a:accent5>
      <a:accent6>
        <a:srgbClr val="C9B8A3"/>
      </a:accent6>
      <a:hlink>
        <a:srgbClr val="B4532A"/>
      </a:hlink>
      <a:folHlink>
        <a:srgbClr val="5B6168"/>
      </a:folHlink>
    </a:clrScheme>
    <a:fontScheme name="Modular Furniture">
      <a:majorFont>
        <a:latin typeface="Courier Ne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Contributing to Open Source Modular Furniture</dc:title>
  <dc:subject>PptxGenJS Presentation</dc:subject>
  <dc:creator>PptxGenJS</dc:creator>
  <cp:lastModifiedBy>PptxGenJS</cp:lastModifiedBy>
  <cp:revision>1</cp:revision>
  <dcterms:created xsi:type="dcterms:W3CDTF">2026-10-27T16:04:57Z</dcterms:created>
  <dcterms:modified xsi:type="dcterms:W3CDTF">2026-10-27T16:04:57Z</dcterms:modified>
</cp:coreProperties>
</file>